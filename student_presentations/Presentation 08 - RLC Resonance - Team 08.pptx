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handoutMasterIdLst>
    <p:handoutMasterId r:id="rId14"/>
  </p:handoutMasterIdLst>
  <p:sldIdLst>
    <p:sldId id="1403" r:id="rId2"/>
    <p:sldId id="1407" r:id="rId3"/>
    <p:sldId id="1415" r:id="rId4"/>
    <p:sldId id="1418" r:id="rId5"/>
    <p:sldId id="1397" r:id="rId6"/>
    <p:sldId id="1422" r:id="rId7"/>
    <p:sldId id="1401" r:id="rId8"/>
    <p:sldId id="1420" r:id="rId9"/>
    <p:sldId id="1430" r:id="rId10"/>
    <p:sldId id="1409" r:id="rId11"/>
    <p:sldId id="1424" r:id="rId12"/>
  </p:sldIdLst>
  <p:sldSz cx="9144000" cy="6858000" type="screen4x3"/>
  <p:notesSz cx="7077075" cy="9363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80A4"/>
    <a:srgbClr val="4993C7"/>
    <a:srgbClr val="5D80B4"/>
    <a:srgbClr val="E6E6E6"/>
    <a:srgbClr val="8C3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31E7D9-E8FD-4908-95BB-3604F3CA9764}" v="1" dt="2020-05-29T19:25:52.3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111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ersach, David" userId="14a9feb0-85a7-4da4-be8a-c1e22b637acc" providerId="ADAL" clId="{6231E7D9-E8FD-4908-95BB-3604F3CA9764}"/>
    <pc:docChg chg="custSel delSld modSld">
      <pc:chgData name="Biersach, David" userId="14a9feb0-85a7-4da4-be8a-c1e22b637acc" providerId="ADAL" clId="{6231E7D9-E8FD-4908-95BB-3604F3CA9764}" dt="2020-05-29T19:25:56.584" v="2" actId="2696"/>
      <pc:docMkLst>
        <pc:docMk/>
      </pc:docMkLst>
      <pc:sldChg chg="del">
        <pc:chgData name="Biersach, David" userId="14a9feb0-85a7-4da4-be8a-c1e22b637acc" providerId="ADAL" clId="{6231E7D9-E8FD-4908-95BB-3604F3CA9764}" dt="2020-05-29T19:25:56.584" v="2" actId="2696"/>
        <pc:sldMkLst>
          <pc:docMk/>
          <pc:sldMk cId="1150352350" sldId="278"/>
        </pc:sldMkLst>
      </pc:sldChg>
      <pc:sldChg chg="modSp">
        <pc:chgData name="Biersach, David" userId="14a9feb0-85a7-4da4-be8a-c1e22b637acc" providerId="ADAL" clId="{6231E7D9-E8FD-4908-95BB-3604F3CA9764}" dt="2020-05-29T19:25:52.552" v="0" actId="27636"/>
        <pc:sldMkLst>
          <pc:docMk/>
          <pc:sldMk cId="206124625" sldId="464"/>
        </pc:sldMkLst>
        <pc:spChg chg="mod">
          <ac:chgData name="Biersach, David" userId="14a9feb0-85a7-4da4-be8a-c1e22b637acc" providerId="ADAL" clId="{6231E7D9-E8FD-4908-95BB-3604F3CA9764}" dt="2020-05-29T19:25:52.552" v="0" actId="27636"/>
          <ac:spMkLst>
            <pc:docMk/>
            <pc:sldMk cId="206124625" sldId="464"/>
            <ac:spMk id="3" creationId="{00000000-0000-0000-0000-000000000000}"/>
          </ac:spMkLst>
        </pc:spChg>
      </pc:sldChg>
      <pc:sldChg chg="modSp">
        <pc:chgData name="Biersach, David" userId="14a9feb0-85a7-4da4-be8a-c1e22b637acc" providerId="ADAL" clId="{6231E7D9-E8FD-4908-95BB-3604F3CA9764}" dt="2020-05-29T19:25:52.649" v="1" actId="27636"/>
        <pc:sldMkLst>
          <pc:docMk/>
          <pc:sldMk cId="320308749" sldId="465"/>
        </pc:sldMkLst>
        <pc:spChg chg="mod">
          <ac:chgData name="Biersach, David" userId="14a9feb0-85a7-4da4-be8a-c1e22b637acc" providerId="ADAL" clId="{6231E7D9-E8FD-4908-95BB-3604F3CA9764}" dt="2020-05-29T19:25:52.649" v="1" actId="27636"/>
          <ac:spMkLst>
            <pc:docMk/>
            <pc:sldMk cId="320308749" sldId="465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A241AC98-512A-4A35-865E-757B6C1F07A2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825528D0-251A-41BC-8967-C65EDA3BF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955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3854CEE7-15DE-41D9-8CA2-D1E137B1D850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69988"/>
            <a:ext cx="4213225" cy="3160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638" tIns="46319" rIns="92638" bIns="4631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7708" y="4505662"/>
            <a:ext cx="5661660" cy="3687031"/>
          </a:xfrm>
          <a:prstGeom prst="rect">
            <a:avLst/>
          </a:prstGeom>
        </p:spPr>
        <p:txBody>
          <a:bodyPr vert="horz" lIns="92638" tIns="46319" rIns="92638" bIns="4631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76317BBA-0BC6-419B-B826-088209688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92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EB2C-244D-4423-AD97-018ED6478B87}" type="datetime1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065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F632E-48CB-4EEB-A6B6-DEC7AD7CC976}" type="datetime1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61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EE52C-3A57-458E-95F6-96B2FA9D1DD4}" type="datetime1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5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FC747-A48A-4FF2-8EE4-3E95ECD1C2A8}" type="datetime1">
              <a:rPr lang="en-US" smtClean="0"/>
              <a:t>1/12/2023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27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758-AB7F-463D-B638-E1729B95E126}" type="datetime1">
              <a:rPr lang="en-US" smtClean="0"/>
              <a:t>1/12/2023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3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8C77-7DD0-4738-BF52-D0EC9F78A76E}" type="datetime1">
              <a:rPr lang="en-US" smtClean="0"/>
              <a:t>1/12/2023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19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70CF-13D9-4E1D-A74F-2CFE4953FCDB}" type="datetime1">
              <a:rPr lang="en-US" smtClean="0"/>
              <a:t>1/12/2023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274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C49B9-4E1C-4967-B9CF-0BF9FECBE837}" type="datetime1">
              <a:rPr lang="en-US" smtClean="0"/>
              <a:t>1/12/2023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694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38CBB-1F06-4333-9BBF-66628B15E581}" type="datetime1">
              <a:rPr lang="en-US" smtClean="0"/>
              <a:t>1/12/2023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83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41D1F-7576-4C60-B4EB-5115BC56CF40}" type="datetime1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590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D1398-4D56-44F9-BA35-34ACF3159A64}" type="datetime1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32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EC883-F03C-4CA3-AF62-BEF30EEA4F65}" type="datetime1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69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60.png"/><Relationship Id="rId18" Type="http://schemas.openxmlformats.org/officeDocument/2006/relationships/image" Target="../media/image27.png"/><Relationship Id="rId3" Type="http://schemas.openxmlformats.org/officeDocument/2006/relationships/image" Target="../media/image62.png"/><Relationship Id="rId7" Type="http://schemas.openxmlformats.org/officeDocument/2006/relationships/image" Target="../media/image100.png"/><Relationship Id="rId12" Type="http://schemas.openxmlformats.org/officeDocument/2006/relationships/image" Target="../media/image150.png"/><Relationship Id="rId17" Type="http://schemas.openxmlformats.org/officeDocument/2006/relationships/image" Target="../media/image200.png"/><Relationship Id="rId2" Type="http://schemas.openxmlformats.org/officeDocument/2006/relationships/image" Target="../media/image25.png"/><Relationship Id="rId16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11" Type="http://schemas.openxmlformats.org/officeDocument/2006/relationships/image" Target="../media/image140.png"/><Relationship Id="rId5" Type="http://schemas.openxmlformats.org/officeDocument/2006/relationships/image" Target="../media/image5.png"/><Relationship Id="rId15" Type="http://schemas.openxmlformats.org/officeDocument/2006/relationships/image" Target="../media/image180.png"/><Relationship Id="rId10" Type="http://schemas.openxmlformats.org/officeDocument/2006/relationships/image" Target="../media/image130.png"/><Relationship Id="rId19" Type="http://schemas.openxmlformats.org/officeDocument/2006/relationships/image" Target="../media/image220.png"/><Relationship Id="rId4" Type="http://schemas.openxmlformats.org/officeDocument/2006/relationships/image" Target="../media/image71.png"/><Relationship Id="rId9" Type="http://schemas.openxmlformats.org/officeDocument/2006/relationships/image" Target="../media/image120.png"/><Relationship Id="rId14" Type="http://schemas.openxmlformats.org/officeDocument/2006/relationships/image" Target="../media/image17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4.png"/><Relationship Id="rId7" Type="http://schemas.openxmlformats.org/officeDocument/2006/relationships/image" Target="../media/image3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2.png"/><Relationship Id="rId4" Type="http://schemas.openxmlformats.org/officeDocument/2006/relationships/image" Target="../media/image28.png"/><Relationship Id="rId9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8822BE-E9E3-904E-4225-7CC0FD0F46A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539" y="1355439"/>
            <a:ext cx="6609296" cy="53361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Session 05 – </a:t>
            </a:r>
            <a:r>
              <a:rPr lang="en-US" sz="3200" b="1" dirty="0">
                <a:latin typeface="+mn-lt"/>
              </a:rPr>
              <a:t>Task 04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BE06C9-8C6A-7996-0BFD-374CE0B0652B}"/>
              </a:ext>
            </a:extLst>
          </p:cNvPr>
          <p:cNvSpPr txBox="1"/>
          <p:nvPr/>
        </p:nvSpPr>
        <p:spPr>
          <a:xfrm>
            <a:off x="5710569" y="4520421"/>
            <a:ext cx="2450892" cy="1477328"/>
          </a:xfrm>
          <a:prstGeom prst="rect">
            <a:avLst/>
          </a:prstGeom>
          <a:solidFill>
            <a:schemeClr val="bg1"/>
          </a:solidFill>
          <a:ln w="190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Every RLC circuit has a certain </a:t>
            </a:r>
            <a:r>
              <a:rPr lang="en-US" u="sng" dirty="0">
                <a:solidFill>
                  <a:srgbClr val="7030A0"/>
                </a:solidFill>
              </a:rPr>
              <a:t>fundamental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b="1" dirty="0">
                <a:solidFill>
                  <a:srgbClr val="7030A0"/>
                </a:solidFill>
              </a:rPr>
              <a:t>frequency</a:t>
            </a:r>
            <a:r>
              <a:rPr lang="en-US" dirty="0">
                <a:solidFill>
                  <a:srgbClr val="7030A0"/>
                </a:solidFill>
              </a:rPr>
              <a:t> in which it </a:t>
            </a:r>
            <a:r>
              <a:rPr lang="en-US" i="1" dirty="0">
                <a:solidFill>
                  <a:srgbClr val="7030A0"/>
                </a:solidFill>
              </a:rPr>
              <a:t>oscillates</a:t>
            </a:r>
            <a:r>
              <a:rPr lang="en-US" dirty="0">
                <a:solidFill>
                  <a:srgbClr val="7030A0"/>
                </a:solidFill>
              </a:rPr>
              <a:t> based upon its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L</a:t>
            </a:r>
            <a:r>
              <a:rPr lang="en-US" dirty="0">
                <a:solidFill>
                  <a:srgbClr val="7030A0"/>
                </a:solidFill>
              </a:rPr>
              <a:t> and </a:t>
            </a:r>
            <a:r>
              <a:rPr lang="en-US" b="1" dirty="0">
                <a:solidFill>
                  <a:srgbClr val="7030A0"/>
                </a:solidFill>
              </a:rPr>
              <a:t>C</a:t>
            </a:r>
            <a:r>
              <a:rPr lang="en-US" dirty="0">
                <a:solidFill>
                  <a:srgbClr val="7030A0"/>
                </a:solidFill>
              </a:rPr>
              <a:t> values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3F71EE-52D2-A05F-702F-CE5C033D2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0569" y="1953896"/>
            <a:ext cx="1188823" cy="1646063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1FC499BB-23B9-ED4D-A016-81D0381C03E1}"/>
              </a:ext>
            </a:extLst>
          </p:cNvPr>
          <p:cNvGrpSpPr/>
          <p:nvPr/>
        </p:nvGrpSpPr>
        <p:grpSpPr>
          <a:xfrm>
            <a:off x="2224009" y="2278505"/>
            <a:ext cx="2990226" cy="3560164"/>
            <a:chOff x="2224009" y="2278505"/>
            <a:chExt cx="2990226" cy="3560164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9AE55DD-0F4A-96FF-E711-F005C362A318}"/>
                </a:ext>
              </a:extLst>
            </p:cNvPr>
            <p:cNvCxnSpPr>
              <a:cxnSpLocks/>
            </p:cNvCxnSpPr>
            <p:nvPr/>
          </p:nvCxnSpPr>
          <p:spPr>
            <a:xfrm>
              <a:off x="3552825" y="2278505"/>
              <a:ext cx="0" cy="3560164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936E461-02DA-C073-0203-038353E5295A}"/>
                </a:ext>
              </a:extLst>
            </p:cNvPr>
            <p:cNvCxnSpPr>
              <a:cxnSpLocks/>
            </p:cNvCxnSpPr>
            <p:nvPr/>
          </p:nvCxnSpPr>
          <p:spPr>
            <a:xfrm>
              <a:off x="3885107" y="2278505"/>
              <a:ext cx="0" cy="3560164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9E95A27-6619-996E-FDA0-DD6AD1B07663}"/>
                </a:ext>
              </a:extLst>
            </p:cNvPr>
            <p:cNvCxnSpPr>
              <a:cxnSpLocks/>
            </p:cNvCxnSpPr>
            <p:nvPr/>
          </p:nvCxnSpPr>
          <p:spPr>
            <a:xfrm>
              <a:off x="4217389" y="2278505"/>
              <a:ext cx="0" cy="3560164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A0F10F3-EEB2-31F5-997B-B77D133A27BD}"/>
                </a:ext>
              </a:extLst>
            </p:cNvPr>
            <p:cNvCxnSpPr>
              <a:cxnSpLocks/>
            </p:cNvCxnSpPr>
            <p:nvPr/>
          </p:nvCxnSpPr>
          <p:spPr>
            <a:xfrm>
              <a:off x="4549671" y="2278505"/>
              <a:ext cx="0" cy="3560164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55DAF72-FEE9-0E4B-FB22-5E914A4C11C9}"/>
                </a:ext>
              </a:extLst>
            </p:cNvPr>
            <p:cNvCxnSpPr>
              <a:cxnSpLocks/>
            </p:cNvCxnSpPr>
            <p:nvPr/>
          </p:nvCxnSpPr>
          <p:spPr>
            <a:xfrm>
              <a:off x="4881953" y="2278505"/>
              <a:ext cx="0" cy="3560164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43D14F2-CB23-352A-178E-DA90D4B738C7}"/>
                </a:ext>
              </a:extLst>
            </p:cNvPr>
            <p:cNvCxnSpPr>
              <a:cxnSpLocks/>
            </p:cNvCxnSpPr>
            <p:nvPr/>
          </p:nvCxnSpPr>
          <p:spPr>
            <a:xfrm>
              <a:off x="5214235" y="2278505"/>
              <a:ext cx="0" cy="3560164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DAA4B0F-0271-08CF-17CA-75B632B66C5B}"/>
                </a:ext>
              </a:extLst>
            </p:cNvPr>
            <p:cNvCxnSpPr>
              <a:cxnSpLocks/>
            </p:cNvCxnSpPr>
            <p:nvPr/>
          </p:nvCxnSpPr>
          <p:spPr>
            <a:xfrm>
              <a:off x="2888417" y="2278505"/>
              <a:ext cx="0" cy="3560164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241CF94-C871-A982-8D69-9761781EA3CE}"/>
                </a:ext>
              </a:extLst>
            </p:cNvPr>
            <p:cNvCxnSpPr>
              <a:cxnSpLocks/>
            </p:cNvCxnSpPr>
            <p:nvPr/>
          </p:nvCxnSpPr>
          <p:spPr>
            <a:xfrm>
              <a:off x="3220699" y="2278505"/>
              <a:ext cx="0" cy="3560164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DAAB377-B512-9E34-A107-AB0C86DE9295}"/>
                </a:ext>
              </a:extLst>
            </p:cNvPr>
            <p:cNvCxnSpPr>
              <a:cxnSpLocks/>
            </p:cNvCxnSpPr>
            <p:nvPr/>
          </p:nvCxnSpPr>
          <p:spPr>
            <a:xfrm>
              <a:off x="2224009" y="2278505"/>
              <a:ext cx="0" cy="3560164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466881F-B643-6E9B-40B5-D313A732EEFC}"/>
                </a:ext>
              </a:extLst>
            </p:cNvPr>
            <p:cNvCxnSpPr>
              <a:cxnSpLocks/>
            </p:cNvCxnSpPr>
            <p:nvPr/>
          </p:nvCxnSpPr>
          <p:spPr>
            <a:xfrm>
              <a:off x="2556291" y="2278505"/>
              <a:ext cx="0" cy="3560164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77667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Driven</a:t>
            </a:r>
            <a:r>
              <a:rPr lang="en-US" sz="3200" dirty="0">
                <a:latin typeface="+mn-lt"/>
              </a:rPr>
              <a:t> Oscillators - </a:t>
            </a:r>
            <a:r>
              <a:rPr lang="en-US" sz="3200" b="1" dirty="0">
                <a:latin typeface="+mn-lt"/>
              </a:rPr>
              <a:t>Resonance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E8F97C-905D-0C51-6CC4-B2D125D66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198" y="1616054"/>
            <a:ext cx="5843603" cy="506303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B74E219-A47B-5382-7ED4-172FAF9E845E}"/>
              </a:ext>
            </a:extLst>
          </p:cNvPr>
          <p:cNvCxnSpPr/>
          <p:nvPr/>
        </p:nvCxnSpPr>
        <p:spPr>
          <a:xfrm>
            <a:off x="2698230" y="4294682"/>
            <a:ext cx="58461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5054522B-5578-AAC5-5FD9-9CB5D02DA146}"/>
              </a:ext>
            </a:extLst>
          </p:cNvPr>
          <p:cNvSpPr/>
          <p:nvPr/>
        </p:nvSpPr>
        <p:spPr>
          <a:xfrm>
            <a:off x="3282847" y="4182254"/>
            <a:ext cx="801974" cy="2023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5C49163-AB24-16F8-B7C2-0E6A7556C4AD}"/>
              </a:ext>
            </a:extLst>
          </p:cNvPr>
          <p:cNvCxnSpPr>
            <a:cxnSpLocks/>
          </p:cNvCxnSpPr>
          <p:nvPr/>
        </p:nvCxnSpPr>
        <p:spPr>
          <a:xfrm>
            <a:off x="1269168" y="1883764"/>
            <a:ext cx="58461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91AADBF-FFB7-5029-824C-62312B880725}"/>
              </a:ext>
            </a:extLst>
          </p:cNvPr>
          <p:cNvCxnSpPr>
            <a:cxnSpLocks/>
          </p:cNvCxnSpPr>
          <p:nvPr/>
        </p:nvCxnSpPr>
        <p:spPr>
          <a:xfrm>
            <a:off x="3987384" y="1861279"/>
            <a:ext cx="58461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C98F2B7-CEA0-B5BC-1EB6-37C3FF4EF1D9}"/>
              </a:ext>
            </a:extLst>
          </p:cNvPr>
          <p:cNvCxnSpPr>
            <a:cxnSpLocks/>
          </p:cNvCxnSpPr>
          <p:nvPr/>
        </p:nvCxnSpPr>
        <p:spPr>
          <a:xfrm>
            <a:off x="5876145" y="3597640"/>
            <a:ext cx="1506511" cy="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38203C6-155B-2768-6F0E-4C78621A6F85}"/>
              </a:ext>
            </a:extLst>
          </p:cNvPr>
          <p:cNvCxnSpPr>
            <a:cxnSpLocks/>
          </p:cNvCxnSpPr>
          <p:nvPr/>
        </p:nvCxnSpPr>
        <p:spPr>
          <a:xfrm>
            <a:off x="5876145" y="3854971"/>
            <a:ext cx="1506511" cy="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FE750FD-ED08-AF13-B840-6103F7DE6768}"/>
              </a:ext>
            </a:extLst>
          </p:cNvPr>
          <p:cNvCxnSpPr/>
          <p:nvPr/>
        </p:nvCxnSpPr>
        <p:spPr>
          <a:xfrm flipV="1">
            <a:off x="7329488" y="3605135"/>
            <a:ext cx="0" cy="242341"/>
          </a:xfrm>
          <a:prstGeom prst="straightConnector1">
            <a:avLst/>
          </a:prstGeom>
          <a:ln w="28575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07B340A-119E-8DA1-45FD-ABECCFB6E106}"/>
              </a:ext>
            </a:extLst>
          </p:cNvPr>
          <p:cNvCxnSpPr>
            <a:cxnSpLocks/>
          </p:cNvCxnSpPr>
          <p:nvPr/>
        </p:nvCxnSpPr>
        <p:spPr>
          <a:xfrm>
            <a:off x="4304677" y="5698764"/>
            <a:ext cx="1506511" cy="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9C5BA89-DCBE-6101-DEC7-B2AC4D48BED1}"/>
              </a:ext>
            </a:extLst>
          </p:cNvPr>
          <p:cNvCxnSpPr>
            <a:cxnSpLocks/>
          </p:cNvCxnSpPr>
          <p:nvPr/>
        </p:nvCxnSpPr>
        <p:spPr>
          <a:xfrm>
            <a:off x="4304677" y="6570685"/>
            <a:ext cx="1506511" cy="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5FB5071-1F6E-A348-A74A-95A5993370A3}"/>
              </a:ext>
            </a:extLst>
          </p:cNvPr>
          <p:cNvCxnSpPr>
            <a:cxnSpLocks/>
          </p:cNvCxnSpPr>
          <p:nvPr/>
        </p:nvCxnSpPr>
        <p:spPr>
          <a:xfrm flipV="1">
            <a:off x="5758020" y="5706259"/>
            <a:ext cx="0" cy="856931"/>
          </a:xfrm>
          <a:prstGeom prst="straightConnector1">
            <a:avLst/>
          </a:prstGeom>
          <a:ln w="28575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6829834B-2FE5-365B-7FF7-7E6089C33233}"/>
              </a:ext>
            </a:extLst>
          </p:cNvPr>
          <p:cNvSpPr/>
          <p:nvPr/>
        </p:nvSpPr>
        <p:spPr>
          <a:xfrm>
            <a:off x="7265194" y="3605135"/>
            <a:ext cx="117462" cy="2423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03958EC-16DF-65AE-81AE-F183E89483F3}"/>
              </a:ext>
            </a:extLst>
          </p:cNvPr>
          <p:cNvSpPr/>
          <p:nvPr/>
        </p:nvSpPr>
        <p:spPr>
          <a:xfrm>
            <a:off x="5700793" y="5695386"/>
            <a:ext cx="117462" cy="867804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BAF5C39A-E3B0-9DA1-9FEF-AAB2C8E5FC0B}"/>
              </a:ext>
            </a:extLst>
          </p:cNvPr>
          <p:cNvCxnSpPr>
            <a:stCxn id="27" idx="3"/>
            <a:endCxn id="28" idx="3"/>
          </p:cNvCxnSpPr>
          <p:nvPr/>
        </p:nvCxnSpPr>
        <p:spPr>
          <a:xfrm flipH="1">
            <a:off x="5818255" y="3726305"/>
            <a:ext cx="1564401" cy="2402983"/>
          </a:xfrm>
          <a:prstGeom prst="bentConnector3">
            <a:avLst>
              <a:gd name="adj1" fmla="val -14613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2268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Finding a Circuit's Resonant Frequency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72E0DF-EA1E-2B29-FBAA-C77F1DA8F8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From simple circuits, like our RLC lab, we can directly compute the theoretical 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resonant</a:t>
                </a:r>
                <a:r>
                  <a:rPr lang="en-US" sz="2400" dirty="0"/>
                  <a:t> frequency:</a:t>
                </a:r>
              </a:p>
              <a:p>
                <a:pPr marL="0" indent="0">
                  <a:buNone/>
                </a:pPr>
                <a:endParaRPr lang="en-US" sz="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𝐿𝐶</m:t>
                              </m:r>
                            </m:e>
                          </m:rad>
                        </m:den>
                      </m:f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in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Hz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800" dirty="0"/>
              </a:p>
              <a:p>
                <a:r>
                  <a:rPr lang="en-US" sz="2400" dirty="0"/>
                  <a:t>However, due to </a:t>
                </a:r>
                <a:r>
                  <a:rPr lang="en-US" sz="2400" i="1" dirty="0"/>
                  <a:t>tolerance</a:t>
                </a:r>
                <a:r>
                  <a:rPr lang="en-US" sz="2400" dirty="0"/>
                  <a:t> variations in the components, the </a:t>
                </a:r>
                <a:r>
                  <a:rPr lang="en-US" sz="2400" b="1" dirty="0"/>
                  <a:t>actual</a:t>
                </a:r>
                <a:r>
                  <a:rPr lang="en-US" sz="2400" dirty="0"/>
                  <a:t> resonant frequency might be reasonably away from its theoretical value</a:t>
                </a:r>
              </a:p>
              <a:p>
                <a:r>
                  <a:rPr lang="en-US" sz="2400" dirty="0"/>
                  <a:t>Circuits more complicated than a simple series RLC network </a:t>
                </a:r>
                <a:r>
                  <a:rPr lang="en-US" sz="2400" dirty="0">
                    <a:solidFill>
                      <a:srgbClr val="FF0000"/>
                    </a:solidFill>
                  </a:rPr>
                  <a:t>might not even have</a:t>
                </a:r>
                <a:r>
                  <a:rPr lang="en-US" sz="2400" dirty="0"/>
                  <a:t> a closed-form (analytic) formula expressing its resonant frequency, or the circuit might have </a:t>
                </a:r>
                <a:r>
                  <a:rPr lang="en-US" sz="2400" u="sng" dirty="0"/>
                  <a:t>multiple</a:t>
                </a:r>
                <a:r>
                  <a:rPr lang="en-US" sz="2400" dirty="0"/>
                  <a:t> different regions of resonance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72E0DF-EA1E-2B29-FBAA-C77F1DA8F8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961" r="-618" b="-57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107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Finding a Circuit's Resonant Frequency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90FDC7-52C8-D1F8-C905-6D0124950847}"/>
              </a:ext>
            </a:extLst>
          </p:cNvPr>
          <p:cNvSpPr txBox="1"/>
          <p:nvPr/>
        </p:nvSpPr>
        <p:spPr>
          <a:xfrm>
            <a:off x="1094283" y="4920362"/>
            <a:ext cx="27506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7030A0"/>
                </a:solidFill>
              </a:rPr>
              <a:t>Let us see if we can use a KB2040 to determine the resonant frequency of an RLC circuit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090541-33E6-68E0-4B32-5986113FBAA7}"/>
              </a:ext>
            </a:extLst>
          </p:cNvPr>
          <p:cNvSpPr txBox="1"/>
          <p:nvPr/>
        </p:nvSpPr>
        <p:spPr>
          <a:xfrm>
            <a:off x="4572000" y="4920362"/>
            <a:ext cx="35843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7030A0"/>
                </a:solidFill>
              </a:rPr>
              <a:t>But first, let's simulate in software (via a mathematical model) our RLC circuit being driven by an AC voltage source…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133130-26B2-B69E-3B45-48EE7711D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731" y="1625222"/>
            <a:ext cx="7562538" cy="27604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F5D72BE-560E-56D6-E91E-8263D2DC04B1}"/>
              </a:ext>
            </a:extLst>
          </p:cNvPr>
          <p:cNvSpPr txBox="1"/>
          <p:nvPr/>
        </p:nvSpPr>
        <p:spPr>
          <a:xfrm>
            <a:off x="5089161" y="2713069"/>
            <a:ext cx="6820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  <a:sym typeface="Wingdings" panose="05000000000000000000" pitchFamily="2" charset="2"/>
              </a:rPr>
              <a:t></a:t>
            </a:r>
            <a:endParaRPr lang="en-US" sz="3200" dirty="0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133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Simulating a </a:t>
            </a:r>
            <a:r>
              <a:rPr lang="en-US" sz="3200" b="1" dirty="0">
                <a:latin typeface="+mn-lt"/>
              </a:rPr>
              <a:t>Driven</a:t>
            </a:r>
            <a:r>
              <a:rPr lang="en-US" sz="3200" dirty="0">
                <a:latin typeface="+mn-lt"/>
              </a:rPr>
              <a:t> RLC Circuit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0295C4E-BA55-35DD-C473-936F66E01B92}"/>
                  </a:ext>
                </a:extLst>
              </p:cNvPr>
              <p:cNvSpPr txBox="1"/>
              <p:nvPr/>
            </p:nvSpPr>
            <p:spPr>
              <a:xfrm>
                <a:off x="451874" y="1488873"/>
                <a:ext cx="217672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𝐸𝑀𝐹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=+1.21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0295C4E-BA55-35DD-C473-936F66E01B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874" y="1488873"/>
                <a:ext cx="2176726" cy="3385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5CB54A5-5DC3-AC3A-C09B-7E5FD46BB6EF}"/>
                  </a:ext>
                </a:extLst>
              </p:cNvPr>
              <p:cNvSpPr txBox="1"/>
              <p:nvPr/>
            </p:nvSpPr>
            <p:spPr>
              <a:xfrm>
                <a:off x="685794" y="5051192"/>
                <a:ext cx="239842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600" dirty="0"/>
                  <a:t> Charge (in Coulombs)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5CB54A5-5DC3-AC3A-C09B-7E5FD46BB6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794" y="5051192"/>
                <a:ext cx="2398426" cy="338554"/>
              </a:xfrm>
              <a:prstGeom prst="rect">
                <a:avLst/>
              </a:prstGeom>
              <a:blipFill>
                <a:blip r:embed="rId3"/>
                <a:stretch>
                  <a:fillRect t="-5455" b="-2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9C3A386-DF5F-81D6-810D-9F2534B9CFB2}"/>
                  </a:ext>
                </a:extLst>
              </p:cNvPr>
              <p:cNvSpPr txBox="1"/>
              <p:nvPr/>
            </p:nvSpPr>
            <p:spPr>
              <a:xfrm>
                <a:off x="738259" y="5417705"/>
                <a:ext cx="239842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600" dirty="0"/>
                  <a:t> Current (in Amps)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9C3A386-DF5F-81D6-810D-9F2534B9CF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259" y="5417705"/>
                <a:ext cx="2398426" cy="338554"/>
              </a:xfrm>
              <a:prstGeom prst="rect">
                <a:avLst/>
              </a:prstGeom>
              <a:blipFill>
                <a:blip r:embed="rId4"/>
                <a:stretch>
                  <a:fillRect t="-5455" b="-2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7B33D3D7-38A7-C403-1EEF-5B26EFACD8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874" y="1857288"/>
            <a:ext cx="2176726" cy="319192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913F658-54AB-7643-0FCF-75A6C54BAB24}"/>
              </a:ext>
            </a:extLst>
          </p:cNvPr>
          <p:cNvSpPr txBox="1"/>
          <p:nvPr/>
        </p:nvSpPr>
        <p:spPr>
          <a:xfrm>
            <a:off x="242016" y="3055919"/>
            <a:ext cx="367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1F3396-B855-1F67-AB2A-7ED8B01B7BB2}"/>
              </a:ext>
            </a:extLst>
          </p:cNvPr>
          <p:cNvSpPr txBox="1"/>
          <p:nvPr/>
        </p:nvSpPr>
        <p:spPr>
          <a:xfrm>
            <a:off x="2443396" y="2293495"/>
            <a:ext cx="367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CB3A6B-1E92-77B2-32A7-032F9CFDA8A8}"/>
              </a:ext>
            </a:extLst>
          </p:cNvPr>
          <p:cNvSpPr txBox="1"/>
          <p:nvPr/>
        </p:nvSpPr>
        <p:spPr>
          <a:xfrm>
            <a:off x="2443396" y="3367790"/>
            <a:ext cx="367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2CAA36-FE0E-7C6C-6497-1988B4B5D7C5}"/>
              </a:ext>
            </a:extLst>
          </p:cNvPr>
          <p:cNvSpPr txBox="1"/>
          <p:nvPr/>
        </p:nvSpPr>
        <p:spPr>
          <a:xfrm>
            <a:off x="2443396" y="4227439"/>
            <a:ext cx="367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3D9D513-C77C-D799-1CCB-6B94EB8665F2}"/>
              </a:ext>
            </a:extLst>
          </p:cNvPr>
          <p:cNvGrpSpPr/>
          <p:nvPr/>
        </p:nvGrpSpPr>
        <p:grpSpPr>
          <a:xfrm>
            <a:off x="3420907" y="1557807"/>
            <a:ext cx="3759181" cy="338554"/>
            <a:chOff x="3443593" y="1735893"/>
            <a:chExt cx="3759181" cy="3385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0B1F2D2-4A53-B13B-2CFC-F8DE22A6C295}"/>
                    </a:ext>
                  </a:extLst>
                </p:cNvPr>
                <p:cNvSpPr txBox="1"/>
                <p:nvPr/>
              </p:nvSpPr>
              <p:spPr>
                <a:xfrm>
                  <a:off x="3443593" y="1766671"/>
                  <a:ext cx="143783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0B1F2D2-4A53-B13B-2CFC-F8DE22A6C2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3593" y="1766671"/>
                  <a:ext cx="1437830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3390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2EB8D70-456B-EAA0-B598-D550E9AF7DDF}"/>
                </a:ext>
              </a:extLst>
            </p:cNvPr>
            <p:cNvSpPr txBox="1"/>
            <p:nvPr/>
          </p:nvSpPr>
          <p:spPr>
            <a:xfrm>
              <a:off x="5486702" y="1735893"/>
              <a:ext cx="17160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AC Voltage Source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B90C914-43F5-3CAC-0F24-FCE20BB8358A}"/>
              </a:ext>
            </a:extLst>
          </p:cNvPr>
          <p:cNvGrpSpPr/>
          <p:nvPr/>
        </p:nvGrpSpPr>
        <p:grpSpPr>
          <a:xfrm>
            <a:off x="3420907" y="1970625"/>
            <a:ext cx="3204545" cy="338554"/>
            <a:chOff x="3443593" y="2303421"/>
            <a:chExt cx="3204545" cy="3385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54F47A0-C2B4-0698-7CEC-4B5AD0FE14EB}"/>
                    </a:ext>
                  </a:extLst>
                </p:cNvPr>
                <p:cNvSpPr txBox="1"/>
                <p:nvPr/>
              </p:nvSpPr>
              <p:spPr>
                <a:xfrm>
                  <a:off x="3443593" y="2334199"/>
                  <a:ext cx="83548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𝐼𝑅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54F47A0-C2B4-0698-7CEC-4B5AD0FE14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3593" y="2334199"/>
                  <a:ext cx="835485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5839" r="-5839"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08B1121-19B3-05FC-BEC9-C311F0C3780D}"/>
                </a:ext>
              </a:extLst>
            </p:cNvPr>
            <p:cNvSpPr txBox="1"/>
            <p:nvPr/>
          </p:nvSpPr>
          <p:spPr>
            <a:xfrm>
              <a:off x="5486702" y="2303421"/>
              <a:ext cx="11614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</a:rPr>
                <a:t>Ohm's Law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D2CA346-3941-A8F4-A562-E3B9A04C5E47}"/>
              </a:ext>
            </a:extLst>
          </p:cNvPr>
          <p:cNvGrpSpPr/>
          <p:nvPr/>
        </p:nvGrpSpPr>
        <p:grpSpPr>
          <a:xfrm>
            <a:off x="3420907" y="2383443"/>
            <a:ext cx="3519338" cy="525913"/>
            <a:chOff x="3443593" y="2899325"/>
            <a:chExt cx="3519338" cy="5259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D3F39AF-2022-AAA2-37B4-A9D02CB2E2B7}"/>
                    </a:ext>
                  </a:extLst>
                </p:cNvPr>
                <p:cNvSpPr txBox="1"/>
                <p:nvPr/>
              </p:nvSpPr>
              <p:spPr>
                <a:xfrm>
                  <a:off x="3443593" y="2899325"/>
                  <a:ext cx="977319" cy="5259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D3F39AF-2022-AAA2-37B4-A9D02CB2E2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3593" y="2899325"/>
                  <a:ext cx="977319" cy="52591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7E1E733-8480-E68E-E15A-1A0B5DFACF2E}"/>
                </a:ext>
              </a:extLst>
            </p:cNvPr>
            <p:cNvSpPr txBox="1"/>
            <p:nvPr/>
          </p:nvSpPr>
          <p:spPr>
            <a:xfrm>
              <a:off x="5486702" y="2993004"/>
              <a:ext cx="147622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B050"/>
                  </a:solidFill>
                </a:rPr>
                <a:t>Faraday's Law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956B6AF-C4C5-495B-1D77-7F2AA04E95E5}"/>
              </a:ext>
            </a:extLst>
          </p:cNvPr>
          <p:cNvGrpSpPr/>
          <p:nvPr/>
        </p:nvGrpSpPr>
        <p:grpSpPr>
          <a:xfrm>
            <a:off x="3420907" y="2983620"/>
            <a:ext cx="3519337" cy="520399"/>
            <a:chOff x="3443593" y="3713365"/>
            <a:chExt cx="3519337" cy="5203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A568975-16E4-7A50-02DF-9FB940146DDC}"/>
                    </a:ext>
                  </a:extLst>
                </p:cNvPr>
                <p:cNvSpPr txBox="1"/>
                <p:nvPr/>
              </p:nvSpPr>
              <p:spPr>
                <a:xfrm>
                  <a:off x="3443593" y="3713365"/>
                  <a:ext cx="749629" cy="5203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A568975-16E4-7A50-02DF-9FB940146D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3593" y="3713365"/>
                  <a:ext cx="749629" cy="5203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B6B7C5E-E57B-7578-BB09-F6AC67953CAA}"/>
                </a:ext>
              </a:extLst>
            </p:cNvPr>
            <p:cNvSpPr txBox="1"/>
            <p:nvPr/>
          </p:nvSpPr>
          <p:spPr>
            <a:xfrm>
              <a:off x="5486701" y="3804287"/>
              <a:ext cx="147622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7030A0"/>
                  </a:solidFill>
                </a:rPr>
                <a:t>Gauss's Law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8EB0CC7-086B-DD99-1E57-E03E5A62DD93}"/>
              </a:ext>
            </a:extLst>
          </p:cNvPr>
          <p:cNvGrpSpPr/>
          <p:nvPr/>
        </p:nvGrpSpPr>
        <p:grpSpPr>
          <a:xfrm>
            <a:off x="3420907" y="3578283"/>
            <a:ext cx="4224902" cy="338554"/>
            <a:chOff x="3443593" y="4535216"/>
            <a:chExt cx="4224902" cy="3385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A7334C95-A208-F31B-6254-E9577D30475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443593" y="4565994"/>
                  <a:ext cx="182716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A7334C95-A208-F31B-6254-E9577D3047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3593" y="4565994"/>
                  <a:ext cx="1827167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1333" b="-17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5ECF5A8-BB26-1495-C49D-C44F69B2EFE2}"/>
                </a:ext>
              </a:extLst>
            </p:cNvPr>
            <p:cNvSpPr txBox="1"/>
            <p:nvPr/>
          </p:nvSpPr>
          <p:spPr>
            <a:xfrm>
              <a:off x="5491769" y="4535216"/>
              <a:ext cx="217672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70C0"/>
                  </a:solidFill>
                </a:rPr>
                <a:t>Kirchhoff's Voltage Law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4E120B4-1B06-2FD0-9971-B92517A14873}"/>
                  </a:ext>
                </a:extLst>
              </p:cNvPr>
              <p:cNvSpPr txBox="1"/>
              <p:nvPr/>
            </p:nvSpPr>
            <p:spPr>
              <a:xfrm>
                <a:off x="3593292" y="4398594"/>
                <a:ext cx="1899238" cy="525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4E120B4-1B06-2FD0-9971-B92517A14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3292" y="4398594"/>
                <a:ext cx="1899238" cy="52591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C306DC8-7BD2-6DC8-7919-299F87EE8962}"/>
                  </a:ext>
                </a:extLst>
              </p:cNvPr>
              <p:cNvSpPr txBox="1"/>
              <p:nvPr/>
            </p:nvSpPr>
            <p:spPr>
              <a:xfrm>
                <a:off x="797340" y="5836068"/>
                <a:ext cx="670119" cy="4675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C306DC8-7BD2-6DC8-7919-299F87EE89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340" y="5836068"/>
                <a:ext cx="670119" cy="4675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6E2D485-ABA2-B245-4DA7-B7D679E28990}"/>
                  </a:ext>
                </a:extLst>
              </p:cNvPr>
              <p:cNvSpPr txBox="1"/>
              <p:nvPr/>
            </p:nvSpPr>
            <p:spPr>
              <a:xfrm>
                <a:off x="1885007" y="5836068"/>
                <a:ext cx="655949" cy="4675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6E2D485-ABA2-B245-4DA7-B7D679E289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5007" y="5836068"/>
                <a:ext cx="655949" cy="4675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12061C6-DC99-616E-1D6A-DC9618A9CD94}"/>
                  </a:ext>
                </a:extLst>
              </p:cNvPr>
              <p:cNvSpPr txBox="1"/>
              <p:nvPr/>
            </p:nvSpPr>
            <p:spPr>
              <a:xfrm>
                <a:off x="3593292" y="5154795"/>
                <a:ext cx="1763495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12061C6-DC99-616E-1D6A-DC9618A9C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3292" y="5154795"/>
                <a:ext cx="1763495" cy="5203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37B59FA-B11D-9780-624D-35D777DCF6BB}"/>
                  </a:ext>
                </a:extLst>
              </p:cNvPr>
              <p:cNvSpPr txBox="1"/>
              <p:nvPr/>
            </p:nvSpPr>
            <p:spPr>
              <a:xfrm>
                <a:off x="3593292" y="5905481"/>
                <a:ext cx="2107436" cy="5357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𝐼𝑅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li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37B59FA-B11D-9780-624D-35D777DCF6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3292" y="5905481"/>
                <a:ext cx="2107436" cy="53572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A11A428-53AF-2FEA-FD35-DB53DDB93488}"/>
                  </a:ext>
                </a:extLst>
              </p:cNvPr>
              <p:cNvSpPr txBox="1"/>
              <p:nvPr/>
            </p:nvSpPr>
            <p:spPr>
              <a:xfrm>
                <a:off x="6292127" y="4708876"/>
                <a:ext cx="18607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A11A428-53AF-2FEA-FD35-DB53DDB934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2127" y="4708876"/>
                <a:ext cx="1860766" cy="276999"/>
              </a:xfrm>
              <a:prstGeom prst="rect">
                <a:avLst/>
              </a:prstGeom>
              <a:blipFill>
                <a:blip r:embed="rId16"/>
                <a:stretch>
                  <a:fillRect l="-3607" r="-2295" b="-28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EB0EC04-6817-E0B3-4DDA-A150A0F662E3}"/>
                  </a:ext>
                </a:extLst>
              </p:cNvPr>
              <p:cNvSpPr txBox="1"/>
              <p:nvPr/>
            </p:nvSpPr>
            <p:spPr>
              <a:xfrm>
                <a:off x="6292127" y="5156822"/>
                <a:ext cx="166244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EB0EC04-6817-E0B3-4DDA-A150A0F662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2127" y="5156822"/>
                <a:ext cx="1662442" cy="276999"/>
              </a:xfrm>
              <a:prstGeom prst="rect">
                <a:avLst/>
              </a:prstGeom>
              <a:blipFill>
                <a:blip r:embed="rId17"/>
                <a:stretch>
                  <a:fillRect l="-2564" r="-2564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B201E80-648A-9F75-29D2-5AEA08BB7136}"/>
                  </a:ext>
                </a:extLst>
              </p:cNvPr>
              <p:cNvSpPr txBox="1"/>
              <p:nvPr/>
            </p:nvSpPr>
            <p:spPr>
              <a:xfrm>
                <a:off x="6292127" y="5651972"/>
                <a:ext cx="15386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𝐼𝑅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B201E80-648A-9F75-29D2-5AEA08BB71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2127" y="5651972"/>
                <a:ext cx="1538626" cy="276999"/>
              </a:xfrm>
              <a:prstGeom prst="rect">
                <a:avLst/>
              </a:prstGeom>
              <a:blipFill>
                <a:blip r:embed="rId18"/>
                <a:stretch>
                  <a:fillRect l="-3162" r="-2372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2E782C50-D361-183D-C054-580B4FC41490}"/>
              </a:ext>
            </a:extLst>
          </p:cNvPr>
          <p:cNvSpPr txBox="1"/>
          <p:nvPr/>
        </p:nvSpPr>
        <p:spPr>
          <a:xfrm>
            <a:off x="1235772" y="2163599"/>
            <a:ext cx="925476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10.05</a:t>
            </a:r>
            <a:r>
              <a:rPr lang="el-GR" sz="1600" dirty="0"/>
              <a:t>Ω</a:t>
            </a:r>
            <a:r>
              <a:rPr lang="en-US" sz="1600" dirty="0"/>
              <a:t> 99.32</a:t>
            </a:r>
            <a:r>
              <a:rPr lang="el-GR" sz="1600" dirty="0"/>
              <a:t>Ω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184B85A-E8E1-9CB5-57F1-1DBD0286100A}"/>
                  </a:ext>
                </a:extLst>
              </p:cNvPr>
              <p:cNvSpPr txBox="1"/>
              <p:nvPr/>
            </p:nvSpPr>
            <p:spPr>
              <a:xfrm>
                <a:off x="6318033" y="6147122"/>
                <a:ext cx="150579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184B85A-E8E1-9CB5-57F1-1DBD028610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8033" y="6147122"/>
                <a:ext cx="1505797" cy="276999"/>
              </a:xfrm>
              <a:prstGeom prst="rect">
                <a:avLst/>
              </a:prstGeom>
              <a:blipFill>
                <a:blip r:embed="rId19"/>
                <a:stretch>
                  <a:fillRect l="-2834" r="-2834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50">
            <a:extLst>
              <a:ext uri="{FF2B5EF4-FFF2-40B4-BE49-F238E27FC236}">
                <a16:creationId xmlns:a16="http://schemas.microsoft.com/office/drawing/2014/main" id="{E6E2F022-52F1-DB9D-1DE0-44E1CF4E31EF}"/>
              </a:ext>
            </a:extLst>
          </p:cNvPr>
          <p:cNvSpPr txBox="1"/>
          <p:nvPr/>
        </p:nvSpPr>
        <p:spPr>
          <a:xfrm>
            <a:off x="1342814" y="3343938"/>
            <a:ext cx="795456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100.8mH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F3E66DE-C152-1202-E57C-52C282A4D8C0}"/>
              </a:ext>
            </a:extLst>
          </p:cNvPr>
          <p:cNvSpPr txBox="1"/>
          <p:nvPr/>
        </p:nvSpPr>
        <p:spPr>
          <a:xfrm>
            <a:off x="1365792" y="4157074"/>
            <a:ext cx="795456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91.2</a:t>
            </a:r>
          </a:p>
          <a:p>
            <a:pPr algn="ctr"/>
            <a:r>
              <a:rPr lang="en-US" sz="1600" dirty="0"/>
              <a:t>uF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FCE8214-F308-62E6-03B5-1A99C78B63B6}"/>
              </a:ext>
            </a:extLst>
          </p:cNvPr>
          <p:cNvSpPr txBox="1"/>
          <p:nvPr/>
        </p:nvSpPr>
        <p:spPr>
          <a:xfrm>
            <a:off x="6279174" y="4256639"/>
            <a:ext cx="1760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Euler's Method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3BA563C-D047-E092-1472-E86B8D69D231}"/>
              </a:ext>
            </a:extLst>
          </p:cNvPr>
          <p:cNvSpPr/>
          <p:nvPr/>
        </p:nvSpPr>
        <p:spPr>
          <a:xfrm>
            <a:off x="1849675" y="5805266"/>
            <a:ext cx="712549" cy="586402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77BC9C5-42E8-6B8C-C7FD-C9D7D668F794}"/>
              </a:ext>
            </a:extLst>
          </p:cNvPr>
          <p:cNvSpPr/>
          <p:nvPr/>
        </p:nvSpPr>
        <p:spPr>
          <a:xfrm>
            <a:off x="4751466" y="4390834"/>
            <a:ext cx="300219" cy="586402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9A2D8EA1-8008-52DA-9F55-88FDF32899F7}"/>
              </a:ext>
            </a:extLst>
          </p:cNvPr>
          <p:cNvCxnSpPr>
            <a:stCxn id="56" idx="3"/>
            <a:endCxn id="57" idx="0"/>
          </p:cNvCxnSpPr>
          <p:nvPr/>
        </p:nvCxnSpPr>
        <p:spPr>
          <a:xfrm flipV="1">
            <a:off x="2562224" y="4390834"/>
            <a:ext cx="2339352" cy="1707633"/>
          </a:xfrm>
          <a:prstGeom prst="bentConnector4">
            <a:avLst>
              <a:gd name="adj1" fmla="val 31413"/>
              <a:gd name="adj2" fmla="val 113387"/>
            </a:avLst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2119D687-539D-C114-6366-536DDDCFC3F9}"/>
              </a:ext>
            </a:extLst>
          </p:cNvPr>
          <p:cNvSpPr/>
          <p:nvPr/>
        </p:nvSpPr>
        <p:spPr>
          <a:xfrm>
            <a:off x="4595813" y="5269415"/>
            <a:ext cx="319328" cy="360122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3300C0BF-40F8-612E-2281-798017CAFC19}"/>
              </a:ext>
            </a:extLst>
          </p:cNvPr>
          <p:cNvCxnSpPr>
            <a:stCxn id="57" idx="2"/>
            <a:endCxn id="61" idx="0"/>
          </p:cNvCxnSpPr>
          <p:nvPr/>
        </p:nvCxnSpPr>
        <p:spPr>
          <a:xfrm rot="5400000">
            <a:off x="4682438" y="5050276"/>
            <a:ext cx="292179" cy="146099"/>
          </a:xfrm>
          <a:prstGeom prst="bentConnector3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Arrow: Curved Up 63">
            <a:extLst>
              <a:ext uri="{FF2B5EF4-FFF2-40B4-BE49-F238E27FC236}">
                <a16:creationId xmlns:a16="http://schemas.microsoft.com/office/drawing/2014/main" id="{E79B14AD-D5B7-6B85-7E8D-2F45F54E56FC}"/>
              </a:ext>
            </a:extLst>
          </p:cNvPr>
          <p:cNvSpPr/>
          <p:nvPr/>
        </p:nvSpPr>
        <p:spPr>
          <a:xfrm>
            <a:off x="959370" y="6332859"/>
            <a:ext cx="547961" cy="154759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5" name="Arrow: Curved Up 64">
            <a:extLst>
              <a:ext uri="{FF2B5EF4-FFF2-40B4-BE49-F238E27FC236}">
                <a16:creationId xmlns:a16="http://schemas.microsoft.com/office/drawing/2014/main" id="{C318D7A3-159F-15FC-B03F-DD519AF440B2}"/>
              </a:ext>
            </a:extLst>
          </p:cNvPr>
          <p:cNvSpPr/>
          <p:nvPr/>
        </p:nvSpPr>
        <p:spPr>
          <a:xfrm>
            <a:off x="2014263" y="6314288"/>
            <a:ext cx="547961" cy="154759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Flowchart: Alternate Process 2">
            <a:extLst>
              <a:ext uri="{FF2B5EF4-FFF2-40B4-BE49-F238E27FC236}">
                <a16:creationId xmlns:a16="http://schemas.microsoft.com/office/drawing/2014/main" id="{FC1C303C-CB60-E09D-AE33-6F7E9CE9CA44}"/>
              </a:ext>
            </a:extLst>
          </p:cNvPr>
          <p:cNvSpPr/>
          <p:nvPr/>
        </p:nvSpPr>
        <p:spPr>
          <a:xfrm>
            <a:off x="6846147" y="1879625"/>
            <a:ext cx="1464414" cy="64462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Voltage across the </a:t>
            </a:r>
            <a:r>
              <a:rPr lang="en-US" sz="1600" b="1" dirty="0">
                <a:solidFill>
                  <a:srgbClr val="FFFF00"/>
                </a:solidFill>
              </a:rPr>
              <a:t>resistor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33766BE3-0F3F-6BE7-A6E4-4580AA03B2A4}"/>
              </a:ext>
            </a:extLst>
          </p:cNvPr>
          <p:cNvCxnSpPr>
            <a:stCxn id="48" idx="3"/>
            <a:endCxn id="3" idx="3"/>
          </p:cNvCxnSpPr>
          <p:nvPr/>
        </p:nvCxnSpPr>
        <p:spPr>
          <a:xfrm flipV="1">
            <a:off x="7830753" y="2201938"/>
            <a:ext cx="479808" cy="3588534"/>
          </a:xfrm>
          <a:prstGeom prst="bentConnector3">
            <a:avLst>
              <a:gd name="adj1" fmla="val 147644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6107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A4B49572-1148-9B37-2D94-6F5C6724F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9958" y="1633493"/>
            <a:ext cx="4572638" cy="2800741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Root Mean Squared </a:t>
            </a:r>
            <a:r>
              <a:rPr lang="en-US" sz="3200" dirty="0">
                <a:latin typeface="+mn-lt"/>
              </a:rPr>
              <a:t>(RMS) vs. Mean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29864A1-A967-B8AA-926E-BBDCB465CD4E}"/>
                  </a:ext>
                </a:extLst>
              </p:cNvPr>
              <p:cNvSpPr txBox="1"/>
              <p:nvPr/>
            </p:nvSpPr>
            <p:spPr>
              <a:xfrm>
                <a:off x="628650" y="4931464"/>
                <a:ext cx="3647922" cy="13546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𝑅𝑀𝑆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den>
                          </m:f>
                          <m:nary>
                            <m:naryPr>
                              <m:limLoc m:val="undOvr"/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sin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ⅆ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e>
                          </m:nary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≅0.7071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29864A1-A967-B8AA-926E-BBDCB465CD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4931464"/>
                <a:ext cx="3647922" cy="1354602"/>
              </a:xfrm>
              <a:prstGeom prst="rect">
                <a:avLst/>
              </a:prstGeom>
              <a:blipFill>
                <a:blip r:embed="rId3"/>
                <a:stretch>
                  <a:fillRect b="-4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8A8B6C3D-7116-B97D-50EF-1305997E695A}"/>
              </a:ext>
            </a:extLst>
          </p:cNvPr>
          <p:cNvSpPr txBox="1"/>
          <p:nvPr/>
        </p:nvSpPr>
        <p:spPr>
          <a:xfrm>
            <a:off x="5045373" y="4878773"/>
            <a:ext cx="35901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Mean is used to get the </a:t>
            </a:r>
            <a:r>
              <a:rPr lang="en-US" u="sng" dirty="0">
                <a:solidFill>
                  <a:srgbClr val="7030A0"/>
                </a:solidFill>
              </a:rPr>
              <a:t>central tendency</a:t>
            </a:r>
            <a:r>
              <a:rPr lang="en-US" dirty="0">
                <a:solidFill>
                  <a:srgbClr val="7030A0"/>
                </a:solidFill>
              </a:rPr>
              <a:t> of a given data set while </a:t>
            </a:r>
            <a:r>
              <a:rPr lang="en-US" b="1" dirty="0">
                <a:solidFill>
                  <a:srgbClr val="7030A0"/>
                </a:solidFill>
              </a:rPr>
              <a:t>RMS</a:t>
            </a:r>
            <a:r>
              <a:rPr lang="en-US" dirty="0">
                <a:solidFill>
                  <a:srgbClr val="7030A0"/>
                </a:solidFill>
              </a:rPr>
              <a:t> is used when random variables given in the data are both </a:t>
            </a:r>
            <a:r>
              <a:rPr lang="en-US" b="1" dirty="0">
                <a:solidFill>
                  <a:srgbClr val="7030A0"/>
                </a:solidFill>
              </a:rPr>
              <a:t>negative and positive</a:t>
            </a:r>
            <a:r>
              <a:rPr lang="en-US" dirty="0">
                <a:solidFill>
                  <a:srgbClr val="7030A0"/>
                </a:solidFill>
              </a:rPr>
              <a:t> such as in </a:t>
            </a:r>
            <a:r>
              <a:rPr lang="en-US" i="1" dirty="0">
                <a:solidFill>
                  <a:srgbClr val="7030A0"/>
                </a:solidFill>
              </a:rPr>
              <a:t>sinusoids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0F6B155-2860-EDDE-63B0-2D80E706FEBE}"/>
                  </a:ext>
                </a:extLst>
              </p:cNvPr>
              <p:cNvSpPr txBox="1"/>
              <p:nvPr/>
            </p:nvSpPr>
            <p:spPr>
              <a:xfrm>
                <a:off x="633733" y="1728965"/>
                <a:ext cx="2274597" cy="8347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limLoc m:val="undOvr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p>
                        <m:e>
                          <m:func>
                            <m:func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nary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0F6B155-2860-EDDE-63B0-2D80E706FE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733" y="1728965"/>
                <a:ext cx="2274597" cy="8347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5AAF571-7037-143A-1478-C01F535CC8DF}"/>
                  </a:ext>
                </a:extLst>
              </p:cNvPr>
              <p:cNvSpPr txBox="1"/>
              <p:nvPr/>
            </p:nvSpPr>
            <p:spPr>
              <a:xfrm>
                <a:off x="633733" y="3177476"/>
                <a:ext cx="2234008" cy="10874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limLoc m:val="undOvr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p>
                        <m:e>
                          <m:func>
                            <m:func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0.6366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5AAF571-7037-143A-1478-C01F535CC8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733" y="3177476"/>
                <a:ext cx="2234008" cy="1087477"/>
              </a:xfrm>
              <a:prstGeom prst="rect">
                <a:avLst/>
              </a:prstGeom>
              <a:blipFill>
                <a:blip r:embed="rId5"/>
                <a:stretch>
                  <a:fillRect b="-11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A5FBD1BA-FA42-7CD3-4020-BC77F226E8B3}"/>
              </a:ext>
            </a:extLst>
          </p:cNvPr>
          <p:cNvSpPr txBox="1"/>
          <p:nvPr/>
        </p:nvSpPr>
        <p:spPr>
          <a:xfrm>
            <a:off x="2989494" y="1946699"/>
            <a:ext cx="396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  <a:sym typeface="Wingdings" panose="05000000000000000000" pitchFamily="2" charset="2"/>
              </a:rPr>
              <a:t></a:t>
            </a:r>
            <a:endParaRPr lang="en-US" sz="2400" dirty="0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99CDD4-EBD0-CD92-9A2D-8AE8D6541868}"/>
              </a:ext>
            </a:extLst>
          </p:cNvPr>
          <p:cNvSpPr txBox="1"/>
          <p:nvPr/>
        </p:nvSpPr>
        <p:spPr>
          <a:xfrm>
            <a:off x="2989494" y="3369040"/>
            <a:ext cx="396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n>
                  <a:solidFill>
                    <a:srgbClr val="FFC000"/>
                  </a:solidFill>
                </a:ln>
                <a:solidFill>
                  <a:srgbClr val="FFC000"/>
                </a:solidFill>
                <a:sym typeface="Wingdings" panose="05000000000000000000" pitchFamily="2" charset="2"/>
              </a:rPr>
              <a:t></a:t>
            </a:r>
            <a:endParaRPr lang="en-US" sz="2400" dirty="0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A156DB-3457-0345-5811-9C056DEF62D4}"/>
              </a:ext>
            </a:extLst>
          </p:cNvPr>
          <p:cNvSpPr txBox="1"/>
          <p:nvPr/>
        </p:nvSpPr>
        <p:spPr>
          <a:xfrm>
            <a:off x="4344486" y="5279065"/>
            <a:ext cx="396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n>
                  <a:solidFill>
                    <a:srgbClr val="00B050"/>
                  </a:solidFill>
                </a:ln>
                <a:solidFill>
                  <a:srgbClr val="00B050"/>
                </a:solidFill>
                <a:sym typeface="Wingdings" panose="05000000000000000000" pitchFamily="2" charset="2"/>
              </a:rPr>
              <a:t></a:t>
            </a:r>
            <a:endParaRPr lang="en-US" sz="2400" dirty="0">
              <a:ln>
                <a:solidFill>
                  <a:srgbClr val="00B050"/>
                </a:solidFill>
              </a:ln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560D585-2FDE-E8DE-7102-7C07709496D9}"/>
                  </a:ext>
                </a:extLst>
              </p:cNvPr>
              <p:cNvSpPr txBox="1"/>
              <p:nvPr/>
            </p:nvSpPr>
            <p:spPr>
              <a:xfrm>
                <a:off x="5560103" y="1477172"/>
                <a:ext cx="6208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solidFill>
                                <a:srgbClr val="5D80B4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i="1" smtClean="0">
                                  <a:solidFill>
                                    <a:srgbClr val="5D80B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solidFill>
                                    <a:srgbClr val="5D80B4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5D80B4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US" b="0" i="1" smtClean="0">
                              <a:solidFill>
                                <a:srgbClr val="5D80B4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US" dirty="0">
                  <a:solidFill>
                    <a:srgbClr val="5D80B4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560D585-2FDE-E8DE-7102-7C0770949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0103" y="1477172"/>
                <a:ext cx="620875" cy="276999"/>
              </a:xfrm>
              <a:prstGeom prst="rect">
                <a:avLst/>
              </a:prstGeom>
              <a:blipFill>
                <a:blip r:embed="rId6"/>
                <a:stretch>
                  <a:fillRect l="-7843" t="-4348" r="-3922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469AB0A-A805-B2C6-29D2-BD607D60DD2F}"/>
                  </a:ext>
                </a:extLst>
              </p:cNvPr>
              <p:cNvSpPr txBox="1"/>
              <p:nvPr/>
            </p:nvSpPr>
            <p:spPr>
              <a:xfrm>
                <a:off x="7931429" y="4284200"/>
                <a:ext cx="3223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5D80B4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smtClean="0">
                          <a:solidFill>
                            <a:srgbClr val="5D80B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dirty="0">
                  <a:solidFill>
                    <a:srgbClr val="5D80B4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469AB0A-A805-B2C6-29D2-BD607D60D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1429" y="4284200"/>
                <a:ext cx="322332" cy="276999"/>
              </a:xfrm>
              <a:prstGeom prst="rect">
                <a:avLst/>
              </a:prstGeom>
              <a:blipFill>
                <a:blip r:embed="rId7"/>
                <a:stretch>
                  <a:fillRect l="-15094" r="-11321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6FE3CE92-75A3-8135-120A-B3442F191927}"/>
              </a:ext>
            </a:extLst>
          </p:cNvPr>
          <p:cNvSpPr/>
          <p:nvPr/>
        </p:nvSpPr>
        <p:spPr>
          <a:xfrm>
            <a:off x="3745338" y="1764498"/>
            <a:ext cx="4250407" cy="2478251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A2231F3-73E4-519F-61AA-D645C993E75C}"/>
              </a:ext>
            </a:extLst>
          </p:cNvPr>
          <p:cNvCxnSpPr/>
          <p:nvPr/>
        </p:nvCxnSpPr>
        <p:spPr>
          <a:xfrm>
            <a:off x="3745338" y="2713220"/>
            <a:ext cx="4250407" cy="0"/>
          </a:xfrm>
          <a:prstGeom prst="line">
            <a:avLst/>
          </a:prstGeom>
          <a:ln w="28575">
            <a:solidFill>
              <a:srgbClr val="FFC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1BEF69D-2678-C8B7-82AB-FC5855F68E7A}"/>
              </a:ext>
            </a:extLst>
          </p:cNvPr>
          <p:cNvCxnSpPr/>
          <p:nvPr/>
        </p:nvCxnSpPr>
        <p:spPr>
          <a:xfrm>
            <a:off x="3745336" y="2355899"/>
            <a:ext cx="4250407" cy="0"/>
          </a:xfrm>
          <a:prstGeom prst="line">
            <a:avLst/>
          </a:prstGeom>
          <a:ln w="28575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122BC0C-DE67-D6EF-8F64-65F9437941D7}"/>
                  </a:ext>
                </a:extLst>
              </p:cNvPr>
              <p:cNvSpPr txBox="1"/>
              <p:nvPr/>
            </p:nvSpPr>
            <p:spPr>
              <a:xfrm>
                <a:off x="8121081" y="2554630"/>
                <a:ext cx="52002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n>
                                <a:solidFill>
                                  <a:srgbClr val="FFC000"/>
                                </a:solidFill>
                              </a:ln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n>
                                <a:solidFill>
                                  <a:srgbClr val="FFC000"/>
                                </a:solidFill>
                              </a:ln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sz="1600" b="1" i="1" smtClean="0">
                              <a:ln>
                                <a:solidFill>
                                  <a:srgbClr val="FFC000"/>
                                </a:solidFill>
                              </a:ln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ln>
                    <a:solidFill>
                      <a:srgbClr val="FFC000"/>
                    </a:solidFill>
                  </a:ln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122BC0C-DE67-D6EF-8F64-65F9437941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1081" y="2554630"/>
                <a:ext cx="520025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2FFB72E-BC85-3922-F17A-C05ADB3105F0}"/>
                  </a:ext>
                </a:extLst>
              </p:cNvPr>
              <p:cNvSpPr txBox="1"/>
              <p:nvPr/>
            </p:nvSpPr>
            <p:spPr>
              <a:xfrm>
                <a:off x="8066710" y="2150494"/>
                <a:ext cx="6287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n>
                                <a:solidFill>
                                  <a:srgbClr val="00B05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n>
                                <a:solidFill>
                                  <a:srgbClr val="00B05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sz="1600" b="1" i="1" smtClean="0">
                              <a:ln>
                                <a:solidFill>
                                  <a:srgbClr val="00B05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𝑹𝑴𝑺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ln>
                    <a:solidFill>
                      <a:srgbClr val="00B050"/>
                    </a:solidFill>
                  </a:ln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2FFB72E-BC85-3922-F17A-C05ADB3105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6710" y="2150494"/>
                <a:ext cx="628767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49B3840-B4C5-8E2A-B97D-794A92A67B38}"/>
              </a:ext>
            </a:extLst>
          </p:cNvPr>
          <p:cNvCxnSpPr>
            <a:cxnSpLocks/>
          </p:cNvCxnSpPr>
          <p:nvPr/>
        </p:nvCxnSpPr>
        <p:spPr>
          <a:xfrm flipH="1">
            <a:off x="5999128" y="1280834"/>
            <a:ext cx="230456" cy="210503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4088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7344B027-919F-1134-D796-F5451A7E19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7512"/>
          <a:stretch/>
        </p:blipFill>
        <p:spPr>
          <a:xfrm>
            <a:off x="2014857" y="1575901"/>
            <a:ext cx="5114286" cy="488571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driven_rlc.py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258785-F383-1DB4-160A-FC26366F9B1F}"/>
              </a:ext>
            </a:extLst>
          </p:cNvPr>
          <p:cNvSpPr/>
          <p:nvPr/>
        </p:nvSpPr>
        <p:spPr>
          <a:xfrm>
            <a:off x="7286625" y="1547813"/>
            <a:ext cx="478280" cy="1428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1E365D2-3EB4-5A26-F07F-4834734DA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046" y="1233823"/>
            <a:ext cx="2126421" cy="2604491"/>
          </a:xfrm>
          <a:prstGeom prst="rect">
            <a:avLst/>
          </a:prstGeom>
          <a:ln>
            <a:noFill/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8A4024A-9FEA-9E2C-7E18-3756B148C473}"/>
              </a:ext>
            </a:extLst>
          </p:cNvPr>
          <p:cNvSpPr/>
          <p:nvPr/>
        </p:nvSpPr>
        <p:spPr>
          <a:xfrm>
            <a:off x="3136848" y="2022537"/>
            <a:ext cx="478280" cy="1428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5D7F14-A189-5042-8A1D-2000F70030D2}"/>
              </a:ext>
            </a:extLst>
          </p:cNvPr>
          <p:cNvSpPr/>
          <p:nvPr/>
        </p:nvSpPr>
        <p:spPr>
          <a:xfrm>
            <a:off x="7227094" y="1752600"/>
            <a:ext cx="537811" cy="1428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FBA6C9-C9AC-1119-7CDE-CD7C61324AB1}"/>
              </a:ext>
            </a:extLst>
          </p:cNvPr>
          <p:cNvSpPr/>
          <p:nvPr/>
        </p:nvSpPr>
        <p:spPr>
          <a:xfrm>
            <a:off x="3675411" y="2022537"/>
            <a:ext cx="478280" cy="1428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B1E7CC-404F-0E22-BBBF-E71DC63C6C3E}"/>
              </a:ext>
            </a:extLst>
          </p:cNvPr>
          <p:cNvSpPr/>
          <p:nvPr/>
        </p:nvSpPr>
        <p:spPr>
          <a:xfrm>
            <a:off x="6346159" y="2294858"/>
            <a:ext cx="478280" cy="1428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382553-1D73-7075-CEA5-0AD19A0DE6C3}"/>
              </a:ext>
            </a:extLst>
          </p:cNvPr>
          <p:cNvSpPr/>
          <p:nvPr/>
        </p:nvSpPr>
        <p:spPr>
          <a:xfrm>
            <a:off x="4272519" y="5087461"/>
            <a:ext cx="387587" cy="1428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CC84F6-ABAE-F5C3-AB7B-0A28C85483BA}"/>
              </a:ext>
            </a:extLst>
          </p:cNvPr>
          <p:cNvSpPr/>
          <p:nvPr/>
        </p:nvSpPr>
        <p:spPr>
          <a:xfrm>
            <a:off x="7310765" y="2510435"/>
            <a:ext cx="478280" cy="1428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FD6CD3-55EC-B75A-32D2-2E91ECDE0B1A}"/>
              </a:ext>
            </a:extLst>
          </p:cNvPr>
          <p:cNvSpPr/>
          <p:nvPr/>
        </p:nvSpPr>
        <p:spPr>
          <a:xfrm>
            <a:off x="7310765" y="3174761"/>
            <a:ext cx="478280" cy="1428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D4FEEDC-65D1-2923-56ED-D8D175A452D1}"/>
              </a:ext>
            </a:extLst>
          </p:cNvPr>
          <p:cNvSpPr/>
          <p:nvPr/>
        </p:nvSpPr>
        <p:spPr>
          <a:xfrm>
            <a:off x="2735673" y="2604358"/>
            <a:ext cx="478280" cy="1428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CC9D69-CAF9-770D-51CE-FA6B43BC0879}"/>
              </a:ext>
            </a:extLst>
          </p:cNvPr>
          <p:cNvSpPr/>
          <p:nvPr/>
        </p:nvSpPr>
        <p:spPr>
          <a:xfrm>
            <a:off x="2735673" y="2805726"/>
            <a:ext cx="478280" cy="1428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EC961C38-3E24-15B2-5D00-E08DF0FAB2FD}"/>
              </a:ext>
            </a:extLst>
          </p:cNvPr>
          <p:cNvCxnSpPr>
            <a:cxnSpLocks/>
            <a:stCxn id="8" idx="0"/>
            <a:endCxn id="11" idx="0"/>
          </p:cNvCxnSpPr>
          <p:nvPr/>
        </p:nvCxnSpPr>
        <p:spPr>
          <a:xfrm rot="16200000" flipH="1" flipV="1">
            <a:off x="5213515" y="-289714"/>
            <a:ext cx="474724" cy="4149777"/>
          </a:xfrm>
          <a:prstGeom prst="bentConnector3">
            <a:avLst>
              <a:gd name="adj1" fmla="val -24471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8ABA18B7-CF72-2A52-C1DF-92E9989DBF30}"/>
              </a:ext>
            </a:extLst>
          </p:cNvPr>
          <p:cNvCxnSpPr>
            <a:cxnSpLocks/>
            <a:stCxn id="10" idx="1"/>
            <a:endCxn id="12" idx="0"/>
          </p:cNvCxnSpPr>
          <p:nvPr/>
        </p:nvCxnSpPr>
        <p:spPr>
          <a:xfrm rot="10800000" flipV="1">
            <a:off x="3914552" y="1824037"/>
            <a:ext cx="3312543" cy="198499"/>
          </a:xfrm>
          <a:prstGeom prst="bentConnector2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35283D39-A60B-30E2-B161-13CE9DC44BD5}"/>
              </a:ext>
            </a:extLst>
          </p:cNvPr>
          <p:cNvCxnSpPr>
            <a:cxnSpLocks/>
            <a:stCxn id="16" idx="0"/>
            <a:endCxn id="18" idx="2"/>
          </p:cNvCxnSpPr>
          <p:nvPr/>
        </p:nvCxnSpPr>
        <p:spPr>
          <a:xfrm rot="16200000" flipV="1">
            <a:off x="5149280" y="774136"/>
            <a:ext cx="226159" cy="4575092"/>
          </a:xfrm>
          <a:prstGeom prst="bentConnector3">
            <a:avLst>
              <a:gd name="adj1" fmla="val 43370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3A007F51-B795-66AC-F10B-A224A126A65A}"/>
              </a:ext>
            </a:extLst>
          </p:cNvPr>
          <p:cNvCxnSpPr>
            <a:cxnSpLocks/>
            <a:stCxn id="15" idx="0"/>
            <a:endCxn id="17" idx="0"/>
          </p:cNvCxnSpPr>
          <p:nvPr/>
        </p:nvCxnSpPr>
        <p:spPr>
          <a:xfrm rot="16200000" flipH="1" flipV="1">
            <a:off x="5215397" y="269850"/>
            <a:ext cx="93923" cy="4575092"/>
          </a:xfrm>
          <a:prstGeom prst="bentConnector3">
            <a:avLst>
              <a:gd name="adj1" fmla="val -243391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54988C4A-BF8C-D798-6EBF-595137B83207}"/>
              </a:ext>
            </a:extLst>
          </p:cNvPr>
          <p:cNvCxnSpPr>
            <a:cxnSpLocks/>
            <a:stCxn id="13" idx="1"/>
          </p:cNvCxnSpPr>
          <p:nvPr/>
        </p:nvCxnSpPr>
        <p:spPr>
          <a:xfrm rot="10800000" flipV="1">
            <a:off x="4459575" y="2366296"/>
            <a:ext cx="1886585" cy="2748092"/>
          </a:xfrm>
          <a:prstGeom prst="bentConnector2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Group 75">
            <a:extLst>
              <a:ext uri="{FF2B5EF4-FFF2-40B4-BE49-F238E27FC236}">
                <a16:creationId xmlns:a16="http://schemas.microsoft.com/office/drawing/2014/main" id="{31003B5B-2059-5F5F-1C0F-EC842AF4E2EE}"/>
              </a:ext>
            </a:extLst>
          </p:cNvPr>
          <p:cNvGrpSpPr/>
          <p:nvPr/>
        </p:nvGrpSpPr>
        <p:grpSpPr>
          <a:xfrm>
            <a:off x="1240956" y="1738116"/>
            <a:ext cx="1071795" cy="369332"/>
            <a:chOff x="411403" y="503894"/>
            <a:chExt cx="1071795" cy="369332"/>
          </a:xfrm>
        </p:grpSpPr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8C4EDDAB-2BDB-4477-9FFC-6C9943F4F5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0024" y="688560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9BAD59F-1E69-184A-299C-72ABF6057CE3}"/>
                </a:ext>
              </a:extLst>
            </p:cNvPr>
            <p:cNvSpPr txBox="1"/>
            <p:nvPr/>
          </p:nvSpPr>
          <p:spPr>
            <a:xfrm>
              <a:off x="411403" y="503894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05418A28-1ECA-B644-9067-7B919C7D1301}"/>
              </a:ext>
            </a:extLst>
          </p:cNvPr>
          <p:cNvGrpSpPr/>
          <p:nvPr/>
        </p:nvGrpSpPr>
        <p:grpSpPr>
          <a:xfrm>
            <a:off x="1240956" y="2124693"/>
            <a:ext cx="1071795" cy="369332"/>
            <a:chOff x="411403" y="1099557"/>
            <a:chExt cx="1071795" cy="369332"/>
          </a:xfrm>
        </p:grpSpPr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60748643-D5EB-27ED-7A61-656CA2830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0024" y="1284223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7EA0417-AF62-EF2B-EB3D-8BB900952729}"/>
                </a:ext>
              </a:extLst>
            </p:cNvPr>
            <p:cNvSpPr txBox="1"/>
            <p:nvPr/>
          </p:nvSpPr>
          <p:spPr>
            <a:xfrm>
              <a:off x="411403" y="1099557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A02C8292-2D60-C976-F119-59D1570A7D83}"/>
              </a:ext>
            </a:extLst>
          </p:cNvPr>
          <p:cNvGrpSpPr/>
          <p:nvPr/>
        </p:nvGrpSpPr>
        <p:grpSpPr>
          <a:xfrm>
            <a:off x="1240956" y="3306850"/>
            <a:ext cx="1079784" cy="369332"/>
            <a:chOff x="403414" y="1695220"/>
            <a:chExt cx="1079784" cy="369332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3FB2991-D766-0401-FD9B-2D80B45D5534}"/>
                </a:ext>
              </a:extLst>
            </p:cNvPr>
            <p:cNvSpPr txBox="1"/>
            <p:nvPr/>
          </p:nvSpPr>
          <p:spPr>
            <a:xfrm>
              <a:off x="403414" y="1695220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A97D066A-5D57-6A7E-691B-E95B71791F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0024" y="187988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C0C04FF-44A7-9AA7-638F-1D6648115A16}"/>
              </a:ext>
            </a:extLst>
          </p:cNvPr>
          <p:cNvGrpSpPr/>
          <p:nvPr/>
        </p:nvGrpSpPr>
        <p:grpSpPr>
          <a:xfrm>
            <a:off x="1240956" y="4038640"/>
            <a:ext cx="1084087" cy="369332"/>
            <a:chOff x="399111" y="2290883"/>
            <a:chExt cx="1084087" cy="369332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A645B4D-6FB8-4143-6BFD-215D12267C9D}"/>
                </a:ext>
              </a:extLst>
            </p:cNvPr>
            <p:cNvSpPr txBox="1"/>
            <p:nvPr/>
          </p:nvSpPr>
          <p:spPr>
            <a:xfrm>
              <a:off x="399111" y="229088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37759134-7DB1-2522-C060-2F0A813727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0024" y="246424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95957A7C-9CF3-80C2-A896-3F14E7D3542E}"/>
              </a:ext>
            </a:extLst>
          </p:cNvPr>
          <p:cNvGrpSpPr/>
          <p:nvPr/>
        </p:nvGrpSpPr>
        <p:grpSpPr>
          <a:xfrm>
            <a:off x="1240956" y="4215201"/>
            <a:ext cx="1079784" cy="369332"/>
            <a:chOff x="403414" y="2886546"/>
            <a:chExt cx="1079784" cy="369332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F1CF48B-26DC-807E-3311-368262181D37}"/>
                </a:ext>
              </a:extLst>
            </p:cNvPr>
            <p:cNvSpPr txBox="1"/>
            <p:nvPr/>
          </p:nvSpPr>
          <p:spPr>
            <a:xfrm>
              <a:off x="403414" y="2886546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4F6AC854-742A-2DEE-A9DB-C21FC0BA54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0024" y="3068444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40A296F-46E8-14CF-B21B-6E5714946E80}"/>
              </a:ext>
            </a:extLst>
          </p:cNvPr>
          <p:cNvGrpSpPr/>
          <p:nvPr/>
        </p:nvGrpSpPr>
        <p:grpSpPr>
          <a:xfrm>
            <a:off x="1240956" y="4787385"/>
            <a:ext cx="1071795" cy="369332"/>
            <a:chOff x="411403" y="4077872"/>
            <a:chExt cx="1071795" cy="369332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3B8D1AB-D742-52AD-4B04-3C09CE7E5C12}"/>
                </a:ext>
              </a:extLst>
            </p:cNvPr>
            <p:cNvSpPr txBox="1"/>
            <p:nvPr/>
          </p:nvSpPr>
          <p:spPr>
            <a:xfrm>
              <a:off x="411403" y="40778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E9D8C0BD-C27F-55FF-DF64-BD0964B553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0024" y="426662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BC308326-8C99-3C09-3C3E-92C0C30D0DB7}"/>
              </a:ext>
            </a:extLst>
          </p:cNvPr>
          <p:cNvGrpSpPr/>
          <p:nvPr/>
        </p:nvGrpSpPr>
        <p:grpSpPr>
          <a:xfrm>
            <a:off x="1403749" y="5546345"/>
            <a:ext cx="1071795" cy="369332"/>
            <a:chOff x="411403" y="4673535"/>
            <a:chExt cx="1071795" cy="369332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D50E718-05AC-F082-A594-8AD2A383BC43}"/>
                </a:ext>
              </a:extLst>
            </p:cNvPr>
            <p:cNvSpPr txBox="1"/>
            <p:nvPr/>
          </p:nvSpPr>
          <p:spPr>
            <a:xfrm>
              <a:off x="411403" y="467353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773A91F4-D5B1-FE74-B0CD-8612131363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0024" y="4862290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15A9B776-EB77-E31C-D9B9-1832D666AA62}"/>
              </a:ext>
            </a:extLst>
          </p:cNvPr>
          <p:cNvGrpSpPr/>
          <p:nvPr/>
        </p:nvGrpSpPr>
        <p:grpSpPr>
          <a:xfrm>
            <a:off x="1403749" y="5737822"/>
            <a:ext cx="1071795" cy="369332"/>
            <a:chOff x="411403" y="5269198"/>
            <a:chExt cx="1071795" cy="369332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405E8275-DE93-0E55-3530-5A59D28A40C5}"/>
                </a:ext>
              </a:extLst>
            </p:cNvPr>
            <p:cNvSpPr txBox="1"/>
            <p:nvPr/>
          </p:nvSpPr>
          <p:spPr>
            <a:xfrm>
              <a:off x="411403" y="5269198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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A2D9F47D-85F3-200A-2804-179FD788EB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0024" y="5457953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97C1191F-20E5-0126-C74D-5C0DE7653586}"/>
              </a:ext>
            </a:extLst>
          </p:cNvPr>
          <p:cNvGrpSpPr/>
          <p:nvPr/>
        </p:nvGrpSpPr>
        <p:grpSpPr>
          <a:xfrm>
            <a:off x="1240956" y="4407362"/>
            <a:ext cx="1071795" cy="369332"/>
            <a:chOff x="411403" y="3482209"/>
            <a:chExt cx="1071795" cy="369332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DC0A763-C133-48AC-8187-333F823D9F1D}"/>
                </a:ext>
              </a:extLst>
            </p:cNvPr>
            <p:cNvSpPr txBox="1"/>
            <p:nvPr/>
          </p:nvSpPr>
          <p:spPr>
            <a:xfrm>
              <a:off x="411403" y="348220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D5698554-58FE-AFD8-FDB8-A82A58A255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0024" y="3670964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5F018ABB-0154-207E-4BF9-7F6DAE497A8A}"/>
              </a:ext>
            </a:extLst>
          </p:cNvPr>
          <p:cNvGrpSpPr/>
          <p:nvPr/>
        </p:nvGrpSpPr>
        <p:grpSpPr>
          <a:xfrm>
            <a:off x="1240956" y="6139710"/>
            <a:ext cx="1071795" cy="369332"/>
            <a:chOff x="411403" y="5864858"/>
            <a:chExt cx="1071795" cy="369332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E04B9887-5FFB-3F27-F3CB-451A6B296E18}"/>
                </a:ext>
              </a:extLst>
            </p:cNvPr>
            <p:cNvSpPr txBox="1"/>
            <p:nvPr/>
          </p:nvSpPr>
          <p:spPr>
            <a:xfrm>
              <a:off x="411403" y="5864858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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EC8E9AA0-3890-935E-BF94-8356ACCD40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0024" y="6053613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273A5353-4702-4516-7C51-6D0D4C69BCEF}"/>
              </a:ext>
            </a:extLst>
          </p:cNvPr>
          <p:cNvSpPr/>
          <p:nvPr/>
        </p:nvSpPr>
        <p:spPr>
          <a:xfrm>
            <a:off x="3802856" y="5659573"/>
            <a:ext cx="269082" cy="1428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8685F21E-3187-D1CA-F921-C6418E7EE6D8}"/>
              </a:ext>
            </a:extLst>
          </p:cNvPr>
          <p:cNvCxnSpPr>
            <a:cxnSpLocks/>
            <a:stCxn id="3" idx="0"/>
            <a:endCxn id="8" idx="3"/>
          </p:cNvCxnSpPr>
          <p:nvPr/>
        </p:nvCxnSpPr>
        <p:spPr>
          <a:xfrm rot="5400000" flipH="1" flipV="1">
            <a:off x="3830990" y="1725658"/>
            <a:ext cx="4040322" cy="3827508"/>
          </a:xfrm>
          <a:prstGeom prst="bentConnector4">
            <a:avLst>
              <a:gd name="adj1" fmla="val 5522"/>
              <a:gd name="adj2" fmla="val 121443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680EFA68-F21A-8637-AD49-EB83E5A32B5E}"/>
              </a:ext>
            </a:extLst>
          </p:cNvPr>
          <p:cNvSpPr/>
          <p:nvPr/>
        </p:nvSpPr>
        <p:spPr>
          <a:xfrm>
            <a:off x="2874977" y="1802727"/>
            <a:ext cx="440728" cy="2198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D6C97D-8E40-1A13-71AB-519ACCFA65FF}"/>
              </a:ext>
            </a:extLst>
          </p:cNvPr>
          <p:cNvSpPr/>
          <p:nvPr/>
        </p:nvSpPr>
        <p:spPr>
          <a:xfrm>
            <a:off x="4272519" y="6139710"/>
            <a:ext cx="1131435" cy="321902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45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AF459D25-BC57-F1BF-CDC2-7A087C042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000" y="1690689"/>
            <a:ext cx="6200000" cy="428571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driven_rlc.py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8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92B7744-E6CF-BA5F-AABA-B14F27DFF706}"/>
              </a:ext>
            </a:extLst>
          </p:cNvPr>
          <p:cNvGrpSpPr/>
          <p:nvPr/>
        </p:nvGrpSpPr>
        <p:grpSpPr>
          <a:xfrm>
            <a:off x="6795111" y="1854561"/>
            <a:ext cx="1076632" cy="369332"/>
            <a:chOff x="4968362" y="2079211"/>
            <a:chExt cx="1076632" cy="369332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40388708-E97D-ACBC-8A65-0F96205521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5DF2D2E-685F-40E5-DD78-C71C8A6E1154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BD7F184-E6FE-D9BA-908B-97ED10F67D23}"/>
              </a:ext>
            </a:extLst>
          </p:cNvPr>
          <p:cNvGrpSpPr/>
          <p:nvPr/>
        </p:nvGrpSpPr>
        <p:grpSpPr>
          <a:xfrm>
            <a:off x="6984199" y="2039864"/>
            <a:ext cx="1076632" cy="369332"/>
            <a:chOff x="4704120" y="2356972"/>
            <a:chExt cx="1076632" cy="369332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66E55C8-912F-CC00-88C2-16B1734ABE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2BE1CDE-ED0E-F4C2-2D46-804DBB80007D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B21C2AD-4F2B-7924-55B4-2785B9B77936}"/>
              </a:ext>
            </a:extLst>
          </p:cNvPr>
          <p:cNvGrpSpPr/>
          <p:nvPr/>
        </p:nvGrpSpPr>
        <p:grpSpPr>
          <a:xfrm>
            <a:off x="5965827" y="2432155"/>
            <a:ext cx="1068643" cy="369332"/>
            <a:chOff x="3647644" y="4910075"/>
            <a:chExt cx="1068643" cy="36933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8918A4A-3FAE-F97C-7EE0-3381A7105C40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DDD8DB9-FFAE-76F6-D916-5071AC0D3F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73E7E20-7C0F-6775-A974-939D2D933BA6}"/>
              </a:ext>
            </a:extLst>
          </p:cNvPr>
          <p:cNvGrpSpPr/>
          <p:nvPr/>
        </p:nvGrpSpPr>
        <p:grpSpPr>
          <a:xfrm>
            <a:off x="3977053" y="2816477"/>
            <a:ext cx="1064340" cy="369332"/>
            <a:chOff x="3647644" y="5421073"/>
            <a:chExt cx="1064340" cy="36933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6D8C8FC-DB1C-9F4D-421E-E6E7ACF87B82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E45FBEE-BD9E-01C9-1D4D-5C2EDD5887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799AFD5-4F6B-10F0-8AFB-290C5F62735F}"/>
              </a:ext>
            </a:extLst>
          </p:cNvPr>
          <p:cNvGrpSpPr/>
          <p:nvPr/>
        </p:nvGrpSpPr>
        <p:grpSpPr>
          <a:xfrm>
            <a:off x="5216894" y="3376535"/>
            <a:ext cx="1068643" cy="369332"/>
            <a:chOff x="3647644" y="5359159"/>
            <a:chExt cx="1068643" cy="36933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F802082-E943-01BD-91D5-8DD5CB285295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9004F37A-EAF8-CA5D-54CA-B04A44AB1A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AAAFAE5-32CC-3987-F58D-EE2CFD8AF7C3}"/>
              </a:ext>
            </a:extLst>
          </p:cNvPr>
          <p:cNvGrpSpPr/>
          <p:nvPr/>
        </p:nvGrpSpPr>
        <p:grpSpPr>
          <a:xfrm>
            <a:off x="7641253" y="4892371"/>
            <a:ext cx="1076632" cy="369332"/>
            <a:chOff x="2157212" y="5356391"/>
            <a:chExt cx="1076632" cy="36933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0E1543B-86F0-D5CB-F3DD-D8B3794A487F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AA4CC0A9-4AB5-FEB0-4B90-CC3D10348A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45C97DE-D130-B41D-90C9-D3DF8945E809}"/>
              </a:ext>
            </a:extLst>
          </p:cNvPr>
          <p:cNvGrpSpPr/>
          <p:nvPr/>
        </p:nvGrpSpPr>
        <p:grpSpPr>
          <a:xfrm>
            <a:off x="6089408" y="5274316"/>
            <a:ext cx="1076632" cy="369332"/>
            <a:chOff x="2157212" y="5356391"/>
            <a:chExt cx="1076632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2A4694F-ADB3-4364-BB8B-FA49E21DB2A2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12B182B2-9736-9B91-E63F-C75B32138C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CFDFE47-92A8-2332-C5BC-D1200D60E2A3}"/>
              </a:ext>
            </a:extLst>
          </p:cNvPr>
          <p:cNvGrpSpPr/>
          <p:nvPr/>
        </p:nvGrpSpPr>
        <p:grpSpPr>
          <a:xfrm>
            <a:off x="4631876" y="5458833"/>
            <a:ext cx="1076632" cy="369332"/>
            <a:chOff x="2157212" y="5356391"/>
            <a:chExt cx="1076632" cy="369332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71F27BA-6705-B95E-CA07-44D2F1C52AA5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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098C1537-21B5-EDBD-A4A3-9020BCA41F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512DD9D-0233-1C28-6E13-41E9B430F254}"/>
              </a:ext>
            </a:extLst>
          </p:cNvPr>
          <p:cNvGrpSpPr/>
          <p:nvPr/>
        </p:nvGrpSpPr>
        <p:grpSpPr>
          <a:xfrm>
            <a:off x="6231421" y="4703515"/>
            <a:ext cx="1076632" cy="369332"/>
            <a:chOff x="2157212" y="5356391"/>
            <a:chExt cx="1076632" cy="36933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8C773D8-3278-83F1-F5BB-86B3BF002418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D6EA1BA4-FA25-8676-7076-49C9A6A6B0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8AC4CE9-C697-7A5B-669D-30B26533D74D}"/>
                  </a:ext>
                </a:extLst>
              </p:cNvPr>
              <p:cNvSpPr txBox="1"/>
              <p:nvPr/>
            </p:nvSpPr>
            <p:spPr>
              <a:xfrm>
                <a:off x="7043123" y="2403940"/>
                <a:ext cx="1353063" cy="43088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7030A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sz="1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en-US" sz="1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sz="1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sz="1400" b="0" dirty="0">
                  <a:solidFill>
                    <a:srgbClr val="7030A0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𝐻𝑧</m:t>
                      </m:r>
                      <m:r>
                        <a:rPr lang="en-US" sz="1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=1000 </m:t>
                      </m:r>
                      <m:r>
                        <a:rPr lang="en-US" sz="1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𝑘𝐻𝑧</m:t>
                      </m:r>
                    </m:oMath>
                  </m:oMathPara>
                </a14:m>
                <a:endParaRPr lang="en-US" sz="1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8AC4CE9-C697-7A5B-669D-30B26533D7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3123" y="2403940"/>
                <a:ext cx="1353063" cy="430887"/>
              </a:xfrm>
              <a:prstGeom prst="rect">
                <a:avLst/>
              </a:prstGeom>
              <a:blipFill>
                <a:blip r:embed="rId3"/>
                <a:stretch>
                  <a:fillRect l="-2232" r="-2232" b="-1370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74348C54-9829-56D6-0EA1-4BCBD5EFC4F7}"/>
              </a:ext>
            </a:extLst>
          </p:cNvPr>
          <p:cNvSpPr/>
          <p:nvPr/>
        </p:nvSpPr>
        <p:spPr>
          <a:xfrm>
            <a:off x="3889375" y="2124076"/>
            <a:ext cx="660400" cy="2158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075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E13AA26A-4AB9-9FC7-C312-67C703050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73" y="1420895"/>
            <a:ext cx="6515854" cy="53005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driven_rlc.py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127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E13AA26A-4AB9-9FC7-C312-67C703050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73" y="1420895"/>
            <a:ext cx="6515854" cy="53005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driven_rlc.py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E5571072-236C-29E1-BAA9-AC3322BA66FC}"/>
              </a:ext>
            </a:extLst>
          </p:cNvPr>
          <p:cNvSpPr/>
          <p:nvPr/>
        </p:nvSpPr>
        <p:spPr>
          <a:xfrm>
            <a:off x="4475781" y="2574261"/>
            <a:ext cx="3016332" cy="1438287"/>
          </a:xfrm>
          <a:prstGeom prst="wedgeRoundRectCallout">
            <a:avLst>
              <a:gd name="adj1" fmla="val -69229"/>
              <a:gd name="adj2" fmla="val -10084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At </a:t>
            </a:r>
            <a:r>
              <a:rPr lang="en-US" sz="1600" b="1" dirty="0">
                <a:solidFill>
                  <a:srgbClr val="FFFF00"/>
                </a:solidFill>
              </a:rPr>
              <a:t>resonance</a:t>
            </a:r>
            <a:r>
              <a:rPr lang="en-US" sz="1600" dirty="0"/>
              <a:t>, the LC elements have nearly zero </a:t>
            </a:r>
            <a:r>
              <a:rPr lang="en-US" sz="1600" b="1" dirty="0">
                <a:solidFill>
                  <a:schemeClr val="tx1"/>
                </a:solidFill>
              </a:rPr>
              <a:t>resistance</a:t>
            </a:r>
            <a:r>
              <a:rPr lang="en-US" sz="1600" dirty="0"/>
              <a:t>, so the </a:t>
            </a:r>
            <a:r>
              <a:rPr lang="en-US" sz="1600" b="1" dirty="0">
                <a:solidFill>
                  <a:srgbClr val="FF0000"/>
                </a:solidFill>
              </a:rPr>
              <a:t>current</a:t>
            </a:r>
            <a:r>
              <a:rPr lang="en-US" sz="1600" dirty="0"/>
              <a:t> (and hence </a:t>
            </a:r>
            <a:r>
              <a:rPr lang="en-US" sz="1600" b="1" dirty="0"/>
              <a:t>voltage</a:t>
            </a:r>
            <a:r>
              <a:rPr lang="en-US" sz="1600" dirty="0"/>
              <a:t>) flowing through R1 (and R2) would be at the </a:t>
            </a:r>
            <a:r>
              <a:rPr lang="en-US" sz="1600" b="1" u="sng" dirty="0"/>
              <a:t>maximum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5C9FCE0-DBFD-3715-9385-4C3982819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499650"/>
            <a:ext cx="2653259" cy="135898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B76A01F-CED0-9097-E8AC-6C0C6A0EAD00}"/>
              </a:ext>
            </a:extLst>
          </p:cNvPr>
          <p:cNvSpPr/>
          <p:nvPr/>
        </p:nvSpPr>
        <p:spPr>
          <a:xfrm>
            <a:off x="4698542" y="5184798"/>
            <a:ext cx="2444272" cy="3651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490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4B135C6C-21AB-1726-3F85-04D80B1B3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0805" y="1223562"/>
            <a:ext cx="2126421" cy="2604491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7030A0"/>
                </a:solidFill>
                <a:latin typeface="+mn-lt"/>
              </a:rPr>
              <a:t>Check</a:t>
            </a:r>
            <a:r>
              <a:rPr lang="en-US" sz="3200" dirty="0">
                <a:latin typeface="+mn-lt"/>
              </a:rPr>
              <a:t> driven_rlc.py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8BDCC0D-EF00-9CA5-57C2-52651A55A289}"/>
                  </a:ext>
                </a:extLst>
              </p:cNvPr>
              <p:cNvSpPr txBox="1"/>
              <p:nvPr/>
            </p:nvSpPr>
            <p:spPr>
              <a:xfrm>
                <a:off x="845972" y="1953535"/>
                <a:ext cx="949042" cy="5722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𝐿𝐶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8BDCC0D-EF00-9CA5-57C2-52651A55A2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972" y="1953535"/>
                <a:ext cx="949042" cy="5722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482B428-4666-327D-2C03-F8672E135D94}"/>
                  </a:ext>
                </a:extLst>
              </p:cNvPr>
              <p:cNvSpPr txBox="1"/>
              <p:nvPr/>
            </p:nvSpPr>
            <p:spPr>
              <a:xfrm>
                <a:off x="893092" y="2980602"/>
                <a:ext cx="757067" cy="4744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482B428-4666-327D-2C03-F8672E135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092" y="2980602"/>
                <a:ext cx="757067" cy="4744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86BA52E-083D-1F13-E58E-C5290695B53F}"/>
                  </a:ext>
                </a:extLst>
              </p:cNvPr>
              <p:cNvSpPr txBox="1"/>
              <p:nvPr/>
            </p:nvSpPr>
            <p:spPr>
              <a:xfrm>
                <a:off x="883447" y="3909820"/>
                <a:ext cx="1180067" cy="5722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𝐿𝐶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86BA52E-083D-1F13-E58E-C5290695B5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447" y="3909820"/>
                <a:ext cx="1180067" cy="5722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E891455-666C-22D5-75E6-0AC126AA0C46}"/>
                  </a:ext>
                </a:extLst>
              </p:cNvPr>
              <p:cNvSpPr txBox="1"/>
              <p:nvPr/>
            </p:nvSpPr>
            <p:spPr>
              <a:xfrm>
                <a:off x="2340217" y="1953535"/>
                <a:ext cx="3935693" cy="6367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100.8×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−3</m:t>
                                      </m:r>
                                    </m:sup>
                                  </m:sSup>
                                </m:e>
                              </m:d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91.2×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−9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E891455-666C-22D5-75E6-0AC126AA0C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0217" y="1953535"/>
                <a:ext cx="3935693" cy="63671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05465A5-8D0F-673F-3039-13BEE40C1636}"/>
                  </a:ext>
                </a:extLst>
              </p:cNvPr>
              <p:cNvSpPr txBox="1"/>
              <p:nvPr/>
            </p:nvSpPr>
            <p:spPr>
              <a:xfrm>
                <a:off x="2316961" y="3035158"/>
                <a:ext cx="4034181" cy="5259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16599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𝐻𝑧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𝑘𝐻𝑧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1000 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𝐻𝑧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=1.6599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𝑘𝐻𝑧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05465A5-8D0F-673F-3039-13BEE40C1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6961" y="3035158"/>
                <a:ext cx="4034181" cy="52597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1B7E963A-EA3B-907B-06B1-B30152365D3C}"/>
              </a:ext>
            </a:extLst>
          </p:cNvPr>
          <p:cNvSpPr/>
          <p:nvPr/>
        </p:nvSpPr>
        <p:spPr>
          <a:xfrm>
            <a:off x="5176166" y="3179613"/>
            <a:ext cx="1169563" cy="305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6A61B0D6-D050-80BE-1833-91BC1B61C6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4499650"/>
            <a:ext cx="2653259" cy="13589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F92CDFE4-4306-1EAC-D1A8-856034B4A399}"/>
              </a:ext>
            </a:extLst>
          </p:cNvPr>
          <p:cNvSpPr/>
          <p:nvPr/>
        </p:nvSpPr>
        <p:spPr>
          <a:xfrm>
            <a:off x="4698542" y="5184798"/>
            <a:ext cx="2444272" cy="3651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F57357-5CE7-D1B2-0C4C-4A8370A905DA}"/>
              </a:ext>
            </a:extLst>
          </p:cNvPr>
          <p:cNvSpPr/>
          <p:nvPr/>
        </p:nvSpPr>
        <p:spPr>
          <a:xfrm>
            <a:off x="6198434" y="5388964"/>
            <a:ext cx="840542" cy="1214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454B2827-79FB-6087-994F-C6C24AF25120}"/>
              </a:ext>
            </a:extLst>
          </p:cNvPr>
          <p:cNvCxnSpPr>
            <a:cxnSpLocks/>
            <a:stCxn id="15" idx="2"/>
            <a:endCxn id="16" idx="3"/>
          </p:cNvCxnSpPr>
          <p:nvPr/>
        </p:nvCxnSpPr>
        <p:spPr>
          <a:xfrm rot="16200000" flipH="1">
            <a:off x="5417617" y="3828337"/>
            <a:ext cx="1964690" cy="1278028"/>
          </a:xfrm>
          <a:prstGeom prst="bentConnector4">
            <a:avLst>
              <a:gd name="adj1" fmla="val 34339"/>
              <a:gd name="adj2" fmla="val 145463"/>
            </a:avLst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E40FEBB7-905F-E52D-F95F-25DD065E641A}"/>
              </a:ext>
            </a:extLst>
          </p:cNvPr>
          <p:cNvSpPr txBox="1"/>
          <p:nvPr/>
        </p:nvSpPr>
        <p:spPr>
          <a:xfrm>
            <a:off x="7772566" y="5218863"/>
            <a:ext cx="396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n>
                  <a:solidFill>
                    <a:srgbClr val="FFC000"/>
                  </a:solidFill>
                </a:ln>
                <a:solidFill>
                  <a:srgbClr val="FFC000"/>
                </a:solidFill>
                <a:sym typeface="Wingdings" panose="05000000000000000000" pitchFamily="2" charset="2"/>
              </a:rPr>
              <a:t></a:t>
            </a:r>
            <a:endParaRPr lang="en-US" sz="2400" dirty="0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5100E2-C8C7-2E97-5506-2136B9888523}"/>
              </a:ext>
            </a:extLst>
          </p:cNvPr>
          <p:cNvSpPr txBox="1"/>
          <p:nvPr/>
        </p:nvSpPr>
        <p:spPr>
          <a:xfrm>
            <a:off x="1183612" y="5179143"/>
            <a:ext cx="2905729" cy="120032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n>
                  <a:solidFill>
                    <a:srgbClr val="FFC000"/>
                  </a:solidFill>
                </a:ln>
                <a:solidFill>
                  <a:srgbClr val="FFC000"/>
                </a:solidFill>
              </a:rPr>
              <a:t>Euler's Method is only 1</a:t>
            </a:r>
            <a:r>
              <a:rPr lang="en-US" baseline="30000" dirty="0">
                <a:ln>
                  <a:solidFill>
                    <a:srgbClr val="FFC000"/>
                  </a:solidFill>
                </a:ln>
                <a:solidFill>
                  <a:srgbClr val="FFC000"/>
                </a:solidFill>
              </a:rPr>
              <a:t>st</a:t>
            </a:r>
            <a:r>
              <a:rPr lang="en-US" dirty="0">
                <a:ln>
                  <a:solidFill>
                    <a:srgbClr val="FFC000"/>
                  </a:solidFill>
                </a:ln>
                <a:solidFill>
                  <a:srgbClr val="FFC000"/>
                </a:solidFill>
              </a:rPr>
              <a:t> order accurate and susceptible to stability issues with oscillating signals</a:t>
            </a:r>
          </a:p>
        </p:txBody>
      </p:sp>
    </p:spTree>
    <p:extLst>
      <p:ext uri="{BB962C8B-B14F-4D97-AF65-F5344CB8AC3E}">
        <p14:creationId xmlns:p14="http://schemas.microsoft.com/office/powerpoint/2010/main" val="87978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9802</TotalTime>
  <Words>495</Words>
  <Application>Microsoft Office PowerPoint</Application>
  <PresentationFormat>On-screen Show (4:3)</PresentationFormat>
  <Paragraphs>107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Office Theme</vt:lpstr>
      <vt:lpstr>Session 05 – Task 04</vt:lpstr>
      <vt:lpstr>Driven Oscillators - Resonance</vt:lpstr>
      <vt:lpstr>Finding a Circuit's Resonant Frequency</vt:lpstr>
      <vt:lpstr>Finding a Circuit's Resonant Frequency</vt:lpstr>
      <vt:lpstr>Simulating a Driven RLC Circuit</vt:lpstr>
      <vt:lpstr>Root Mean Squared (RMS) vs. Mean</vt:lpstr>
      <vt:lpstr>Open driven_rlc.py</vt:lpstr>
      <vt:lpstr>View driven_rlc.py</vt:lpstr>
      <vt:lpstr>Run driven_rlc.py</vt:lpstr>
      <vt:lpstr>Run driven_rlc.py</vt:lpstr>
      <vt:lpstr>Check driven_rlc.py</vt:lpstr>
    </vt:vector>
  </TitlesOfParts>
  <Company>Personal Use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MSN Biersach</dc:creator>
  <cp:lastModifiedBy>David MSN Biersach</cp:lastModifiedBy>
  <cp:revision>1039</cp:revision>
  <cp:lastPrinted>2015-06-01T00:45:11Z</cp:lastPrinted>
  <dcterms:created xsi:type="dcterms:W3CDTF">2014-09-21T17:58:26Z</dcterms:created>
  <dcterms:modified xsi:type="dcterms:W3CDTF">2023-01-12T05:09:57Z</dcterms:modified>
</cp:coreProperties>
</file>