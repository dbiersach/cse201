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1009" r:id="rId2"/>
    <p:sldId id="1283" r:id="rId3"/>
    <p:sldId id="1300" r:id="rId4"/>
    <p:sldId id="979" r:id="rId5"/>
    <p:sldId id="1219" r:id="rId6"/>
    <p:sldId id="1224" r:id="rId7"/>
    <p:sldId id="991" r:id="rId8"/>
    <p:sldId id="1287" r:id="rId9"/>
    <p:sldId id="946" r:id="rId10"/>
    <p:sldId id="1055" r:id="rId11"/>
    <p:sldId id="1299" r:id="rId12"/>
    <p:sldId id="1231" r:id="rId13"/>
    <p:sldId id="973" r:id="rId14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2C1E"/>
    <a:srgbClr val="277A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1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156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94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77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12/18/2023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tplotlib.org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D8D1F-051C-48C7-91AB-482302FE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33B3E1-0D87-D6A9-78FC-3EA6D47CB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00" y="698474"/>
            <a:ext cx="5298279" cy="353788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4B64E8C-7BF5-78F5-2ED4-4DC9E406511F}"/>
              </a:ext>
            </a:extLst>
          </p:cNvPr>
          <p:cNvGrpSpPr/>
          <p:nvPr/>
        </p:nvGrpSpPr>
        <p:grpSpPr>
          <a:xfrm>
            <a:off x="5725008" y="926279"/>
            <a:ext cx="3172691" cy="4200717"/>
            <a:chOff x="5697345" y="814191"/>
            <a:chExt cx="3172691" cy="420071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E72BF4-1C3A-D1AC-9CA3-5FE2E816B79E}"/>
                </a:ext>
              </a:extLst>
            </p:cNvPr>
            <p:cNvSpPr txBox="1"/>
            <p:nvPr/>
          </p:nvSpPr>
          <p:spPr>
            <a:xfrm>
              <a:off x="6023301" y="2308225"/>
              <a:ext cx="2520778" cy="12003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Student #1</a:t>
              </a:r>
            </a:p>
            <a:p>
              <a:pPr algn="ctr"/>
              <a:r>
                <a:rPr lang="en-US" dirty="0"/>
                <a:t>Student #2</a:t>
              </a:r>
            </a:p>
            <a:p>
              <a:pPr algn="ctr"/>
              <a:r>
                <a:rPr lang="en-US" dirty="0"/>
                <a:t>Student #3</a:t>
              </a:r>
            </a:p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7C7F66-FBD2-4BF6-62E5-8A37BCFAF7E0}"/>
                </a:ext>
              </a:extLst>
            </p:cNvPr>
            <p:cNvSpPr txBox="1"/>
            <p:nvPr/>
          </p:nvSpPr>
          <p:spPr>
            <a:xfrm>
              <a:off x="5697345" y="814191"/>
              <a:ext cx="3172691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Control Systems</a:t>
              </a:r>
            </a:p>
            <a:p>
              <a:pPr algn="ctr"/>
              <a:r>
                <a:rPr lang="en-US" sz="2000" b="1" dirty="0"/>
                <a:t>Engineering</a:t>
              </a:r>
            </a:p>
            <a:p>
              <a:pPr algn="ctr"/>
              <a:r>
                <a:rPr lang="en-US" sz="2000" dirty="0"/>
                <a:t>(CSE 201)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DD062F-CCDE-C11A-48EF-C4C1D3DD1BFD}"/>
                </a:ext>
              </a:extLst>
            </p:cNvPr>
            <p:cNvSpPr txBox="1"/>
            <p:nvPr/>
          </p:nvSpPr>
          <p:spPr>
            <a:xfrm>
              <a:off x="5961841" y="4091578"/>
              <a:ext cx="2643698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Team 01</a:t>
              </a:r>
            </a:p>
            <a:p>
              <a:pPr algn="ctr"/>
              <a:r>
                <a:rPr lang="en-US" dirty="0"/>
                <a:t>Numpy and Matplotlib</a:t>
              </a:r>
            </a:p>
            <a:p>
              <a:pPr algn="ctr"/>
              <a:r>
                <a:rPr lang="en-US" dirty="0"/>
                <a:t>Vectorized Operations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F027732-83E6-04A2-5845-6ACA361CC4C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6028" y="5701304"/>
            <a:ext cx="2330650" cy="5688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03CD4A6-FFBC-151B-CD40-F585ACB1099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301" y="4390130"/>
            <a:ext cx="3281713" cy="17219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24EAD51-C7F2-8CD6-13FA-37E97B1526D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8260" y="5126996"/>
            <a:ext cx="2786319" cy="12461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99614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Challenge: </a:t>
            </a:r>
            <a:r>
              <a:rPr lang="en-US" sz="3200" b="1" dirty="0">
                <a:latin typeface="+mn-lt"/>
              </a:rPr>
              <a:t>Model an RC Circuit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dirty="0"/>
                  <a:t>We were challenged to plot this equation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400" dirty="0"/>
                  <a:t> is a function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type m:val="skw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𝑅𝐶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This function models the theoretical voltage in a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charging</a:t>
                </a:r>
                <a:r>
                  <a:rPr lang="en-US" sz="2400" dirty="0"/>
                  <a:t> capacitor within an ideal </a:t>
                </a:r>
                <a:r>
                  <a:rPr lang="en-US" sz="2400" u="sng" dirty="0"/>
                  <a:t>series</a:t>
                </a:r>
                <a:r>
                  <a:rPr lang="en-US" sz="2400" dirty="0"/>
                  <a:t>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resistor-capacitor</a:t>
                </a:r>
                <a:r>
                  <a:rPr lang="en-US" sz="2400" dirty="0"/>
                  <a:t> circuit as a function of time</a:t>
                </a:r>
              </a:p>
              <a:p>
                <a:r>
                  <a:rPr lang="en-US" sz="2400" dirty="0"/>
                  <a:t>The constants are: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=3.3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=10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sz="2400" b="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 r="-2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867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B359EF-B279-5540-A0DF-75FC014C1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67" y="910162"/>
            <a:ext cx="8411465" cy="522614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86555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B201B5-DBB7-9E95-6A8D-701F0A422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476" y="656599"/>
            <a:ext cx="5781047" cy="569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007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 err="1">
                <a:latin typeface="+mn-lt"/>
              </a:rPr>
              <a:t>PyPI</a:t>
            </a:r>
            <a:r>
              <a:rPr lang="en-US" sz="3200" dirty="0">
                <a:latin typeface="+mn-lt"/>
              </a:rPr>
              <a:t> - The Python Package Index</a:t>
            </a:r>
            <a:endParaRPr lang="en-US" sz="3200" b="1" dirty="0"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19FDAD-556C-3882-1588-F876A654DAD3}"/>
              </a:ext>
            </a:extLst>
          </p:cNvPr>
          <p:cNvSpPr/>
          <p:nvPr/>
        </p:nvSpPr>
        <p:spPr>
          <a:xfrm>
            <a:off x="6243403" y="2078674"/>
            <a:ext cx="1064302" cy="2672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52BCC5-C94B-A4F5-3B24-FA62E54A9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564" y="1978929"/>
            <a:ext cx="7052872" cy="43774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43419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Installing Python </a:t>
            </a:r>
            <a:r>
              <a:rPr lang="en-US" sz="3200" b="1" dirty="0">
                <a:latin typeface="+mn-lt"/>
              </a:rPr>
              <a:t>Packages</a:t>
            </a:r>
            <a:r>
              <a:rPr lang="en-US" sz="3200" dirty="0">
                <a:latin typeface="+mn-lt"/>
              </a:rPr>
              <a:t> into Thonny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F606CC-E4D7-4FBF-AC24-1FA049C0AE8B}"/>
              </a:ext>
            </a:extLst>
          </p:cNvPr>
          <p:cNvSpPr txBox="1"/>
          <p:nvPr/>
        </p:nvSpPr>
        <p:spPr>
          <a:xfrm>
            <a:off x="3016968" y="1378974"/>
            <a:ext cx="3110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https://numpy.org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9CCCAB-E5DD-CADA-5052-963C7D166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660" y="2119419"/>
            <a:ext cx="7558680" cy="429637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9429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3E1F1E-20BF-42B2-B9AE-F806AB3C9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852" y="1270444"/>
            <a:ext cx="5658294" cy="53662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115AEA-EDD1-432A-B3AC-64B348E9C427}"/>
              </a:ext>
            </a:extLst>
          </p:cNvPr>
          <p:cNvSpPr txBox="1"/>
          <p:nvPr/>
        </p:nvSpPr>
        <p:spPr>
          <a:xfrm>
            <a:off x="2993922" y="714058"/>
            <a:ext cx="3156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4"/>
              </a:rPr>
              <a:t>https://matplotlib.org</a:t>
            </a:r>
            <a:r>
              <a:rPr lang="en-US" dirty="0"/>
              <a:t>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06B530-5900-415F-8909-0D3FE4F41FDB}"/>
              </a:ext>
            </a:extLst>
          </p:cNvPr>
          <p:cNvSpPr/>
          <p:nvPr/>
        </p:nvSpPr>
        <p:spPr>
          <a:xfrm>
            <a:off x="1799303" y="3156156"/>
            <a:ext cx="4564626" cy="2507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795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Numpy </a:t>
            </a:r>
            <a:r>
              <a:rPr lang="en-US" sz="3200" b="1" dirty="0">
                <a:latin typeface="+mn-lt"/>
              </a:rPr>
              <a:t>Vectorized</a:t>
            </a:r>
            <a:r>
              <a:rPr lang="en-US" sz="3200" dirty="0">
                <a:latin typeface="+mn-lt"/>
              </a:rPr>
              <a:t> Operations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C756A6-0F5C-A849-A5B8-6A4442644E9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254"/>
          <a:stretch/>
        </p:blipFill>
        <p:spPr>
          <a:xfrm>
            <a:off x="1566472" y="2013970"/>
            <a:ext cx="6011056" cy="308810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9C086B24-8BBA-444C-EE12-F47263027E6D}"/>
              </a:ext>
            </a:extLst>
          </p:cNvPr>
          <p:cNvGrpSpPr/>
          <p:nvPr/>
        </p:nvGrpSpPr>
        <p:grpSpPr>
          <a:xfrm>
            <a:off x="617642" y="2593298"/>
            <a:ext cx="442210" cy="2233706"/>
            <a:chOff x="617642" y="2593298"/>
            <a:chExt cx="442210" cy="223370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70F5EC-F851-8C89-2CAA-B1D4711C3E6C}"/>
                </a:ext>
              </a:extLst>
            </p:cNvPr>
            <p:cNvSpPr txBox="1"/>
            <p:nvPr/>
          </p:nvSpPr>
          <p:spPr>
            <a:xfrm>
              <a:off x="617642" y="2593298"/>
              <a:ext cx="4422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3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FD9512B-0411-4FAF-6C42-4BD4DF58410F}"/>
                </a:ext>
              </a:extLst>
            </p:cNvPr>
            <p:cNvSpPr txBox="1"/>
            <p:nvPr/>
          </p:nvSpPr>
          <p:spPr>
            <a:xfrm>
              <a:off x="617642" y="3135738"/>
              <a:ext cx="4422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*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2756C5D-6C6B-A1A4-365C-759C3CC77A6B}"/>
                </a:ext>
              </a:extLst>
            </p:cNvPr>
            <p:cNvSpPr txBox="1"/>
            <p:nvPr/>
          </p:nvSpPr>
          <p:spPr>
            <a:xfrm>
              <a:off x="617642" y="3526038"/>
              <a:ext cx="4422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5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BE3644-368B-D9BA-520D-8C287DAD2317}"/>
                </a:ext>
              </a:extLst>
            </p:cNvPr>
            <p:cNvSpPr txBox="1"/>
            <p:nvPr/>
          </p:nvSpPr>
          <p:spPr>
            <a:xfrm>
              <a:off x="617642" y="4457672"/>
              <a:ext cx="4422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15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B5AED15-2F3D-8B4A-99DC-B72B10381028}"/>
              </a:ext>
            </a:extLst>
          </p:cNvPr>
          <p:cNvGrpSpPr/>
          <p:nvPr/>
        </p:nvGrpSpPr>
        <p:grpSpPr>
          <a:xfrm>
            <a:off x="6877674" y="2600793"/>
            <a:ext cx="1217952" cy="2226211"/>
            <a:chOff x="6877674" y="2600793"/>
            <a:chExt cx="1217952" cy="222621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BDAEA7F-F6A1-0339-BEEE-E2E9F26F2D35}"/>
                </a:ext>
              </a:extLst>
            </p:cNvPr>
            <p:cNvSpPr txBox="1"/>
            <p:nvPr/>
          </p:nvSpPr>
          <p:spPr>
            <a:xfrm>
              <a:off x="7168109" y="2600793"/>
              <a:ext cx="6370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a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6F8A3AF-7A73-F57B-FEE5-1DF0FC9A87DC}"/>
                </a:ext>
              </a:extLst>
            </p:cNvPr>
            <p:cNvSpPr txBox="1"/>
            <p:nvPr/>
          </p:nvSpPr>
          <p:spPr>
            <a:xfrm>
              <a:off x="7168109" y="3526038"/>
              <a:ext cx="6370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b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BD0B33-D64A-4174-686C-1BA4164A6A1F}"/>
                </a:ext>
              </a:extLst>
            </p:cNvPr>
            <p:cNvSpPr txBox="1"/>
            <p:nvPr/>
          </p:nvSpPr>
          <p:spPr>
            <a:xfrm>
              <a:off x="6877674" y="4457672"/>
              <a:ext cx="12179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a[n]*b[n]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2DF9408-A5F1-187B-E025-FD615A9BE6D4}"/>
                </a:ext>
              </a:extLst>
            </p:cNvPr>
            <p:cNvSpPr txBox="1"/>
            <p:nvPr/>
          </p:nvSpPr>
          <p:spPr>
            <a:xfrm>
              <a:off x="7249150" y="3135738"/>
              <a:ext cx="4422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*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010C2E5-CA54-AA87-5FEF-A2FF2CE04587}"/>
              </a:ext>
            </a:extLst>
          </p:cNvPr>
          <p:cNvSpPr txBox="1"/>
          <p:nvPr/>
        </p:nvSpPr>
        <p:spPr>
          <a:xfrm>
            <a:off x="4629502" y="5317406"/>
            <a:ext cx="36622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vectorized </a:t>
            </a:r>
            <a:r>
              <a:rPr lang="en-US" b="1" dirty="0"/>
              <a:t>array</a:t>
            </a:r>
            <a:r>
              <a:rPr lang="en-US" dirty="0"/>
              <a:t> operation applies a function to elements in </a:t>
            </a:r>
            <a:r>
              <a:rPr lang="en-US" i="1" dirty="0"/>
              <a:t>both</a:t>
            </a:r>
            <a:r>
              <a:rPr lang="en-US" dirty="0"/>
              <a:t> arrays that have the same </a:t>
            </a:r>
            <a:r>
              <a:rPr lang="en-US" u="sng" dirty="0"/>
              <a:t>index</a:t>
            </a:r>
            <a:r>
              <a:rPr lang="en-US" dirty="0"/>
              <a:t> value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299D66-D397-E7E3-B931-309DD56FF53B}"/>
              </a:ext>
            </a:extLst>
          </p:cNvPr>
          <p:cNvSpPr txBox="1"/>
          <p:nvPr/>
        </p:nvSpPr>
        <p:spPr>
          <a:xfrm>
            <a:off x="645633" y="5317406"/>
            <a:ext cx="36650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vectorized </a:t>
            </a:r>
            <a:r>
              <a:rPr lang="en-US" b="1" dirty="0"/>
              <a:t>scalar</a:t>
            </a:r>
            <a:r>
              <a:rPr lang="en-US" dirty="0"/>
              <a:t> operation applies a function to every element in a </a:t>
            </a:r>
            <a:r>
              <a:rPr lang="en-US" i="1" dirty="0"/>
              <a:t>single</a:t>
            </a:r>
            <a:r>
              <a:rPr lang="en-US" dirty="0"/>
              <a:t> array (to each individual cell)</a:t>
            </a:r>
          </a:p>
        </p:txBody>
      </p:sp>
    </p:spTree>
    <p:extLst>
      <p:ext uri="{BB962C8B-B14F-4D97-AF65-F5344CB8AC3E}">
        <p14:creationId xmlns:p14="http://schemas.microsoft.com/office/powerpoint/2010/main" val="1916323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9</a:t>
            </a:fld>
            <a:endParaRPr lang="en-US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548AC1BF-07EC-4001-B09A-963CE289DA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76"/>
          <a:stretch/>
        </p:blipFill>
        <p:spPr>
          <a:xfrm>
            <a:off x="2499335" y="1690689"/>
            <a:ext cx="4145330" cy="432956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607274B-43E7-683E-54F1-5F13703A1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Matplotlib Container Hierarchy</a:t>
            </a:r>
          </a:p>
        </p:txBody>
      </p:sp>
    </p:spTree>
    <p:extLst>
      <p:ext uri="{BB962C8B-B14F-4D97-AF65-F5344CB8AC3E}">
        <p14:creationId xmlns:p14="http://schemas.microsoft.com/office/powerpoint/2010/main" val="898233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Series Resistor-Capacitor (</a:t>
            </a:r>
            <a:r>
              <a:rPr lang="en-US" sz="3200" b="1" dirty="0">
                <a:latin typeface="+mn-lt"/>
              </a:rPr>
              <a:t>RC</a:t>
            </a:r>
            <a:r>
              <a:rPr lang="en-US" sz="3200" dirty="0">
                <a:latin typeface="+mn-lt"/>
              </a:rPr>
              <a:t>)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D9399CF-1A33-2FD2-BAC2-88B2A6297E49}"/>
                  </a:ext>
                </a:extLst>
              </p:cNvPr>
              <p:cNvSpPr txBox="1"/>
              <p:nvPr/>
            </p:nvSpPr>
            <p:spPr>
              <a:xfrm>
                <a:off x="4661785" y="1962749"/>
                <a:ext cx="2608599" cy="4985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D9399CF-1A33-2FD2-BAC2-88B2A6297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785" y="1962749"/>
                <a:ext cx="2608599" cy="4985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20BA19-B7E5-8F2B-BE7C-2FFF8B69D619}"/>
                  </a:ext>
                </a:extLst>
              </p:cNvPr>
              <p:cNvSpPr txBox="1"/>
              <p:nvPr/>
            </p:nvSpPr>
            <p:spPr>
              <a:xfrm>
                <a:off x="5028744" y="3013177"/>
                <a:ext cx="1874680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20BA19-B7E5-8F2B-BE7C-2FFF8B69D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744" y="3013177"/>
                <a:ext cx="1874680" cy="62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C0535B-F8B1-701B-963B-E26D93D96F8C}"/>
                  </a:ext>
                </a:extLst>
              </p:cNvPr>
              <p:cNvSpPr txBox="1"/>
              <p:nvPr/>
            </p:nvSpPr>
            <p:spPr>
              <a:xfrm>
                <a:off x="5112517" y="4187421"/>
                <a:ext cx="1707134" cy="5656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type m:val="skw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C0535B-F8B1-701B-963B-E26D93D96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517" y="4187421"/>
                <a:ext cx="1707134" cy="5656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017C1B-5C3E-64E3-059E-6B297B1EE9A1}"/>
                  </a:ext>
                </a:extLst>
              </p:cNvPr>
              <p:cNvSpPr txBox="1"/>
              <p:nvPr/>
            </p:nvSpPr>
            <p:spPr>
              <a:xfrm>
                <a:off x="4945452" y="5304982"/>
                <a:ext cx="2041264" cy="4145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type m:val="skw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𝑅𝐶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017C1B-5C3E-64E3-059E-6B297B1EE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452" y="5304982"/>
                <a:ext cx="2041264" cy="414537"/>
              </a:xfrm>
              <a:prstGeom prst="rect">
                <a:avLst/>
              </a:prstGeom>
              <a:blipFill>
                <a:blip r:embed="rId5"/>
                <a:stretch>
                  <a:fillRect l="-1194" t="-104412" r="-15224" b="-1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Diagram, shape">
            <a:extLst>
              <a:ext uri="{FF2B5EF4-FFF2-40B4-BE49-F238E27FC236}">
                <a16:creationId xmlns:a16="http://schemas.microsoft.com/office/drawing/2014/main" id="{8799EE61-E12D-4436-22AF-54331981826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602" y="1576304"/>
            <a:ext cx="3455861" cy="26278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3D4535-23E8-5651-E538-D6D4571D6356}"/>
              </a:ext>
            </a:extLst>
          </p:cNvPr>
          <p:cNvSpPr txBox="1"/>
          <p:nvPr/>
        </p:nvSpPr>
        <p:spPr>
          <a:xfrm>
            <a:off x="2743201" y="2401912"/>
            <a:ext cx="307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E8B4AE-D8F0-FC2B-127A-30B68BF07DBD}"/>
              </a:ext>
            </a:extLst>
          </p:cNvPr>
          <p:cNvSpPr txBox="1"/>
          <p:nvPr/>
        </p:nvSpPr>
        <p:spPr>
          <a:xfrm>
            <a:off x="2743201" y="3416406"/>
            <a:ext cx="307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4AA0B6-EAC1-FE01-D4E8-5D8CB73C7C3A}"/>
              </a:ext>
            </a:extLst>
          </p:cNvPr>
          <p:cNvSpPr txBox="1"/>
          <p:nvPr/>
        </p:nvSpPr>
        <p:spPr>
          <a:xfrm>
            <a:off x="399738" y="2786449"/>
            <a:ext cx="42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r>
              <a:rPr lang="en-US" b="1" baseline="-25000" dirty="0"/>
              <a:t>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C9CF74-6944-3205-C995-428A7BB4ED96}"/>
              </a:ext>
            </a:extLst>
          </p:cNvPr>
          <p:cNvSpPr txBox="1"/>
          <p:nvPr/>
        </p:nvSpPr>
        <p:spPr>
          <a:xfrm>
            <a:off x="4144931" y="5804458"/>
            <a:ext cx="3642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The voltage across the </a:t>
            </a:r>
            <a:r>
              <a:rPr lang="en-US" b="1" dirty="0">
                <a:solidFill>
                  <a:srgbClr val="7030A0"/>
                </a:solidFill>
              </a:rPr>
              <a:t>charging</a:t>
            </a:r>
            <a:r>
              <a:rPr lang="en-US" dirty="0">
                <a:solidFill>
                  <a:srgbClr val="7030A0"/>
                </a:solidFill>
              </a:rPr>
              <a:t> capacitor as a function of time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DB0676-EBDE-521C-01E4-2320FDB3577E}"/>
              </a:ext>
            </a:extLst>
          </p:cNvPr>
          <p:cNvCxnSpPr/>
          <p:nvPr/>
        </p:nvCxnSpPr>
        <p:spPr>
          <a:xfrm>
            <a:off x="3372787" y="3324352"/>
            <a:ext cx="0" cy="64054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306C0C0-C5FF-B5FB-5D0B-98684C2B45C0}"/>
              </a:ext>
            </a:extLst>
          </p:cNvPr>
          <p:cNvGrpSpPr/>
          <p:nvPr/>
        </p:nvGrpSpPr>
        <p:grpSpPr>
          <a:xfrm>
            <a:off x="919975" y="4321695"/>
            <a:ext cx="2885486" cy="369332"/>
            <a:chOff x="919975" y="4321695"/>
            <a:chExt cx="2885486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68FD806-081B-F0CE-341E-56AB458B7698}"/>
                    </a:ext>
                  </a:extLst>
                </p:cNvPr>
                <p:cNvSpPr txBox="1"/>
                <p:nvPr/>
              </p:nvSpPr>
              <p:spPr>
                <a:xfrm>
                  <a:off x="919975" y="4367862"/>
                  <a:ext cx="130522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39601F3-ED34-67D1-1581-B09177AE09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975" y="4367862"/>
                  <a:ext cx="130522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4206" r="-935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EC79067-B32F-3BC0-0DC8-88F601B32762}"/>
                </a:ext>
              </a:extLst>
            </p:cNvPr>
            <p:cNvSpPr txBox="1"/>
            <p:nvPr/>
          </p:nvSpPr>
          <p:spPr>
            <a:xfrm>
              <a:off x="2475598" y="4321695"/>
              <a:ext cx="1329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KVL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420FB41-F3E6-6D74-E9B9-DD33CF824421}"/>
              </a:ext>
            </a:extLst>
          </p:cNvPr>
          <p:cNvGrpSpPr/>
          <p:nvPr/>
        </p:nvGrpSpPr>
        <p:grpSpPr>
          <a:xfrm>
            <a:off x="919975" y="4833059"/>
            <a:ext cx="2885488" cy="369332"/>
            <a:chOff x="919975" y="4833059"/>
            <a:chExt cx="2885488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2387D81-7CF3-963A-9DBB-D1BFCE7EC9D2}"/>
                    </a:ext>
                  </a:extLst>
                </p:cNvPr>
                <p:cNvSpPr txBox="1"/>
                <p:nvPr/>
              </p:nvSpPr>
              <p:spPr>
                <a:xfrm>
                  <a:off x="919975" y="4879226"/>
                  <a:ext cx="95545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9D67A46-CC80-5045-0E82-3F41B34C3C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975" y="4879226"/>
                  <a:ext cx="955453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185" r="-4459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F7E031-D6EE-4854-F6FD-14ED6A975F89}"/>
                </a:ext>
              </a:extLst>
            </p:cNvPr>
            <p:cNvSpPr txBox="1"/>
            <p:nvPr/>
          </p:nvSpPr>
          <p:spPr>
            <a:xfrm>
              <a:off x="2475599" y="4833059"/>
              <a:ext cx="13298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Ohm's Law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E5FECA7-48A1-3262-80F8-50F10DFACA6F}"/>
              </a:ext>
            </a:extLst>
          </p:cNvPr>
          <p:cNvGrpSpPr/>
          <p:nvPr/>
        </p:nvGrpSpPr>
        <p:grpSpPr>
          <a:xfrm>
            <a:off x="919975" y="5344423"/>
            <a:ext cx="2885485" cy="369332"/>
            <a:chOff x="919975" y="5344423"/>
            <a:chExt cx="2885485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89D6D28-9B44-A6A7-95DA-77C5740A6253}"/>
                    </a:ext>
                  </a:extLst>
                </p:cNvPr>
                <p:cNvSpPr txBox="1"/>
                <p:nvPr/>
              </p:nvSpPr>
              <p:spPr>
                <a:xfrm>
                  <a:off x="919975" y="5390590"/>
                  <a:ext cx="74648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1EF8873-8DCC-E1F9-81DB-E66877FD83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975" y="5390590"/>
                  <a:ext cx="746486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7377" r="-1639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0543C49-3773-1FB3-E344-8685D4C290E1}"/>
                </a:ext>
              </a:extLst>
            </p:cNvPr>
            <p:cNvSpPr txBox="1"/>
            <p:nvPr/>
          </p:nvSpPr>
          <p:spPr>
            <a:xfrm>
              <a:off x="2475597" y="5344423"/>
              <a:ext cx="1329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KCL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3026454-8143-A5C8-7773-D73ED6F720DA}"/>
              </a:ext>
            </a:extLst>
          </p:cNvPr>
          <p:cNvGrpSpPr/>
          <p:nvPr/>
        </p:nvGrpSpPr>
        <p:grpSpPr>
          <a:xfrm>
            <a:off x="919975" y="5846543"/>
            <a:ext cx="2885486" cy="646331"/>
            <a:chOff x="919975" y="5846543"/>
            <a:chExt cx="2885486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44CC3BC-CA3D-33D9-40B9-466CAE6E33B5}"/>
                    </a:ext>
                  </a:extLst>
                </p:cNvPr>
                <p:cNvSpPr txBox="1"/>
                <p:nvPr/>
              </p:nvSpPr>
              <p:spPr>
                <a:xfrm>
                  <a:off x="919975" y="5906752"/>
                  <a:ext cx="1116652" cy="5259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3FB7726-43C8-2F0D-30DA-4642C5C093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975" y="5906752"/>
                  <a:ext cx="1116652" cy="52591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BDCF267-785C-F005-74A0-B2655038C2F9}"/>
                </a:ext>
              </a:extLst>
            </p:cNvPr>
            <p:cNvSpPr txBox="1"/>
            <p:nvPr/>
          </p:nvSpPr>
          <p:spPr>
            <a:xfrm>
              <a:off x="2475597" y="5846543"/>
              <a:ext cx="13298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</a:rPr>
                <a:t>Capacitive Current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BAC2814F-9299-DF3B-AE40-8BC30B051B7D}"/>
              </a:ext>
            </a:extLst>
          </p:cNvPr>
          <p:cNvSpPr/>
          <p:nvPr/>
        </p:nvSpPr>
        <p:spPr>
          <a:xfrm>
            <a:off x="4907756" y="5276545"/>
            <a:ext cx="2181225" cy="498534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0EDDF0-8218-3230-77B3-2F962753E8D4}"/>
              </a:ext>
            </a:extLst>
          </p:cNvPr>
          <p:cNvSpPr/>
          <p:nvPr/>
        </p:nvSpPr>
        <p:spPr>
          <a:xfrm>
            <a:off x="2729961" y="3260299"/>
            <a:ext cx="1090613" cy="71215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8CBF93BF-283A-5DF0-6273-CAB69E3270AB}"/>
              </a:ext>
            </a:extLst>
          </p:cNvPr>
          <p:cNvCxnSpPr>
            <a:stCxn id="27" idx="3"/>
            <a:endCxn id="26" idx="1"/>
          </p:cNvCxnSpPr>
          <p:nvPr/>
        </p:nvCxnSpPr>
        <p:spPr>
          <a:xfrm>
            <a:off x="3820574" y="3616377"/>
            <a:ext cx="1087182" cy="1909435"/>
          </a:xfrm>
          <a:prstGeom prst="bentConnector3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699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A02956E-E34D-D180-7B17-AFDAB18EC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291" y="1593019"/>
            <a:ext cx="6278899" cy="45426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Our 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11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F6157AE-8EBB-EA47-CB83-4DBCE83A8647}"/>
              </a:ext>
            </a:extLst>
          </p:cNvPr>
          <p:cNvGrpSpPr/>
          <p:nvPr/>
        </p:nvGrpSpPr>
        <p:grpSpPr>
          <a:xfrm>
            <a:off x="4399854" y="2107321"/>
            <a:ext cx="1076632" cy="369332"/>
            <a:chOff x="4968362" y="2079211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9901815-B266-6547-869B-E9282A001F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7895451-51E4-D76A-4FCD-45CF9A024370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7D37A0-CE39-A47E-F118-21B6C3D58018}"/>
              </a:ext>
            </a:extLst>
          </p:cNvPr>
          <p:cNvGrpSpPr/>
          <p:nvPr/>
        </p:nvGrpSpPr>
        <p:grpSpPr>
          <a:xfrm>
            <a:off x="3916310" y="3579439"/>
            <a:ext cx="1068643" cy="369332"/>
            <a:chOff x="3647644" y="4910075"/>
            <a:chExt cx="1068643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B3E3274-49EF-ACA6-CDC8-507BF9252947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ED7FF0B-1AF5-6A10-3B35-A2E939036C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39CAAFD-C893-0257-C944-907007DB6595}"/>
              </a:ext>
            </a:extLst>
          </p:cNvPr>
          <p:cNvGrpSpPr/>
          <p:nvPr/>
        </p:nvGrpSpPr>
        <p:grpSpPr>
          <a:xfrm>
            <a:off x="4571999" y="2760392"/>
            <a:ext cx="1076632" cy="369332"/>
            <a:chOff x="4704120" y="2356972"/>
            <a:chExt cx="1076632" cy="369332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6D7E32D-B278-4016-7BD8-63284B4A51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CFE717B-E2B8-41B3-E393-CA4C2D17AEB2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64B9783-46EA-6EB5-B315-D35367B00C34}"/>
                  </a:ext>
                </a:extLst>
              </p:cNvPr>
              <p:cNvSpPr txBox="1"/>
              <p:nvPr/>
            </p:nvSpPr>
            <p:spPr>
              <a:xfrm>
                <a:off x="5962832" y="3649366"/>
                <a:ext cx="2533338" cy="5068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7030A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800" i="1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800" i="1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800" i="1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1800" i="1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type m:val="skw"/>
                                  <m:ctrlPr>
                                    <a:rPr lang="en-US" sz="1800" i="1">
                                      <a:ln>
                                        <a:solidFill>
                                          <a:srgbClr val="7030A0"/>
                                        </a:solidFill>
                                      </a:ln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n>
                                        <a:solidFill>
                                          <a:srgbClr val="7030A0"/>
                                        </a:solidFill>
                                      </a:ln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i="1">
                                      <a:ln>
                                        <a:solidFill>
                                          <a:srgbClr val="7030A0"/>
                                        </a:solidFill>
                                      </a:ln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ln>
                                        <a:solidFill>
                                          <a:srgbClr val="7030A0"/>
                                        </a:solidFill>
                                      </a:ln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𝑅𝐶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en-US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64B9783-46EA-6EB5-B315-D35367B00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2832" y="3649366"/>
                <a:ext cx="2533338" cy="5068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356DC71F-0329-D9C0-B743-A9FA3BB9E3CE}"/>
              </a:ext>
            </a:extLst>
          </p:cNvPr>
          <p:cNvSpPr/>
          <p:nvPr/>
        </p:nvSpPr>
        <p:spPr>
          <a:xfrm>
            <a:off x="2413837" y="3252866"/>
            <a:ext cx="183054" cy="194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4614B6EF-E0E2-C719-624C-F1B231E9B75E}"/>
              </a:ext>
            </a:extLst>
          </p:cNvPr>
          <p:cNvCxnSpPr>
            <a:cxnSpLocks/>
            <a:stCxn id="23" idx="3"/>
            <a:endCxn id="26" idx="0"/>
          </p:cNvCxnSpPr>
          <p:nvPr/>
        </p:nvCxnSpPr>
        <p:spPr>
          <a:xfrm>
            <a:off x="2596891" y="3350302"/>
            <a:ext cx="5404603" cy="423688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06B0B375-8CC2-CEEC-18FE-233592CEB2A2}"/>
              </a:ext>
            </a:extLst>
          </p:cNvPr>
          <p:cNvSpPr/>
          <p:nvPr/>
        </p:nvSpPr>
        <p:spPr>
          <a:xfrm>
            <a:off x="7909967" y="3773990"/>
            <a:ext cx="183054" cy="194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C6AF040-20E9-4908-3987-E576635A41D4}"/>
              </a:ext>
            </a:extLst>
          </p:cNvPr>
          <p:cNvGrpSpPr/>
          <p:nvPr/>
        </p:nvGrpSpPr>
        <p:grpSpPr>
          <a:xfrm>
            <a:off x="4671942" y="3794912"/>
            <a:ext cx="1064340" cy="369332"/>
            <a:chOff x="3647644" y="5421073"/>
            <a:chExt cx="1064340" cy="36933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C7A999A-D4B6-C7BB-1C18-FA6F2E0DE775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13B12B4-580E-AB75-5731-CD8EE0ECC2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7BCBB1D-1911-65A7-2A56-EBDBA2399E8E}"/>
              </a:ext>
            </a:extLst>
          </p:cNvPr>
          <p:cNvGrpSpPr/>
          <p:nvPr/>
        </p:nvGrpSpPr>
        <p:grpSpPr>
          <a:xfrm>
            <a:off x="3911999" y="4194664"/>
            <a:ext cx="1068643" cy="369332"/>
            <a:chOff x="3647644" y="5359159"/>
            <a:chExt cx="1068643" cy="36933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05D8E84-3A6E-4ECA-D801-B30D245F5BDA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7FFED2C-C448-0823-8A73-74F4CDD032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9A69FFC-B4D1-164E-7750-2A802B7072C2}"/>
              </a:ext>
            </a:extLst>
          </p:cNvPr>
          <p:cNvGrpSpPr/>
          <p:nvPr/>
        </p:nvGrpSpPr>
        <p:grpSpPr>
          <a:xfrm>
            <a:off x="5401410" y="4583547"/>
            <a:ext cx="1076632" cy="369332"/>
            <a:chOff x="2157212" y="5356391"/>
            <a:chExt cx="1076632" cy="36933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9186733-D020-FF64-82AA-B93FCC2A8E5C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A15A6087-8153-C98A-7A97-33B7EB7692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40D3EB7-158E-4CFF-3196-6177A79D270F}"/>
              </a:ext>
            </a:extLst>
          </p:cNvPr>
          <p:cNvGrpSpPr/>
          <p:nvPr/>
        </p:nvGrpSpPr>
        <p:grpSpPr>
          <a:xfrm>
            <a:off x="5653341" y="5390211"/>
            <a:ext cx="1076632" cy="369332"/>
            <a:chOff x="2157212" y="5356391"/>
            <a:chExt cx="1076632" cy="36933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99E49FE-F049-545B-C2C5-4799D11A87F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90DB0E7-ECD8-65D5-1BA6-31EA3EA931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FBA859F-93EA-0647-C18F-25D34E346C19}"/>
              </a:ext>
            </a:extLst>
          </p:cNvPr>
          <p:cNvGrpSpPr/>
          <p:nvPr/>
        </p:nvGrpSpPr>
        <p:grpSpPr>
          <a:xfrm>
            <a:off x="7591413" y="5586333"/>
            <a:ext cx="1076632" cy="369332"/>
            <a:chOff x="2157212" y="5356391"/>
            <a:chExt cx="1076632" cy="36933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679B1D1-E303-72CF-205F-401E3939A207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7931806B-5703-5DB3-1A13-A4DC18623C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41D8E95-40C6-0F8A-1EA1-82B4588F5971}"/>
              </a:ext>
            </a:extLst>
          </p:cNvPr>
          <p:cNvGrpSpPr/>
          <p:nvPr/>
        </p:nvGrpSpPr>
        <p:grpSpPr>
          <a:xfrm>
            <a:off x="4418436" y="4385138"/>
            <a:ext cx="1076632" cy="369332"/>
            <a:chOff x="2157212" y="5356391"/>
            <a:chExt cx="1076632" cy="369332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9BAB6B2-5290-9405-E436-773AED58197B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50A5FDC-ACD7-6D49-C8DB-7D4557BDDC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4631904-FC12-A3BB-49D5-382FB577FEE5}"/>
              </a:ext>
            </a:extLst>
          </p:cNvPr>
          <p:cNvGrpSpPr/>
          <p:nvPr/>
        </p:nvGrpSpPr>
        <p:grpSpPr>
          <a:xfrm>
            <a:off x="2413837" y="5791975"/>
            <a:ext cx="1076632" cy="369332"/>
            <a:chOff x="2157212" y="5356391"/>
            <a:chExt cx="1076632" cy="369332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8DAD13A-C79B-0887-DC97-DA9100758AC9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E2048D54-A5B0-A58E-FFF3-84FFAE8161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6802D5FA-9A7F-8171-9044-3BB9F1BB68EB}"/>
              </a:ext>
            </a:extLst>
          </p:cNvPr>
          <p:cNvSpPr/>
          <p:nvPr/>
        </p:nvSpPr>
        <p:spPr>
          <a:xfrm>
            <a:off x="4126353" y="3885712"/>
            <a:ext cx="311131" cy="175915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456F4E0-0AA5-5EA8-C5A0-983B89FC4EAB}"/>
              </a:ext>
            </a:extLst>
          </p:cNvPr>
          <p:cNvSpPr/>
          <p:nvPr/>
        </p:nvSpPr>
        <p:spPr>
          <a:xfrm>
            <a:off x="1852613" y="4470645"/>
            <a:ext cx="481012" cy="2156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3082B95-3714-1F89-981B-A98D31E9FDC0}"/>
              </a:ext>
            </a:extLst>
          </p:cNvPr>
          <p:cNvSpPr/>
          <p:nvPr/>
        </p:nvSpPr>
        <p:spPr>
          <a:xfrm>
            <a:off x="2533115" y="5461491"/>
            <a:ext cx="383458" cy="2156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FF62F2F-57A1-EE03-9BE9-8B655F38F4B8}"/>
              </a:ext>
            </a:extLst>
          </p:cNvPr>
          <p:cNvSpPr/>
          <p:nvPr/>
        </p:nvSpPr>
        <p:spPr>
          <a:xfrm>
            <a:off x="1473306" y="2652566"/>
            <a:ext cx="1971870" cy="2156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A22A537D-EA3F-69B5-915E-48AE589D66FC}"/>
              </a:ext>
            </a:extLst>
          </p:cNvPr>
          <p:cNvCxnSpPr>
            <a:stCxn id="55" idx="1"/>
            <a:endCxn id="56" idx="1"/>
          </p:cNvCxnSpPr>
          <p:nvPr/>
        </p:nvCxnSpPr>
        <p:spPr>
          <a:xfrm rot="10800000">
            <a:off x="1473307" y="2760393"/>
            <a:ext cx="1059809" cy="2808925"/>
          </a:xfrm>
          <a:prstGeom prst="bentConnector3">
            <a:avLst>
              <a:gd name="adj1" fmla="val 136421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EF7E000-0FAC-237D-1D71-FB8F6ED1FE47}"/>
              </a:ext>
            </a:extLst>
          </p:cNvPr>
          <p:cNvSpPr txBox="1"/>
          <p:nvPr/>
        </p:nvSpPr>
        <p:spPr>
          <a:xfrm rot="16200000">
            <a:off x="-145933" y="4009997"/>
            <a:ext cx="2086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Maximum Voltage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CF8FB4-B94F-AAE5-A070-FD8760ADB894}"/>
              </a:ext>
            </a:extLst>
          </p:cNvPr>
          <p:cNvSpPr txBox="1"/>
          <p:nvPr/>
        </p:nvSpPr>
        <p:spPr>
          <a:xfrm>
            <a:off x="2413837" y="3384567"/>
            <a:ext cx="1971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Model out to 1 sec</a:t>
            </a:r>
          </a:p>
        </p:txBody>
      </p:sp>
    </p:spTree>
    <p:extLst>
      <p:ext uri="{BB962C8B-B14F-4D97-AF65-F5344CB8AC3E}">
        <p14:creationId xmlns:p14="http://schemas.microsoft.com/office/powerpoint/2010/main" val="3680981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CB04A516-445C-BEF7-30D5-39F5D3178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57" y="1435672"/>
            <a:ext cx="6114286" cy="51523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12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5A1741-01B7-2088-7745-069435B14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296" y="3527750"/>
            <a:ext cx="2818712" cy="769432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FAB5BA0-587C-9BCA-7856-886228B24CEF}"/>
              </a:ext>
            </a:extLst>
          </p:cNvPr>
          <p:cNvGrpSpPr/>
          <p:nvPr/>
        </p:nvGrpSpPr>
        <p:grpSpPr>
          <a:xfrm>
            <a:off x="547141" y="2540880"/>
            <a:ext cx="1723869" cy="369332"/>
            <a:chOff x="547141" y="2540880"/>
            <a:chExt cx="1723869" cy="36933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484AA8E-C8D2-1B16-FE33-3760CA19BC1C}"/>
                </a:ext>
              </a:extLst>
            </p:cNvPr>
            <p:cNvSpPr txBox="1"/>
            <p:nvPr/>
          </p:nvSpPr>
          <p:spPr>
            <a:xfrm>
              <a:off x="547141" y="2540880"/>
              <a:ext cx="1155093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</a:rPr>
                <a:t>3.3V Max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3CE5B75-48C5-9985-DECB-0598F8526D94}"/>
                </a:ext>
              </a:extLst>
            </p:cNvPr>
            <p:cNvCxnSpPr>
              <a:stCxn id="6" idx="3"/>
            </p:cNvCxnSpPr>
            <p:nvPr/>
          </p:nvCxnSpPr>
          <p:spPr>
            <a:xfrm flipV="1">
              <a:off x="1702234" y="2720715"/>
              <a:ext cx="568776" cy="483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3A4344CA-0424-B0F6-56A1-53F32A296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Our Result</a:t>
            </a:r>
          </a:p>
        </p:txBody>
      </p:sp>
    </p:spTree>
    <p:extLst>
      <p:ext uri="{BB962C8B-B14F-4D97-AF65-F5344CB8AC3E}">
        <p14:creationId xmlns:p14="http://schemas.microsoft.com/office/powerpoint/2010/main" val="1860015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Team </a:t>
            </a:r>
            <a:r>
              <a:rPr lang="en-US" sz="3200" b="1" dirty="0">
                <a:latin typeface="+mn-lt"/>
              </a:rPr>
              <a:t>01</a:t>
            </a:r>
            <a:r>
              <a:rPr lang="en-US" sz="3200" dirty="0">
                <a:latin typeface="+mn-lt"/>
              </a:rPr>
              <a:t> – What We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How to install and use Thonny &amp; Python Packages – all are 100% free and open-source programming tools</a:t>
            </a:r>
          </a:p>
          <a:p>
            <a:r>
              <a:rPr lang="en-US" sz="2400" dirty="0"/>
              <a:t>How to create Numpy arrays and leverage vectorized operations</a:t>
            </a:r>
          </a:p>
          <a:p>
            <a:r>
              <a:rPr lang="en-US" sz="2400" dirty="0"/>
              <a:t>How to model the voltage over time of a discharging capacitor in an RC circuit</a:t>
            </a:r>
          </a:p>
          <a:p>
            <a:r>
              <a:rPr lang="en-US" sz="2400" dirty="0"/>
              <a:t>How to create a 2D line graph using Matplotlib and decorate that plot with axes labels and a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87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8523</TotalTime>
  <Words>338</Words>
  <Application>Microsoft Office PowerPoint</Application>
  <PresentationFormat>On-screen Show (4:3)</PresentationFormat>
  <Paragraphs>84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PowerPoint Presentation</vt:lpstr>
      <vt:lpstr>Our Challenge: Model an RC Circuit</vt:lpstr>
      <vt:lpstr>PowerPoint Presentation</vt:lpstr>
      <vt:lpstr>PowerPoint Presentation</vt:lpstr>
      <vt:lpstr>PyPI - The Python Package Index</vt:lpstr>
      <vt:lpstr>Installing Python Packages into Thonny</vt:lpstr>
      <vt:lpstr>PowerPoint Presentation</vt:lpstr>
      <vt:lpstr>Numpy Vectorized Operations</vt:lpstr>
      <vt:lpstr>Matplotlib Container Hierarchy</vt:lpstr>
      <vt:lpstr>Series Resistor-Capacitor (RC) Circuit</vt:lpstr>
      <vt:lpstr>Our Solution</vt:lpstr>
      <vt:lpstr>Our Result</vt:lpstr>
      <vt:lpstr>Team 01 – What We Learned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Biersach, David</cp:lastModifiedBy>
  <cp:revision>1035</cp:revision>
  <cp:lastPrinted>2015-06-01T00:45:11Z</cp:lastPrinted>
  <dcterms:created xsi:type="dcterms:W3CDTF">2014-09-21T17:58:26Z</dcterms:created>
  <dcterms:modified xsi:type="dcterms:W3CDTF">2023-12-19T00:11:10Z</dcterms:modified>
</cp:coreProperties>
</file>