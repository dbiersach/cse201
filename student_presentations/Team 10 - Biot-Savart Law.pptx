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1460" r:id="rId2"/>
    <p:sldId id="1025" r:id="rId3"/>
    <p:sldId id="1028" r:id="rId4"/>
    <p:sldId id="1380" r:id="rId5"/>
    <p:sldId id="1433" r:id="rId6"/>
    <p:sldId id="1434" r:id="rId7"/>
    <p:sldId id="1435" r:id="rId8"/>
    <p:sldId id="1430" r:id="rId9"/>
    <p:sldId id="1031" r:id="rId10"/>
    <p:sldId id="1081" r:id="rId11"/>
    <p:sldId id="1436" r:id="rId12"/>
    <p:sldId id="1437" r:id="rId13"/>
    <p:sldId id="1387" r:id="rId14"/>
    <p:sldId id="1439" r:id="rId15"/>
    <p:sldId id="1396" r:id="rId16"/>
    <p:sldId id="1461" r:id="rId17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823E"/>
    <a:srgbClr val="4993C7"/>
    <a:srgbClr val="3280A4"/>
    <a:srgbClr val="5D80B4"/>
    <a:srgbClr val="E6E6E6"/>
    <a:srgbClr val="8C3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12/20/2023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22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13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33B3E1-0D87-D6A9-78FC-3EA6D47CB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00" y="698474"/>
            <a:ext cx="5298279" cy="353788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4B64E8C-7BF5-78F5-2ED4-4DC9E406511F}"/>
              </a:ext>
            </a:extLst>
          </p:cNvPr>
          <p:cNvGrpSpPr/>
          <p:nvPr/>
        </p:nvGrpSpPr>
        <p:grpSpPr>
          <a:xfrm>
            <a:off x="5725008" y="926279"/>
            <a:ext cx="3172691" cy="4200717"/>
            <a:chOff x="5697345" y="814191"/>
            <a:chExt cx="3172691" cy="420071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E72BF4-1C3A-D1AC-9CA3-5FE2E816B79E}"/>
                </a:ext>
              </a:extLst>
            </p:cNvPr>
            <p:cNvSpPr txBox="1"/>
            <p:nvPr/>
          </p:nvSpPr>
          <p:spPr>
            <a:xfrm>
              <a:off x="6023301" y="2308225"/>
              <a:ext cx="252077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Student #1</a:t>
              </a:r>
            </a:p>
            <a:p>
              <a:pPr algn="ctr"/>
              <a:r>
                <a:rPr lang="en-US" dirty="0"/>
                <a:t>Student #2</a:t>
              </a:r>
            </a:p>
            <a:p>
              <a:pPr algn="ctr"/>
              <a:r>
                <a:rPr lang="en-US"/>
                <a:t>Student #3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7C7F66-FBD2-4BF6-62E5-8A37BCFAF7E0}"/>
                </a:ext>
              </a:extLst>
            </p:cNvPr>
            <p:cNvSpPr txBox="1"/>
            <p:nvPr/>
          </p:nvSpPr>
          <p:spPr>
            <a:xfrm>
              <a:off x="5697345" y="814191"/>
              <a:ext cx="317269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Control Systems</a:t>
              </a:r>
            </a:p>
            <a:p>
              <a:pPr algn="ctr"/>
              <a:r>
                <a:rPr lang="en-US" sz="2000" b="1" dirty="0"/>
                <a:t>Engineering</a:t>
              </a:r>
            </a:p>
            <a:p>
              <a:pPr algn="ctr"/>
              <a:r>
                <a:rPr lang="en-US" sz="2000" dirty="0"/>
                <a:t>(CSE 201)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DD062F-CCDE-C11A-48EF-C4C1D3DD1BFD}"/>
                </a:ext>
              </a:extLst>
            </p:cNvPr>
            <p:cNvSpPr txBox="1"/>
            <p:nvPr/>
          </p:nvSpPr>
          <p:spPr>
            <a:xfrm>
              <a:off x="5961841" y="4091578"/>
              <a:ext cx="264369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Team 10</a:t>
              </a:r>
            </a:p>
            <a:p>
              <a:pPr algn="ctr"/>
              <a:r>
                <a:rPr lang="en-US" dirty="0"/>
                <a:t>Electromagnetism</a:t>
              </a:r>
            </a:p>
            <a:p>
              <a:pPr algn="ctr"/>
              <a:r>
                <a:rPr lang="en-US" dirty="0" err="1"/>
                <a:t>Biot</a:t>
              </a:r>
              <a:r>
                <a:rPr lang="en-US" dirty="0"/>
                <a:t>-Savart Law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27732-83E6-04A2-5845-6ACA361CC4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6028" y="5701304"/>
            <a:ext cx="2330650" cy="5688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3CD4A6-FFBC-151B-CD40-F585ACB1099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301" y="4390130"/>
            <a:ext cx="3281713" cy="17219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24EAD51-C7F2-8CD6-13FA-37E97B1526D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8260" y="5126996"/>
            <a:ext cx="2786319" cy="1246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04882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38B2C9-F326-6937-F799-393565F29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697" y="1719904"/>
            <a:ext cx="5912631" cy="44375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llout: Line 4">
                <a:extLst>
                  <a:ext uri="{FF2B5EF4-FFF2-40B4-BE49-F238E27FC236}">
                    <a16:creationId xmlns:a16="http://schemas.microsoft.com/office/drawing/2014/main" id="{C1525BF3-4C42-3100-5009-B4923DF79749}"/>
                  </a:ext>
                </a:extLst>
              </p:cNvPr>
              <p:cNvSpPr/>
              <p:nvPr/>
            </p:nvSpPr>
            <p:spPr>
              <a:xfrm>
                <a:off x="3658157" y="5404284"/>
                <a:ext cx="2434008" cy="952067"/>
              </a:xfrm>
              <a:prstGeom prst="borderCallout1">
                <a:avLst>
                  <a:gd name="adj1" fmla="val -2003"/>
                  <a:gd name="adj2" fmla="val 49332"/>
                  <a:gd name="adj3" fmla="val -81107"/>
                  <a:gd name="adj4" fmla="val 72595"/>
                </a:avLst>
              </a:prstGeom>
              <a:ln w="28575">
                <a:headEnd type="none" w="med" len="med"/>
                <a:tailEnd type="triangle" w="med" len="med"/>
              </a:ln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Resistance</a:t>
                </a:r>
              </a:p>
            </p:txBody>
          </p:sp>
        </mc:Choice>
        <mc:Fallback xmlns="">
          <p:sp>
            <p:nvSpPr>
              <p:cNvPr id="5" name="Callout: Line 4">
                <a:extLst>
                  <a:ext uri="{FF2B5EF4-FFF2-40B4-BE49-F238E27FC236}">
                    <a16:creationId xmlns:a16="http://schemas.microsoft.com/office/drawing/2014/main" id="{C1525BF3-4C42-3100-5009-B4923DF797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157" y="5404284"/>
                <a:ext cx="2434008" cy="952067"/>
              </a:xfrm>
              <a:prstGeom prst="borderCallout1">
                <a:avLst>
                  <a:gd name="adj1" fmla="val -2003"/>
                  <a:gd name="adj2" fmla="val 49332"/>
                  <a:gd name="adj3" fmla="val -81107"/>
                  <a:gd name="adj4" fmla="val 72595"/>
                </a:avLst>
              </a:prstGeom>
              <a:blipFill>
                <a:blip r:embed="rId3"/>
                <a:stretch>
                  <a:fillRect/>
                </a:stretch>
              </a:blipFill>
              <a:ln w="28575">
                <a:headEnd type="none" w="med" len="med"/>
                <a:tailEnd type="triangle" w="med" len="med"/>
              </a:ln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D82AE9D-C345-08EC-8EFC-99A475501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Challenge: </a:t>
            </a:r>
            <a:r>
              <a:rPr lang="en-US" sz="3200" b="1" dirty="0">
                <a:latin typeface="+mn-lt"/>
              </a:rPr>
              <a:t>Measure An Electromagnet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CCE95B04-9982-BC6C-49D4-F8F354265E70}"/>
              </a:ext>
            </a:extLst>
          </p:cNvPr>
          <p:cNvSpPr/>
          <p:nvPr/>
        </p:nvSpPr>
        <p:spPr>
          <a:xfrm>
            <a:off x="5531742" y="1889615"/>
            <a:ext cx="2983608" cy="1178537"/>
          </a:xfrm>
          <a:prstGeom prst="wedgeRoundRectCallout">
            <a:avLst>
              <a:gd name="adj1" fmla="val -43375"/>
              <a:gd name="adj2" fmla="val 9840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Show that the </a:t>
            </a:r>
            <a:r>
              <a:rPr lang="en-US" b="1" dirty="0"/>
              <a:t>strength</a:t>
            </a:r>
            <a:r>
              <a:rPr lang="en-US" dirty="0"/>
              <a:t> of an electromagnet depends on its supplied </a:t>
            </a:r>
            <a:r>
              <a:rPr lang="en-US" u="sng" dirty="0"/>
              <a:t>current</a:t>
            </a:r>
          </a:p>
        </p:txBody>
      </p:sp>
    </p:spTree>
    <p:extLst>
      <p:ext uri="{BB962C8B-B14F-4D97-AF65-F5344CB8AC3E}">
        <p14:creationId xmlns:p14="http://schemas.microsoft.com/office/powerpoint/2010/main" val="334255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Electromagnetism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BFB55-1C5B-8557-3B58-CCE376DAF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412" y="1690689"/>
            <a:ext cx="6095238" cy="4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25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Biot-Savart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038683"/>
          </a:xfrm>
        </p:spPr>
        <p:txBody>
          <a:bodyPr>
            <a:normAutofit/>
          </a:bodyPr>
          <a:lstStyle/>
          <a:p>
            <a:r>
              <a:rPr lang="en-US" sz="2400" dirty="0"/>
              <a:t>Coulomb's Law relates static </a:t>
            </a:r>
            <a:r>
              <a:rPr lang="en-US" sz="2400" b="1" dirty="0">
                <a:solidFill>
                  <a:srgbClr val="00B050"/>
                </a:solidFill>
              </a:rPr>
              <a:t>electric fields</a:t>
            </a:r>
            <a:r>
              <a:rPr lang="en-US" sz="2400" dirty="0"/>
              <a:t> to the </a:t>
            </a:r>
            <a:r>
              <a:rPr lang="en-US" sz="2400" i="1" dirty="0"/>
              <a:t>point charges</a:t>
            </a:r>
            <a:r>
              <a:rPr lang="en-US" sz="2400" dirty="0"/>
              <a:t> which are their sources</a:t>
            </a:r>
          </a:p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7030A0"/>
                </a:solidFill>
              </a:rPr>
              <a:t>Biot-Savart Law </a:t>
            </a:r>
            <a:r>
              <a:rPr lang="en-US" sz="2400" dirty="0"/>
              <a:t>relates static </a:t>
            </a:r>
            <a:r>
              <a:rPr lang="en-US" sz="2400" b="1" dirty="0">
                <a:solidFill>
                  <a:srgbClr val="0070C0"/>
                </a:solidFill>
              </a:rPr>
              <a:t>magnetic fields</a:t>
            </a:r>
            <a:r>
              <a:rPr lang="en-US" sz="2400" dirty="0"/>
              <a:t> to the </a:t>
            </a:r>
            <a:r>
              <a:rPr lang="en-US" sz="2400" i="1" dirty="0">
                <a:solidFill>
                  <a:srgbClr val="FF0000"/>
                </a:solidFill>
              </a:rPr>
              <a:t>currents</a:t>
            </a:r>
            <a:r>
              <a:rPr lang="en-US" sz="2400" dirty="0"/>
              <a:t> which are their sources</a:t>
            </a:r>
          </a:p>
          <a:p>
            <a:r>
              <a:rPr lang="en-US" sz="2400" dirty="0"/>
              <a:t>Finding the magnetic field resulting from a current distribution involves the </a:t>
            </a:r>
            <a:r>
              <a:rPr lang="en-US" sz="2400" b="1" dirty="0"/>
              <a:t>vector product</a:t>
            </a:r>
            <a:r>
              <a:rPr lang="en-US" sz="2400" dirty="0"/>
              <a:t> and is inherently a </a:t>
            </a:r>
            <a:r>
              <a:rPr lang="en-US" sz="2400" u="sng" dirty="0"/>
              <a:t>calculus</a:t>
            </a:r>
            <a:r>
              <a:rPr lang="en-US" sz="2400" dirty="0"/>
              <a:t> problem if the </a:t>
            </a:r>
            <a:r>
              <a:rPr lang="en-US" sz="2400" i="1" dirty="0"/>
              <a:t>distance</a:t>
            </a:r>
            <a:r>
              <a:rPr lang="en-US" sz="2400" dirty="0"/>
              <a:t> from the steady current to the magnetic field point is continuously </a:t>
            </a:r>
            <a:r>
              <a:rPr lang="en-US" sz="2400" b="1" dirty="0"/>
              <a:t>changing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D37407-1DBB-395E-7290-5D5C71E71597}"/>
              </a:ext>
            </a:extLst>
          </p:cNvPr>
          <p:cNvGrpSpPr/>
          <p:nvPr/>
        </p:nvGrpSpPr>
        <p:grpSpPr>
          <a:xfrm>
            <a:off x="1208408" y="5016865"/>
            <a:ext cx="3303772" cy="1589504"/>
            <a:chOff x="1605509" y="4949410"/>
            <a:chExt cx="3303772" cy="15895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3A1763E-07BF-CD07-2805-01BA2E7C9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5509" y="4949410"/>
              <a:ext cx="1350158" cy="158950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CC201D2-D774-EA6A-A0A5-E8B4F534B40A}"/>
                </a:ext>
              </a:extLst>
            </p:cNvPr>
            <p:cNvSpPr txBox="1"/>
            <p:nvPr/>
          </p:nvSpPr>
          <p:spPr>
            <a:xfrm>
              <a:off x="2955667" y="5420996"/>
              <a:ext cx="19536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Jean-Baptiste Biot</a:t>
              </a:r>
            </a:p>
            <a:p>
              <a:pPr algn="ctr"/>
              <a:r>
                <a:rPr lang="en-US" dirty="0"/>
                <a:t>1774-1862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79ADA29-1FF2-564A-64C1-F6B97E9CAA90}"/>
              </a:ext>
            </a:extLst>
          </p:cNvPr>
          <p:cNvGrpSpPr/>
          <p:nvPr/>
        </p:nvGrpSpPr>
        <p:grpSpPr>
          <a:xfrm>
            <a:off x="5090860" y="5008783"/>
            <a:ext cx="2844732" cy="1605668"/>
            <a:chOff x="5487961" y="4941328"/>
            <a:chExt cx="2844732" cy="160566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A071F77-57B8-FDCF-13A6-8A6B6F0DC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7961" y="4941328"/>
              <a:ext cx="1202701" cy="160566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5D30C72-4B70-4E7F-E45F-C867128F7834}"/>
                </a:ext>
              </a:extLst>
            </p:cNvPr>
            <p:cNvSpPr txBox="1"/>
            <p:nvPr/>
          </p:nvSpPr>
          <p:spPr>
            <a:xfrm>
              <a:off x="6705246" y="5420996"/>
              <a:ext cx="16274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Félix Savart</a:t>
              </a:r>
            </a:p>
            <a:p>
              <a:pPr algn="ctr"/>
              <a:r>
                <a:rPr lang="en-US" dirty="0"/>
                <a:t>1791-1841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1927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F13C45-C76C-436E-6B3F-3141683A6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93" y="1753482"/>
            <a:ext cx="7202614" cy="45400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Biot-Savart Law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0C73E4-4B47-8B37-7601-618A04BB47FA}"/>
              </a:ext>
            </a:extLst>
          </p:cNvPr>
          <p:cNvSpPr/>
          <p:nvPr/>
        </p:nvSpPr>
        <p:spPr>
          <a:xfrm>
            <a:off x="6545500" y="4143404"/>
            <a:ext cx="987057" cy="3686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FD766-E062-B1EF-2AE7-92AB207D1680}"/>
              </a:ext>
            </a:extLst>
          </p:cNvPr>
          <p:cNvSpPr txBox="1"/>
          <p:nvPr/>
        </p:nvSpPr>
        <p:spPr>
          <a:xfrm>
            <a:off x="6515519" y="652139"/>
            <a:ext cx="17013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7030A0"/>
                </a:solidFill>
              </a:rPr>
              <a:t>n</a:t>
            </a:r>
            <a:r>
              <a:rPr lang="en-US" sz="1400" dirty="0">
                <a:solidFill>
                  <a:srgbClr val="7030A0"/>
                </a:solidFill>
              </a:rPr>
              <a:t> is # of turns per unit length</a:t>
            </a:r>
          </a:p>
          <a:p>
            <a:pPr algn="ctr"/>
            <a:r>
              <a:rPr lang="en-US" sz="1400" dirty="0">
                <a:solidFill>
                  <a:srgbClr val="7030A0"/>
                </a:solidFill>
              </a:rPr>
              <a:t>(turn "density")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2259057-1F60-354A-682F-7ED8E720E0B2}"/>
              </a:ext>
            </a:extLst>
          </p:cNvPr>
          <p:cNvCxnSpPr>
            <a:stCxn id="8" idx="3"/>
            <a:endCxn id="3" idx="3"/>
          </p:cNvCxnSpPr>
          <p:nvPr/>
        </p:nvCxnSpPr>
        <p:spPr>
          <a:xfrm flipH="1">
            <a:off x="7532557" y="1021471"/>
            <a:ext cx="684345" cy="3306251"/>
          </a:xfrm>
          <a:prstGeom prst="bentConnector3">
            <a:avLst>
              <a:gd name="adj1" fmla="val -33404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D01199-1554-3E36-2182-AADBB12F21C0}"/>
              </a:ext>
            </a:extLst>
          </p:cNvPr>
          <p:cNvGrpSpPr/>
          <p:nvPr/>
        </p:nvGrpSpPr>
        <p:grpSpPr>
          <a:xfrm>
            <a:off x="511799" y="652139"/>
            <a:ext cx="2116683" cy="738664"/>
            <a:chOff x="511799" y="679874"/>
            <a:chExt cx="2116683" cy="7386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5BDD2FF-BAE0-A774-E900-25E4B551E010}"/>
                    </a:ext>
                  </a:extLst>
                </p:cNvPr>
                <p:cNvSpPr txBox="1"/>
                <p:nvPr/>
              </p:nvSpPr>
              <p:spPr>
                <a:xfrm>
                  <a:off x="1134989" y="679874"/>
                  <a:ext cx="87030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1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5BDD2FF-BAE0-A774-E900-25E4B551E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989" y="679874"/>
                  <a:ext cx="870302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4196" r="-699" b="-2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981EF89-4A60-978F-C203-CAE46D64A823}"/>
                    </a:ext>
                  </a:extLst>
                </p:cNvPr>
                <p:cNvSpPr txBox="1"/>
                <p:nvPr/>
              </p:nvSpPr>
              <p:spPr>
                <a:xfrm>
                  <a:off x="511799" y="895318"/>
                  <a:ext cx="211668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sz="1400" dirty="0">
                      <a:solidFill>
                        <a:srgbClr val="7030A0"/>
                      </a:solidFill>
                    </a:rPr>
                    <a:t> = relative permeability of the solenoid core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981EF89-4A60-978F-C203-CAE46D64A8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799" y="895318"/>
                  <a:ext cx="2116683" cy="523220"/>
                </a:xfrm>
                <a:prstGeom prst="rect">
                  <a:avLst/>
                </a:prstGeom>
                <a:blipFill>
                  <a:blip r:embed="rId4"/>
                  <a:stretch>
                    <a:fillRect t="-1163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4834303-D1F3-4223-9B35-1A503CCBF183}"/>
              </a:ext>
            </a:extLst>
          </p:cNvPr>
          <p:cNvSpPr txBox="1"/>
          <p:nvPr/>
        </p:nvSpPr>
        <p:spPr>
          <a:xfrm>
            <a:off x="3110413" y="1537420"/>
            <a:ext cx="2923173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For a </a:t>
            </a:r>
            <a:r>
              <a:rPr lang="en-US" b="1" dirty="0">
                <a:solidFill>
                  <a:srgbClr val="7030A0"/>
                </a:solidFill>
              </a:rPr>
              <a:t>coiled </a:t>
            </a:r>
            <a:r>
              <a:rPr lang="en-US" dirty="0">
                <a:solidFill>
                  <a:srgbClr val="7030A0"/>
                </a:solidFill>
              </a:rPr>
              <a:t>electromagnet</a:t>
            </a:r>
          </a:p>
        </p:txBody>
      </p:sp>
    </p:spTree>
    <p:extLst>
      <p:ext uri="{BB962C8B-B14F-4D97-AF65-F5344CB8AC3E}">
        <p14:creationId xmlns:p14="http://schemas.microsoft.com/office/powerpoint/2010/main" val="2943755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Biot-Savart Law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A2861-F9C0-3121-CF6F-B7F052C9A8AE}"/>
                  </a:ext>
                </a:extLst>
              </p:cNvPr>
              <p:cNvSpPr txBox="1"/>
              <p:nvPr/>
            </p:nvSpPr>
            <p:spPr>
              <a:xfrm>
                <a:off x="2681109" y="1914998"/>
                <a:ext cx="18771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A2861-F9C0-3121-CF6F-B7F052C9A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109" y="1914998"/>
                <a:ext cx="1877181" cy="369332"/>
              </a:xfrm>
              <a:prstGeom prst="rect">
                <a:avLst/>
              </a:prstGeom>
              <a:blipFill>
                <a:blip r:embed="rId2"/>
                <a:stretch>
                  <a:fillRect l="-3571" r="-2597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AD6AEF-12AD-6013-A1CB-0C6AFD915EAB}"/>
                  </a:ext>
                </a:extLst>
              </p:cNvPr>
              <p:cNvSpPr txBox="1"/>
              <p:nvPr/>
            </p:nvSpPr>
            <p:spPr>
              <a:xfrm>
                <a:off x="6020673" y="2221279"/>
                <a:ext cx="224852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= Relative permeability of electromagnet's core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AD6AEF-12AD-6013-A1CB-0C6AFD915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673" y="2221279"/>
                <a:ext cx="2248525" cy="923330"/>
              </a:xfrm>
              <a:prstGeom prst="rect">
                <a:avLst/>
              </a:prstGeom>
              <a:blipFill>
                <a:blip r:embed="rId3"/>
                <a:stretch>
                  <a:fillRect l="-2446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C080C7-4FDC-0497-78E1-9261E7F050FB}"/>
                  </a:ext>
                </a:extLst>
              </p:cNvPr>
              <p:cNvSpPr txBox="1"/>
              <p:nvPr/>
            </p:nvSpPr>
            <p:spPr>
              <a:xfrm>
                <a:off x="6020673" y="4000539"/>
                <a:ext cx="224852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= Current (in Amps) traveling through the electromagnet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C080C7-4FDC-0497-78E1-9261E7F05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673" y="4000539"/>
                <a:ext cx="2248525" cy="923330"/>
              </a:xfrm>
              <a:prstGeom prst="rect">
                <a:avLst/>
              </a:prstGeom>
              <a:blipFill>
                <a:blip r:embed="rId4"/>
                <a:stretch>
                  <a:fillRect l="-2446" t="-3289" r="-272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625EA1-3E07-9574-EA70-90C9F05C44E4}"/>
                  </a:ext>
                </a:extLst>
              </p:cNvPr>
              <p:cNvSpPr txBox="1"/>
              <p:nvPr/>
            </p:nvSpPr>
            <p:spPr>
              <a:xfrm>
                <a:off x="6020673" y="3249408"/>
                <a:ext cx="22485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= The turn density of the electromagnet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625EA1-3E07-9574-EA70-90C9F05C4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673" y="3249408"/>
                <a:ext cx="2248525" cy="646331"/>
              </a:xfrm>
              <a:prstGeom prst="rect">
                <a:avLst/>
              </a:prstGeom>
              <a:blipFill>
                <a:blip r:embed="rId5"/>
                <a:stretch>
                  <a:fillRect l="-2446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8E526E-50EA-0282-3B53-2940112259E7}"/>
                  </a:ext>
                </a:extLst>
              </p:cNvPr>
              <p:cNvSpPr txBox="1"/>
              <p:nvPr/>
            </p:nvSpPr>
            <p:spPr>
              <a:xfrm>
                <a:off x="2202108" y="2726936"/>
                <a:ext cx="283518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constant</a:t>
                </a:r>
                <a:r>
                  <a:rPr lang="en-US" dirty="0"/>
                  <a:t> throughout the length of the electromagnet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8E526E-50EA-0282-3B53-294011225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108" y="2726936"/>
                <a:ext cx="2835183" cy="923330"/>
              </a:xfrm>
              <a:prstGeom prst="rect">
                <a:avLst/>
              </a:prstGeom>
              <a:blipFill>
                <a:blip r:embed="rId6"/>
                <a:stretch>
                  <a:fillRect l="-1290" t="-3289" r="-1505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64B15D-573E-A610-7124-2114E8874B4E}"/>
                  </a:ext>
                </a:extLst>
              </p:cNvPr>
              <p:cNvSpPr txBox="1"/>
              <p:nvPr/>
            </p:nvSpPr>
            <p:spPr>
              <a:xfrm>
                <a:off x="3081314" y="4092872"/>
                <a:ext cx="14384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64B15D-573E-A610-7124-2114E8874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314" y="4092872"/>
                <a:ext cx="1438471" cy="369332"/>
              </a:xfrm>
              <a:prstGeom prst="rect">
                <a:avLst/>
              </a:prstGeom>
              <a:blipFill>
                <a:blip r:embed="rId7"/>
                <a:stretch>
                  <a:fillRect l="-4661" r="-211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CD57F21-746A-AD5C-C386-436E9FF5D4E0}"/>
              </a:ext>
            </a:extLst>
          </p:cNvPr>
          <p:cNvSpPr txBox="1"/>
          <p:nvPr/>
        </p:nvSpPr>
        <p:spPr>
          <a:xfrm>
            <a:off x="1108421" y="4904809"/>
            <a:ext cx="4619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 we increase current (I) flowing through the electromagnet, the magnetic field strength (B) of the electromagnet should rise at a </a:t>
            </a:r>
            <a:r>
              <a:rPr lang="en-US" u="sng" dirty="0"/>
              <a:t>linear</a:t>
            </a:r>
            <a:r>
              <a:rPr lang="en-US" dirty="0"/>
              <a:t> rate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8FA0AD-1AE5-B485-C0D6-EABE8EE3BEF9}"/>
              </a:ext>
            </a:extLst>
          </p:cNvPr>
          <p:cNvSpPr/>
          <p:nvPr/>
        </p:nvSpPr>
        <p:spPr>
          <a:xfrm>
            <a:off x="2696099" y="1917436"/>
            <a:ext cx="24197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2EB4D6-A03D-8F98-A301-FBB9617118E2}"/>
              </a:ext>
            </a:extLst>
          </p:cNvPr>
          <p:cNvSpPr/>
          <p:nvPr/>
        </p:nvSpPr>
        <p:spPr>
          <a:xfrm>
            <a:off x="3082977" y="4144498"/>
            <a:ext cx="24197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C22973-53BB-D61B-BA3F-8ADC55FE3B23}"/>
              </a:ext>
            </a:extLst>
          </p:cNvPr>
          <p:cNvSpPr/>
          <p:nvPr/>
        </p:nvSpPr>
        <p:spPr>
          <a:xfrm>
            <a:off x="3669681" y="4144498"/>
            <a:ext cx="30271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5E0C59-B6B6-FE6F-5732-0976C551DCE4}"/>
              </a:ext>
            </a:extLst>
          </p:cNvPr>
          <p:cNvSpPr/>
          <p:nvPr/>
        </p:nvSpPr>
        <p:spPr>
          <a:xfrm>
            <a:off x="4277812" y="4144498"/>
            <a:ext cx="24197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123707-3564-7102-9B87-BFD7FB421C58}"/>
              </a:ext>
            </a:extLst>
          </p:cNvPr>
          <p:cNvSpPr/>
          <p:nvPr/>
        </p:nvSpPr>
        <p:spPr>
          <a:xfrm>
            <a:off x="3305654" y="1917436"/>
            <a:ext cx="741690" cy="36933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1F4F6B-6597-120A-4A05-9D703721112B}"/>
              </a:ext>
            </a:extLst>
          </p:cNvPr>
          <p:cNvSpPr/>
          <p:nvPr/>
        </p:nvSpPr>
        <p:spPr>
          <a:xfrm>
            <a:off x="4321575" y="1917436"/>
            <a:ext cx="24197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848FD6A-9EA8-2912-2395-21E0786B0039}"/>
              </a:ext>
            </a:extLst>
          </p:cNvPr>
          <p:cNvCxnSpPr>
            <a:cxnSpLocks/>
            <a:stCxn id="21" idx="1"/>
            <a:endCxn id="22" idx="1"/>
          </p:cNvCxnSpPr>
          <p:nvPr/>
        </p:nvCxnSpPr>
        <p:spPr>
          <a:xfrm rot="10800000" flipH="1" flipV="1">
            <a:off x="2696099" y="2102102"/>
            <a:ext cx="386878" cy="2227062"/>
          </a:xfrm>
          <a:prstGeom prst="bentConnector3">
            <a:avLst>
              <a:gd name="adj1" fmla="val -204387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09E995A-4474-0C08-91B4-88016018780B}"/>
              </a:ext>
            </a:extLst>
          </p:cNvPr>
          <p:cNvCxnSpPr>
            <a:cxnSpLocks/>
            <a:stCxn id="5" idx="3"/>
            <a:endCxn id="17" idx="3"/>
          </p:cNvCxnSpPr>
          <p:nvPr/>
        </p:nvCxnSpPr>
        <p:spPr>
          <a:xfrm flipH="1">
            <a:off x="4519785" y="2099664"/>
            <a:ext cx="38505" cy="2177874"/>
          </a:xfrm>
          <a:prstGeom prst="bentConnector3">
            <a:avLst>
              <a:gd name="adj1" fmla="val -1742137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C9B6569-9C56-A985-0314-8CB6671F4DDC}"/>
              </a:ext>
            </a:extLst>
          </p:cNvPr>
          <p:cNvCxnSpPr>
            <a:cxnSpLocks/>
            <a:stCxn id="25" idx="0"/>
            <a:endCxn id="23" idx="2"/>
          </p:cNvCxnSpPr>
          <p:nvPr/>
        </p:nvCxnSpPr>
        <p:spPr>
          <a:xfrm rot="16200000" flipH="1">
            <a:off x="2450571" y="3143364"/>
            <a:ext cx="2596394" cy="144539"/>
          </a:xfrm>
          <a:prstGeom prst="bentConnector5">
            <a:avLst>
              <a:gd name="adj1" fmla="val -8805"/>
              <a:gd name="adj2" fmla="val -1462426"/>
              <a:gd name="adj3" fmla="val 108805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5887E2-2198-CECF-A49F-D83BE12CC731}"/>
                  </a:ext>
                </a:extLst>
              </p:cNvPr>
              <p:cNvSpPr txBox="1"/>
              <p:nvPr/>
            </p:nvSpPr>
            <p:spPr>
              <a:xfrm>
                <a:off x="6020673" y="1470149"/>
                <a:ext cx="22485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= Strength of electromagnetic field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5887E2-2198-CECF-A49F-D83BE12CC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673" y="1470149"/>
                <a:ext cx="2248525" cy="646331"/>
              </a:xfrm>
              <a:prstGeom prst="rect">
                <a:avLst/>
              </a:prstGeom>
              <a:blipFill>
                <a:blip r:embed="rId8"/>
                <a:stretch>
                  <a:fillRect l="-2446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16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2125AB-A871-8394-19DE-9523B2D075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4439838" y="1961060"/>
            <a:ext cx="2753892" cy="19283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We Needed a </a:t>
            </a:r>
            <a:r>
              <a:rPr lang="en-US" sz="3200" b="1" dirty="0">
                <a:latin typeface="+mn-lt"/>
              </a:rPr>
              <a:t>Motor Driver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2DF154-26E9-C920-1459-506C30B0E5C2}"/>
              </a:ext>
            </a:extLst>
          </p:cNvPr>
          <p:cNvCxnSpPr>
            <a:cxnSpLocks/>
          </p:cNvCxnSpPr>
          <p:nvPr/>
        </p:nvCxnSpPr>
        <p:spPr>
          <a:xfrm>
            <a:off x="3934918" y="2016179"/>
            <a:ext cx="125167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4D2763-5037-5800-A044-D629AB0ED7C9}"/>
              </a:ext>
            </a:extLst>
          </p:cNvPr>
          <p:cNvCxnSpPr>
            <a:cxnSpLocks/>
          </p:cNvCxnSpPr>
          <p:nvPr/>
        </p:nvCxnSpPr>
        <p:spPr>
          <a:xfrm>
            <a:off x="3927423" y="2273510"/>
            <a:ext cx="123668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370613C-3D9E-90BF-811B-58AFB04CA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74" y="1564919"/>
            <a:ext cx="3194103" cy="31989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5020D61-11A1-A2A2-578E-CAEDD855AE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3817"/>
          <a:stretch/>
        </p:blipFill>
        <p:spPr>
          <a:xfrm rot="5400000">
            <a:off x="6887475" y="2572962"/>
            <a:ext cx="2190768" cy="70453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1271E8-D74C-1D0E-8F14-D246F63A15E6}"/>
              </a:ext>
            </a:extLst>
          </p:cNvPr>
          <p:cNvSpPr txBox="1"/>
          <p:nvPr/>
        </p:nvSpPr>
        <p:spPr>
          <a:xfrm>
            <a:off x="597106" y="5384252"/>
            <a:ext cx="3803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b="1" dirty="0"/>
              <a:t>KB2040</a:t>
            </a:r>
            <a:r>
              <a:rPr lang="en-US" dirty="0"/>
              <a:t> can set the output voltage of the DRV8833 using pulse width modulation </a:t>
            </a:r>
            <a:r>
              <a:rPr lang="en-US" b="1" dirty="0"/>
              <a:t>(PWM)</a:t>
            </a:r>
            <a:r>
              <a:rPr lang="en-US" dirty="0"/>
              <a:t> on pins </a:t>
            </a:r>
            <a:r>
              <a:rPr lang="en-US" b="1" dirty="0">
                <a:solidFill>
                  <a:srgbClr val="00B050"/>
                </a:solidFill>
              </a:rPr>
              <a:t>D7</a:t>
            </a:r>
            <a:r>
              <a:rPr lang="en-US" dirty="0"/>
              <a:t> and </a:t>
            </a:r>
            <a:r>
              <a:rPr lang="en-US" b="1" dirty="0">
                <a:solidFill>
                  <a:srgbClr val="FFC000"/>
                </a:solidFill>
              </a:rPr>
              <a:t>D8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F1193A-A56B-C45A-6BE9-B3B93CCDF909}"/>
              </a:ext>
            </a:extLst>
          </p:cNvPr>
          <p:cNvCxnSpPr>
            <a:cxnSpLocks/>
          </p:cNvCxnSpPr>
          <p:nvPr/>
        </p:nvCxnSpPr>
        <p:spPr>
          <a:xfrm>
            <a:off x="628650" y="4308996"/>
            <a:ext cx="28575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002E87-1B30-7817-E1DC-1A9AF7BAB8CF}"/>
              </a:ext>
            </a:extLst>
          </p:cNvPr>
          <p:cNvCxnSpPr>
            <a:cxnSpLocks/>
          </p:cNvCxnSpPr>
          <p:nvPr/>
        </p:nvCxnSpPr>
        <p:spPr>
          <a:xfrm flipV="1">
            <a:off x="623653" y="4289403"/>
            <a:ext cx="0" cy="60962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A4D6C0-B9EF-B8D0-940A-BC2B223860B0}"/>
              </a:ext>
            </a:extLst>
          </p:cNvPr>
          <p:cNvCxnSpPr>
            <a:cxnSpLocks/>
          </p:cNvCxnSpPr>
          <p:nvPr/>
        </p:nvCxnSpPr>
        <p:spPr>
          <a:xfrm>
            <a:off x="476249" y="4083467"/>
            <a:ext cx="43315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48900C-AB60-DD84-A3D3-8A1115ED8ED9}"/>
              </a:ext>
            </a:extLst>
          </p:cNvPr>
          <p:cNvCxnSpPr>
            <a:cxnSpLocks/>
          </p:cNvCxnSpPr>
          <p:nvPr/>
        </p:nvCxnSpPr>
        <p:spPr>
          <a:xfrm flipV="1">
            <a:off x="476249" y="4070350"/>
            <a:ext cx="0" cy="96270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069B69-EB68-F4DB-935B-F6D25196E50E}"/>
              </a:ext>
            </a:extLst>
          </p:cNvPr>
          <p:cNvCxnSpPr>
            <a:cxnSpLocks/>
          </p:cNvCxnSpPr>
          <p:nvPr/>
        </p:nvCxnSpPr>
        <p:spPr>
          <a:xfrm flipV="1">
            <a:off x="328845" y="3840434"/>
            <a:ext cx="0" cy="134501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D9C0CF-0EDC-4F46-30CC-07A11EC930AF}"/>
              </a:ext>
            </a:extLst>
          </p:cNvPr>
          <p:cNvCxnSpPr>
            <a:cxnSpLocks/>
          </p:cNvCxnSpPr>
          <p:nvPr/>
        </p:nvCxnSpPr>
        <p:spPr>
          <a:xfrm>
            <a:off x="328845" y="3859314"/>
            <a:ext cx="580558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6CB7EA-68AC-CE53-57BE-B473C2CF958E}"/>
              </a:ext>
            </a:extLst>
          </p:cNvPr>
          <p:cNvCxnSpPr>
            <a:cxnSpLocks/>
          </p:cNvCxnSpPr>
          <p:nvPr/>
        </p:nvCxnSpPr>
        <p:spPr>
          <a:xfrm>
            <a:off x="4663502" y="3340670"/>
            <a:ext cx="50061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50E544F-7E23-43E4-EC88-F5B388457CE3}"/>
              </a:ext>
            </a:extLst>
          </p:cNvPr>
          <p:cNvCxnSpPr>
            <a:cxnSpLocks/>
          </p:cNvCxnSpPr>
          <p:nvPr/>
        </p:nvCxnSpPr>
        <p:spPr>
          <a:xfrm flipV="1">
            <a:off x="4658505" y="3321077"/>
            <a:ext cx="0" cy="186437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CEADFB-C2A6-9E93-7632-720B7A120186}"/>
              </a:ext>
            </a:extLst>
          </p:cNvPr>
          <p:cNvCxnSpPr>
            <a:cxnSpLocks/>
          </p:cNvCxnSpPr>
          <p:nvPr/>
        </p:nvCxnSpPr>
        <p:spPr>
          <a:xfrm>
            <a:off x="4511101" y="3069892"/>
            <a:ext cx="65301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043B49C-386F-DC73-A795-A8D17E9F62CD}"/>
              </a:ext>
            </a:extLst>
          </p:cNvPr>
          <p:cNvCxnSpPr>
            <a:cxnSpLocks/>
          </p:cNvCxnSpPr>
          <p:nvPr/>
        </p:nvCxnSpPr>
        <p:spPr>
          <a:xfrm flipV="1">
            <a:off x="4511101" y="3049632"/>
            <a:ext cx="0" cy="198342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A38F501-C3BC-040F-7A6A-E04F7C339A16}"/>
              </a:ext>
            </a:extLst>
          </p:cNvPr>
          <p:cNvCxnSpPr>
            <a:cxnSpLocks/>
          </p:cNvCxnSpPr>
          <p:nvPr/>
        </p:nvCxnSpPr>
        <p:spPr>
          <a:xfrm flipV="1">
            <a:off x="4204947" y="2793525"/>
            <a:ext cx="0" cy="21055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550F4F7-9430-4411-EB01-526FBFB0582B}"/>
              </a:ext>
            </a:extLst>
          </p:cNvPr>
          <p:cNvCxnSpPr>
            <a:cxnSpLocks/>
          </p:cNvCxnSpPr>
          <p:nvPr/>
        </p:nvCxnSpPr>
        <p:spPr>
          <a:xfrm flipV="1">
            <a:off x="4204947" y="2812405"/>
            <a:ext cx="959165" cy="117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9B35792-47BB-221A-EFF4-6FD4E6EBE163}"/>
              </a:ext>
            </a:extLst>
          </p:cNvPr>
          <p:cNvCxnSpPr>
            <a:cxnSpLocks/>
          </p:cNvCxnSpPr>
          <p:nvPr/>
        </p:nvCxnSpPr>
        <p:spPr>
          <a:xfrm>
            <a:off x="623653" y="4880653"/>
            <a:ext cx="3581294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9969B98-F86E-114A-F846-259F4F62D961}"/>
              </a:ext>
            </a:extLst>
          </p:cNvPr>
          <p:cNvCxnSpPr>
            <a:cxnSpLocks/>
          </p:cNvCxnSpPr>
          <p:nvPr/>
        </p:nvCxnSpPr>
        <p:spPr>
          <a:xfrm>
            <a:off x="457200" y="5016386"/>
            <a:ext cx="4058897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14C9F86-A563-BA91-AC10-B090B804F9DD}"/>
              </a:ext>
            </a:extLst>
          </p:cNvPr>
          <p:cNvCxnSpPr>
            <a:cxnSpLocks/>
          </p:cNvCxnSpPr>
          <p:nvPr/>
        </p:nvCxnSpPr>
        <p:spPr>
          <a:xfrm>
            <a:off x="328845" y="5169578"/>
            <a:ext cx="433965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271B8C9-B56A-79DB-20E2-E1D57941A7E4}"/>
              </a:ext>
            </a:extLst>
          </p:cNvPr>
          <p:cNvSpPr txBox="1"/>
          <p:nvPr/>
        </p:nvSpPr>
        <p:spPr>
          <a:xfrm>
            <a:off x="4864624" y="5245753"/>
            <a:ext cx="3571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b="1" dirty="0"/>
              <a:t>KB2040</a:t>
            </a:r>
            <a:r>
              <a:rPr lang="en-US" dirty="0"/>
              <a:t> can kill the power to the electromagnet by putting the DRV8333 into </a:t>
            </a:r>
            <a:r>
              <a:rPr lang="en-US" u="sng" dirty="0"/>
              <a:t>sleep</a:t>
            </a:r>
            <a:r>
              <a:rPr lang="en-US" dirty="0"/>
              <a:t> mode by </a:t>
            </a:r>
            <a:r>
              <a:rPr lang="en-US" i="1" dirty="0"/>
              <a:t>asserting</a:t>
            </a:r>
            <a:r>
              <a:rPr lang="en-US" dirty="0"/>
              <a:t> the </a:t>
            </a:r>
            <a:r>
              <a:rPr lang="en-US" b="1" dirty="0">
                <a:solidFill>
                  <a:srgbClr val="7030A0"/>
                </a:solidFill>
              </a:rPr>
              <a:t>SLP</a:t>
            </a:r>
            <a:r>
              <a:rPr lang="en-US" dirty="0"/>
              <a:t> pin (</a:t>
            </a:r>
            <a:r>
              <a:rPr lang="en-US" b="1" dirty="0">
                <a:solidFill>
                  <a:srgbClr val="7030A0"/>
                </a:solidFill>
              </a:rPr>
              <a:t>D6</a:t>
            </a:r>
            <a:r>
              <a:rPr lang="en-US" dirty="0"/>
              <a:t> on MCU)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110210-DC51-0E25-4016-5A2EAD75B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873499" y="2266992"/>
            <a:ext cx="889709" cy="29431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EF5C8E-66D6-43EA-6075-05948C564992}"/>
              </a:ext>
            </a:extLst>
          </p:cNvPr>
          <p:cNvCxnSpPr>
            <a:cxnSpLocks/>
          </p:cNvCxnSpPr>
          <p:nvPr/>
        </p:nvCxnSpPr>
        <p:spPr>
          <a:xfrm>
            <a:off x="6465445" y="2813580"/>
            <a:ext cx="8572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8F3D4B-0CB2-93E6-ECDA-ACEC2E9AE26E}"/>
              </a:ext>
            </a:extLst>
          </p:cNvPr>
          <p:cNvCxnSpPr>
            <a:cxnSpLocks/>
          </p:cNvCxnSpPr>
          <p:nvPr/>
        </p:nvCxnSpPr>
        <p:spPr>
          <a:xfrm>
            <a:off x="7303647" y="1999160"/>
            <a:ext cx="3269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E2AE57-8426-C3B7-CB39-DF170C34F118}"/>
              </a:ext>
            </a:extLst>
          </p:cNvPr>
          <p:cNvCxnSpPr>
            <a:cxnSpLocks/>
          </p:cNvCxnSpPr>
          <p:nvPr/>
        </p:nvCxnSpPr>
        <p:spPr>
          <a:xfrm>
            <a:off x="6482112" y="3071616"/>
            <a:ext cx="63786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011072-5E1B-66D1-8C8E-44FBE0ACA3E1}"/>
              </a:ext>
            </a:extLst>
          </p:cNvPr>
          <p:cNvCxnSpPr>
            <a:cxnSpLocks/>
          </p:cNvCxnSpPr>
          <p:nvPr/>
        </p:nvCxnSpPr>
        <p:spPr>
          <a:xfrm flipV="1">
            <a:off x="7103311" y="3057996"/>
            <a:ext cx="0" cy="7835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E10E103-9D52-6470-6FDF-8104291AA544}"/>
              </a:ext>
            </a:extLst>
          </p:cNvPr>
          <p:cNvCxnSpPr>
            <a:cxnSpLocks/>
          </p:cNvCxnSpPr>
          <p:nvPr/>
        </p:nvCxnSpPr>
        <p:spPr>
          <a:xfrm>
            <a:off x="7081838" y="3853837"/>
            <a:ext cx="55113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AD2D797-96D9-F9A4-D653-B8B2F6F27D5B}"/>
              </a:ext>
            </a:extLst>
          </p:cNvPr>
          <p:cNvCxnSpPr>
            <a:cxnSpLocks/>
          </p:cNvCxnSpPr>
          <p:nvPr/>
        </p:nvCxnSpPr>
        <p:spPr>
          <a:xfrm flipV="1">
            <a:off x="7616893" y="1999160"/>
            <a:ext cx="2982" cy="258083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69EEEAE-B88E-C24A-C936-BC9C719D8B1C}"/>
              </a:ext>
            </a:extLst>
          </p:cNvPr>
          <p:cNvCxnSpPr>
            <a:cxnSpLocks/>
          </p:cNvCxnSpPr>
          <p:nvPr/>
        </p:nvCxnSpPr>
        <p:spPr>
          <a:xfrm>
            <a:off x="4345233" y="4561863"/>
            <a:ext cx="3285357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34F7689-8C5F-C414-D57A-5A4495B9AB09}"/>
              </a:ext>
            </a:extLst>
          </p:cNvPr>
          <p:cNvCxnSpPr>
            <a:cxnSpLocks/>
          </p:cNvCxnSpPr>
          <p:nvPr/>
        </p:nvCxnSpPr>
        <p:spPr>
          <a:xfrm flipV="1">
            <a:off x="4359156" y="3627294"/>
            <a:ext cx="0" cy="95369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2F41249-717C-B46D-E968-D3C7634C8B61}"/>
              </a:ext>
            </a:extLst>
          </p:cNvPr>
          <p:cNvCxnSpPr>
            <a:cxnSpLocks/>
          </p:cNvCxnSpPr>
          <p:nvPr/>
        </p:nvCxnSpPr>
        <p:spPr>
          <a:xfrm>
            <a:off x="3924907" y="3624119"/>
            <a:ext cx="452692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2B975BE-BDD9-7A04-9C8D-5C7272B656F1}"/>
              </a:ext>
            </a:extLst>
          </p:cNvPr>
          <p:cNvSpPr txBox="1"/>
          <p:nvPr/>
        </p:nvSpPr>
        <p:spPr>
          <a:xfrm>
            <a:off x="6636000" y="2252802"/>
            <a:ext cx="493661" cy="3077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1K</a:t>
            </a:r>
            <a:r>
              <a:rPr lang="el-GR" sz="1400" b="1" dirty="0"/>
              <a:t>Ω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151601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Digital to Analog Conversion via </a:t>
            </a:r>
            <a:r>
              <a:rPr lang="en-US" sz="3200" b="1" dirty="0">
                <a:latin typeface="+mn-lt"/>
              </a:rPr>
              <a:t>PWM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66E81A-AC0F-D811-CE2C-835E12FE6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816" y="1746353"/>
            <a:ext cx="5179934" cy="46619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59E1EA-740B-8551-DEC0-A81D50791F65}"/>
                  </a:ext>
                </a:extLst>
              </p:cNvPr>
              <p:cNvSpPr txBox="1"/>
              <p:nvPr/>
            </p:nvSpPr>
            <p:spPr>
              <a:xfrm>
                <a:off x="6153619" y="3279096"/>
                <a:ext cx="183556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×0.25=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0.825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59E1EA-740B-8551-DEC0-A81D50791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619" y="3279096"/>
                <a:ext cx="1835566" cy="246221"/>
              </a:xfrm>
              <a:prstGeom prst="rect">
                <a:avLst/>
              </a:prstGeom>
              <a:blipFill>
                <a:blip r:embed="rId3"/>
                <a:stretch>
                  <a:fillRect l="-1987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7624CE-C838-FC66-7322-3B0309F5B632}"/>
                  </a:ext>
                </a:extLst>
              </p:cNvPr>
              <p:cNvSpPr txBox="1"/>
              <p:nvPr/>
            </p:nvSpPr>
            <p:spPr>
              <a:xfrm>
                <a:off x="6153619" y="4173509"/>
                <a:ext cx="172175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×0.50=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1.65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7624CE-C838-FC66-7322-3B0309F5B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619" y="4173509"/>
                <a:ext cx="1721753" cy="246221"/>
              </a:xfrm>
              <a:prstGeom prst="rect">
                <a:avLst/>
              </a:prstGeom>
              <a:blipFill>
                <a:blip r:embed="rId4"/>
                <a:stretch>
                  <a:fillRect l="-2120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E763C9-8EF4-CB93-E9B2-9BCD06083292}"/>
                  </a:ext>
                </a:extLst>
              </p:cNvPr>
              <p:cNvSpPr txBox="1"/>
              <p:nvPr/>
            </p:nvSpPr>
            <p:spPr>
              <a:xfrm>
                <a:off x="6153619" y="5067922"/>
                <a:ext cx="172175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×0.75=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2.48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E763C9-8EF4-CB93-E9B2-9BCD06083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619" y="5067922"/>
                <a:ext cx="1721753" cy="246221"/>
              </a:xfrm>
              <a:prstGeom prst="rect">
                <a:avLst/>
              </a:prstGeom>
              <a:blipFill>
                <a:blip r:embed="rId5"/>
                <a:stretch>
                  <a:fillRect l="-2120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0DAFA7-5E0C-27A1-DF17-368C41E1D07A}"/>
                  </a:ext>
                </a:extLst>
              </p:cNvPr>
              <p:cNvSpPr txBox="1"/>
              <p:nvPr/>
            </p:nvSpPr>
            <p:spPr>
              <a:xfrm>
                <a:off x="6150565" y="5598592"/>
                <a:ext cx="45057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ln>
                    <a:solidFill>
                      <a:srgbClr val="3280A4"/>
                    </a:solidFill>
                  </a:ln>
                  <a:solidFill>
                    <a:srgbClr val="3280A4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0DAFA7-5E0C-27A1-DF17-368C41E1D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565" y="5598592"/>
                <a:ext cx="450572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F2BB07-97F5-4E96-03EB-B349D674E65C}"/>
                  </a:ext>
                </a:extLst>
              </p:cNvPr>
              <p:cNvSpPr txBox="1"/>
              <p:nvPr/>
            </p:nvSpPr>
            <p:spPr>
              <a:xfrm>
                <a:off x="6150565" y="2507793"/>
                <a:ext cx="29508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ln>
                            <a:solidFill>
                              <a:srgbClr val="3280A4"/>
                            </a:solidFill>
                          </a:ln>
                          <a:solidFill>
                            <a:srgbClr val="3280A4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ln>
                    <a:solidFill>
                      <a:srgbClr val="3280A4"/>
                    </a:solidFill>
                  </a:ln>
                  <a:solidFill>
                    <a:srgbClr val="3280A4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F2BB07-97F5-4E96-03EB-B349D674E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565" y="2507793"/>
                <a:ext cx="295081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B0F3E938-4594-6564-9EBE-06C37F024198}"/>
              </a:ext>
            </a:extLst>
          </p:cNvPr>
          <p:cNvSpPr/>
          <p:nvPr/>
        </p:nvSpPr>
        <p:spPr>
          <a:xfrm>
            <a:off x="1139825" y="1836295"/>
            <a:ext cx="561559" cy="479685"/>
          </a:xfrm>
          <a:prstGeom prst="rect">
            <a:avLst/>
          </a:prstGeom>
          <a:noFill/>
          <a:ln w="38100">
            <a:solidFill>
              <a:srgbClr val="328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39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Triple Axis Magnetometer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C1C10B-0732-2E97-ACD6-4C6B08AC37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8208" y="1690689"/>
            <a:ext cx="2915587" cy="2113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3D6BB0-8420-AC7E-0C3F-49D171AC2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207" y="1625798"/>
            <a:ext cx="3070316" cy="34512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D7D9A6-9E5B-E821-B87E-7917661B56E2}"/>
              </a:ext>
            </a:extLst>
          </p:cNvPr>
          <p:cNvSpPr txBox="1"/>
          <p:nvPr/>
        </p:nvSpPr>
        <p:spPr>
          <a:xfrm>
            <a:off x="656038" y="4575548"/>
            <a:ext cx="34625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Because the </a:t>
            </a:r>
            <a:r>
              <a:rPr lang="en-US" dirty="0">
                <a:solidFill>
                  <a:srgbClr val="0070C0"/>
                </a:solidFill>
              </a:rPr>
              <a:t>magnetic fields at the </a:t>
            </a:r>
            <a:r>
              <a:rPr lang="en-US" u="sng" dirty="0">
                <a:solidFill>
                  <a:srgbClr val="0070C0"/>
                </a:solidFill>
              </a:rPr>
              <a:t>end</a:t>
            </a:r>
            <a:r>
              <a:rPr lang="en-US" dirty="0">
                <a:solidFill>
                  <a:srgbClr val="0070C0"/>
                </a:solidFill>
              </a:rPr>
              <a:t> of the electromagnet</a:t>
            </a:r>
            <a:r>
              <a:rPr lang="en-US" dirty="0"/>
              <a:t> extend in all three dimensions, we used this formula to find the </a:t>
            </a:r>
            <a:r>
              <a:rPr lang="en-US" b="1" dirty="0"/>
              <a:t>total magnitude</a:t>
            </a:r>
            <a:r>
              <a:rPr lang="en-US" dirty="0"/>
              <a:t> (strength) of the field: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021AC3-448C-039F-94D3-90C8C7B62450}"/>
                  </a:ext>
                </a:extLst>
              </p:cNvPr>
              <p:cNvSpPr txBox="1"/>
              <p:nvPr/>
            </p:nvSpPr>
            <p:spPr>
              <a:xfrm>
                <a:off x="4111023" y="5543753"/>
                <a:ext cx="3024289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𝑇𝑂𝑇𝐴𝐿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021AC3-448C-039F-94D3-90C8C7B62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1023" y="5543753"/>
                <a:ext cx="3024289" cy="563680"/>
              </a:xfrm>
              <a:prstGeom prst="rect">
                <a:avLst/>
              </a:prstGeom>
              <a:blipFill>
                <a:blip r:embed="rId4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463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566187-F8D6-418A-8DAB-DC8258D6C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08" y="1478480"/>
            <a:ext cx="7556783" cy="47724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85889E-13C9-F489-8E8D-E06C754E5A72}"/>
              </a:ext>
            </a:extLst>
          </p:cNvPr>
          <p:cNvCxnSpPr/>
          <p:nvPr/>
        </p:nvCxnSpPr>
        <p:spPr>
          <a:xfrm flipH="1">
            <a:off x="4054840" y="4129790"/>
            <a:ext cx="704538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55A107-6555-AA54-FBE7-B48A8485F2A4}"/>
              </a:ext>
            </a:extLst>
          </p:cNvPr>
          <p:cNvCxnSpPr/>
          <p:nvPr/>
        </p:nvCxnSpPr>
        <p:spPr>
          <a:xfrm flipH="1">
            <a:off x="4334656" y="5196590"/>
            <a:ext cx="704538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322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D52008-6141-503D-78C9-7CCE2EFBE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048" y="1762779"/>
            <a:ext cx="6761905" cy="486666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CF6D7BF-C259-D4E6-736D-9112C34A1832}"/>
              </a:ext>
            </a:extLst>
          </p:cNvPr>
          <p:cNvGrpSpPr/>
          <p:nvPr/>
        </p:nvGrpSpPr>
        <p:grpSpPr>
          <a:xfrm>
            <a:off x="4466986" y="1928833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BD2F0DD-B511-05A7-60EF-A182B90EB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41B85B-8175-A4B7-4B5F-9830FF58C95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5A6DF61-31D5-4345-4C92-E79A01DAB826}"/>
              </a:ext>
            </a:extLst>
          </p:cNvPr>
          <p:cNvGrpSpPr/>
          <p:nvPr/>
        </p:nvGrpSpPr>
        <p:grpSpPr>
          <a:xfrm>
            <a:off x="4765892" y="3453445"/>
            <a:ext cx="1076632" cy="369332"/>
            <a:chOff x="4704120" y="2356972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F037146-D1BA-0A1B-B19E-937B0BFA8E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2B0BD2-DC1D-707F-6D41-B5D53FCFFAD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7238CE2-DF3B-4643-E937-658BA6D3BEF2}"/>
              </a:ext>
            </a:extLst>
          </p:cNvPr>
          <p:cNvGrpSpPr/>
          <p:nvPr/>
        </p:nvGrpSpPr>
        <p:grpSpPr>
          <a:xfrm>
            <a:off x="5446778" y="4018941"/>
            <a:ext cx="1068643" cy="369332"/>
            <a:chOff x="3647644" y="4910075"/>
            <a:chExt cx="1068643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4A70E0-CB9E-B7F7-4F01-1AC4E24753D9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7CD992D-0549-6057-F11E-8D202564C9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59CB6FE-8594-38A6-CF0C-63DE3A6B001C}"/>
              </a:ext>
            </a:extLst>
          </p:cNvPr>
          <p:cNvGrpSpPr/>
          <p:nvPr/>
        </p:nvGrpSpPr>
        <p:grpSpPr>
          <a:xfrm>
            <a:off x="5783700" y="4666364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12B9459-31B1-27B4-D913-763AD422BB05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429C48F-5B1A-CB13-D4E4-409BCF6388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926C4C2-A3F2-F4A9-A90C-9D3C88E1FCD3}"/>
              </a:ext>
            </a:extLst>
          </p:cNvPr>
          <p:cNvGrpSpPr/>
          <p:nvPr/>
        </p:nvGrpSpPr>
        <p:grpSpPr>
          <a:xfrm>
            <a:off x="5936501" y="4978057"/>
            <a:ext cx="1068643" cy="369332"/>
            <a:chOff x="3647644" y="5359159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ECF431F-043B-4B7C-C9C5-8A22937BF69D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7981C57-771B-9B4B-ECBE-24645299B8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1C4853-CF5B-4FF3-36C7-4BD272BFE6CC}"/>
              </a:ext>
            </a:extLst>
          </p:cNvPr>
          <p:cNvGrpSpPr/>
          <p:nvPr/>
        </p:nvGrpSpPr>
        <p:grpSpPr>
          <a:xfrm>
            <a:off x="3630656" y="5543893"/>
            <a:ext cx="1076632" cy="369332"/>
            <a:chOff x="2157212" y="5356391"/>
            <a:chExt cx="1076632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1ACFB98-099C-A8CA-2131-DC4C8AC5E09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4C469A6-1DB5-833E-AD00-C8548A1C79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4F4D9E-F012-5EC3-2369-E6C6A2E76864}"/>
              </a:ext>
            </a:extLst>
          </p:cNvPr>
          <p:cNvGrpSpPr/>
          <p:nvPr/>
        </p:nvGrpSpPr>
        <p:grpSpPr>
          <a:xfrm>
            <a:off x="5605194" y="5928215"/>
            <a:ext cx="1076632" cy="369332"/>
            <a:chOff x="2157212" y="5356391"/>
            <a:chExt cx="1076632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29CF050-FD6C-629B-2C9B-439E5246DE0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4A7164E-50DC-6DF2-B560-0FB0264B04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470783B-2F83-D2B1-46A0-DD9C9D2D3183}"/>
              </a:ext>
            </a:extLst>
          </p:cNvPr>
          <p:cNvGrpSpPr/>
          <p:nvPr/>
        </p:nvGrpSpPr>
        <p:grpSpPr>
          <a:xfrm>
            <a:off x="5927109" y="6112881"/>
            <a:ext cx="1076632" cy="369332"/>
            <a:chOff x="2157212" y="5356391"/>
            <a:chExt cx="1076632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E6A601E-1295-A4BF-75B7-FD278EB562A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E110B5F-466A-878B-EC75-C613115981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7E8C337-C771-2B7A-B929-DDD690C034F1}"/>
              </a:ext>
            </a:extLst>
          </p:cNvPr>
          <p:cNvGrpSpPr/>
          <p:nvPr/>
        </p:nvGrpSpPr>
        <p:grpSpPr>
          <a:xfrm>
            <a:off x="4909944" y="5161735"/>
            <a:ext cx="1076632" cy="369332"/>
            <a:chOff x="2157212" y="5356391"/>
            <a:chExt cx="1076632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DC5E35-84DF-7C9C-B224-DDE22E48436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FB6F83A-A35A-BC7B-EC90-73E1AA3080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A92D13-EE87-C02F-2EFE-F040E5D3151A}"/>
              </a:ext>
            </a:extLst>
          </p:cNvPr>
          <p:cNvGrpSpPr/>
          <p:nvPr/>
        </p:nvGrpSpPr>
        <p:grpSpPr>
          <a:xfrm>
            <a:off x="3692948" y="6307306"/>
            <a:ext cx="1076632" cy="369332"/>
            <a:chOff x="2157212" y="5356391"/>
            <a:chExt cx="1076632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76332C3-58B4-BF37-197C-4A49A921788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CF6B3B4-CE68-8FDE-3C63-D3FEE37EBF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7128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FB590C92-D7F8-B578-48E7-93369DD55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046" y="1758499"/>
            <a:ext cx="6761905" cy="42857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CF6D7BF-C259-D4E6-736D-9112C34A1832}"/>
              </a:ext>
            </a:extLst>
          </p:cNvPr>
          <p:cNvGrpSpPr/>
          <p:nvPr/>
        </p:nvGrpSpPr>
        <p:grpSpPr>
          <a:xfrm>
            <a:off x="2173486" y="2498459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BD2F0DD-B511-05A7-60EF-A182B90EB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41B85B-8175-A4B7-4B5F-9830FF58C95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5A6DF61-31D5-4345-4C92-E79A01DAB826}"/>
              </a:ext>
            </a:extLst>
          </p:cNvPr>
          <p:cNvGrpSpPr/>
          <p:nvPr/>
        </p:nvGrpSpPr>
        <p:grpSpPr>
          <a:xfrm>
            <a:off x="4113820" y="2717632"/>
            <a:ext cx="1076632" cy="369332"/>
            <a:chOff x="4704120" y="2356972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F037146-D1BA-0A1B-B19E-937B0BFA8E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2B0BD2-DC1D-707F-6D41-B5D53FCFFAD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7238CE2-DF3B-4643-E937-658BA6D3BEF2}"/>
              </a:ext>
            </a:extLst>
          </p:cNvPr>
          <p:cNvGrpSpPr/>
          <p:nvPr/>
        </p:nvGrpSpPr>
        <p:grpSpPr>
          <a:xfrm>
            <a:off x="5199100" y="3633105"/>
            <a:ext cx="1068643" cy="369332"/>
            <a:chOff x="3647644" y="4910075"/>
            <a:chExt cx="1068643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4A70E0-CB9E-B7F7-4F01-1AC4E24753D9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7CD992D-0549-6057-F11E-8D202564C9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59CB6FE-8594-38A6-CF0C-63DE3A6B001C}"/>
              </a:ext>
            </a:extLst>
          </p:cNvPr>
          <p:cNvGrpSpPr/>
          <p:nvPr/>
        </p:nvGrpSpPr>
        <p:grpSpPr>
          <a:xfrm>
            <a:off x="3062320" y="3834980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12B9459-31B1-27B4-D913-763AD422BB05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429C48F-5B1A-CB13-D4E4-409BCF6388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926C4C2-A3F2-F4A9-A90C-9D3C88E1FCD3}"/>
              </a:ext>
            </a:extLst>
          </p:cNvPr>
          <p:cNvGrpSpPr/>
          <p:nvPr/>
        </p:nvGrpSpPr>
        <p:grpSpPr>
          <a:xfrm>
            <a:off x="6585235" y="4779206"/>
            <a:ext cx="1068643" cy="369332"/>
            <a:chOff x="3647644" y="5359159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ECF431F-043B-4B7C-C9C5-8A22937BF69D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7981C57-771B-9B4B-ECBE-24645299B8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1C4853-CF5B-4FF3-36C7-4BD272BFE6CC}"/>
              </a:ext>
            </a:extLst>
          </p:cNvPr>
          <p:cNvGrpSpPr/>
          <p:nvPr/>
        </p:nvGrpSpPr>
        <p:grpSpPr>
          <a:xfrm>
            <a:off x="6728950" y="5151983"/>
            <a:ext cx="1076632" cy="369332"/>
            <a:chOff x="2157212" y="5356391"/>
            <a:chExt cx="1076632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1ACFB98-099C-A8CA-2131-DC4C8AC5E09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4C469A6-1DB5-833E-AD00-C8548A1C79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4F4D9E-F012-5EC3-2369-E6C6A2E76864}"/>
              </a:ext>
            </a:extLst>
          </p:cNvPr>
          <p:cNvGrpSpPr/>
          <p:nvPr/>
        </p:nvGrpSpPr>
        <p:grpSpPr>
          <a:xfrm>
            <a:off x="4049129" y="5727701"/>
            <a:ext cx="1076632" cy="369332"/>
            <a:chOff x="2157212" y="5356391"/>
            <a:chExt cx="1076632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29CF050-FD6C-629B-2C9B-439E5246DE0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4A7164E-50DC-6DF2-B560-0FB0264B04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7E8C337-C771-2B7A-B929-DDD690C034F1}"/>
              </a:ext>
            </a:extLst>
          </p:cNvPr>
          <p:cNvGrpSpPr/>
          <p:nvPr/>
        </p:nvGrpSpPr>
        <p:grpSpPr>
          <a:xfrm>
            <a:off x="5694906" y="4971285"/>
            <a:ext cx="1076632" cy="369332"/>
            <a:chOff x="2157212" y="5356391"/>
            <a:chExt cx="1076632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DC5E35-84DF-7C9C-B224-DDE22E48436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FB6F83A-A35A-BC7B-EC90-73E1AA3080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024B4B0-CA8B-A937-863E-EEF2127A16FE}"/>
              </a:ext>
            </a:extLst>
          </p:cNvPr>
          <p:cNvSpPr txBox="1"/>
          <p:nvPr/>
        </p:nvSpPr>
        <p:spPr>
          <a:xfrm>
            <a:off x="5634908" y="3979146"/>
            <a:ext cx="22685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Use a prime number to avoid </a:t>
            </a:r>
            <a:r>
              <a:rPr lang="en-US" sz="1600" i="1" dirty="0">
                <a:solidFill>
                  <a:srgbClr val="7030A0"/>
                </a:solidFill>
              </a:rPr>
              <a:t>aliasing</a:t>
            </a:r>
            <a:r>
              <a:rPr lang="en-US" sz="1600" dirty="0">
                <a:solidFill>
                  <a:srgbClr val="7030A0"/>
                </a:solidFill>
              </a:rPr>
              <a:t> with the </a:t>
            </a:r>
            <a:r>
              <a:rPr lang="en-US" sz="1600" b="1" dirty="0">
                <a:solidFill>
                  <a:srgbClr val="7030A0"/>
                </a:solidFill>
              </a:rPr>
              <a:t>PWM</a:t>
            </a:r>
            <a:r>
              <a:rPr lang="en-US" sz="1600" dirty="0">
                <a:solidFill>
                  <a:srgbClr val="7030A0"/>
                </a:solidFill>
              </a:rPr>
              <a:t> voltage </a:t>
            </a:r>
            <a:r>
              <a:rPr lang="en-US" sz="1600" u="sng" dirty="0">
                <a:solidFill>
                  <a:srgbClr val="7030A0"/>
                </a:solidFill>
              </a:rPr>
              <a:t>waves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5B05669-1D16-1A8C-A288-8B9601B2C8AB}"/>
              </a:ext>
            </a:extLst>
          </p:cNvPr>
          <p:cNvCxnSpPr>
            <a:stCxn id="37" idx="1"/>
          </p:cNvCxnSpPr>
          <p:nvPr/>
        </p:nvCxnSpPr>
        <p:spPr>
          <a:xfrm flipH="1" flipV="1">
            <a:off x="3755494" y="4394644"/>
            <a:ext cx="1879414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61439C3-5033-A6F8-B523-599E23DC71FC}"/>
                  </a:ext>
                </a:extLst>
              </p:cNvPr>
              <p:cNvSpPr txBox="1"/>
              <p:nvPr/>
            </p:nvSpPr>
            <p:spPr>
              <a:xfrm>
                <a:off x="6262717" y="3696639"/>
                <a:ext cx="115275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10%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→50%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61439C3-5033-A6F8-B523-599E23DC7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717" y="3696639"/>
                <a:ext cx="1152751" cy="246221"/>
              </a:xfrm>
              <a:prstGeom prst="rect">
                <a:avLst/>
              </a:prstGeom>
              <a:blipFill>
                <a:blip r:embed="rId3"/>
                <a:stretch>
                  <a:fillRect l="-3704" r="-3704"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C6E337F-36E8-28CD-EAA9-E3571EBF4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2939" y="5826652"/>
            <a:ext cx="476190" cy="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23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55EA05-96C1-845D-FC3D-6E01B4309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289" y="1784618"/>
            <a:ext cx="5661423" cy="48857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3AB55C-BD0A-2CA9-73DD-A96A1FCA9D04}"/>
              </a:ext>
            </a:extLst>
          </p:cNvPr>
          <p:cNvGrpSpPr/>
          <p:nvPr/>
        </p:nvGrpSpPr>
        <p:grpSpPr>
          <a:xfrm>
            <a:off x="3113281" y="1747387"/>
            <a:ext cx="1076632" cy="369332"/>
            <a:chOff x="4968362" y="2079211"/>
            <a:chExt cx="1076632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464A121-2402-9906-A303-7959C91E61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914FB61-83FD-E314-4C57-889C6C11DCDA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1F3AC93-A6B5-4DD8-478E-C15FA1C68AD5}"/>
              </a:ext>
            </a:extLst>
          </p:cNvPr>
          <p:cNvGrpSpPr/>
          <p:nvPr/>
        </p:nvGrpSpPr>
        <p:grpSpPr>
          <a:xfrm>
            <a:off x="3528869" y="3345201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A57E025-544E-8E8C-C139-B30E57E72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83244A7-52DE-D818-1B89-E6D0DD749A22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E122E7E-7B85-1169-ACB3-5848564EE37A}"/>
              </a:ext>
            </a:extLst>
          </p:cNvPr>
          <p:cNvGrpSpPr/>
          <p:nvPr/>
        </p:nvGrpSpPr>
        <p:grpSpPr>
          <a:xfrm>
            <a:off x="6868389" y="6210201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C438789-984D-3555-0A8D-372BB148ECCE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DCC12F8-6981-6D02-CBD0-2FFA53EFD7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3738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3C8289-9AB2-283F-8E5E-7C2A6DBD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90" y="1806424"/>
            <a:ext cx="6047619" cy="20571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3AB55C-BD0A-2CA9-73DD-A96A1FCA9D04}"/>
              </a:ext>
            </a:extLst>
          </p:cNvPr>
          <p:cNvGrpSpPr/>
          <p:nvPr/>
        </p:nvGrpSpPr>
        <p:grpSpPr>
          <a:xfrm>
            <a:off x="5685019" y="1983873"/>
            <a:ext cx="1076632" cy="369332"/>
            <a:chOff x="4968362" y="2079211"/>
            <a:chExt cx="1076632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464A121-2402-9906-A303-7959C91E61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914FB61-83FD-E314-4C57-889C6C11DCDA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ACF272-91B0-73A5-90F9-AE600DC0DC36}"/>
              </a:ext>
            </a:extLst>
          </p:cNvPr>
          <p:cNvGrpSpPr/>
          <p:nvPr/>
        </p:nvGrpSpPr>
        <p:grpSpPr>
          <a:xfrm>
            <a:off x="6948334" y="2736389"/>
            <a:ext cx="1076632" cy="369332"/>
            <a:chOff x="4704120" y="2356972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5449B48-D580-074D-A3B0-395F20C916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7180AF-D967-288E-0576-3156FC834CF4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75172E-5EA2-AE37-C46F-BB4E55DA7CAD}"/>
              </a:ext>
            </a:extLst>
          </p:cNvPr>
          <p:cNvGrpSpPr/>
          <p:nvPr/>
        </p:nvGrpSpPr>
        <p:grpSpPr>
          <a:xfrm>
            <a:off x="7570681" y="3131338"/>
            <a:ext cx="1068643" cy="369332"/>
            <a:chOff x="3647644" y="4910075"/>
            <a:chExt cx="1068643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CB6276-F5B0-1319-D0EC-E96574475664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AC46DFA-E47F-E918-03C0-AF4F848163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353C981-3C25-3A2A-6D7C-40A5DA5E7288}"/>
              </a:ext>
            </a:extLst>
          </p:cNvPr>
          <p:cNvGrpSpPr/>
          <p:nvPr/>
        </p:nvGrpSpPr>
        <p:grpSpPr>
          <a:xfrm>
            <a:off x="6852928" y="3526596"/>
            <a:ext cx="1064340" cy="369332"/>
            <a:chOff x="3647644" y="5421073"/>
            <a:chExt cx="1064340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418DF38-AF96-DB72-720C-BE32F7D2CCC4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F996245-54BF-8EAB-3691-0FE3F2E86D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4419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95A557-6FA8-A4AA-4699-D52E3C0B6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663" y="1212122"/>
            <a:ext cx="6666305" cy="54168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AC6616-DC7C-7D42-B945-D1F85C6B7098}"/>
                  </a:ext>
                </a:extLst>
              </p:cNvPr>
              <p:cNvSpPr txBox="1"/>
              <p:nvPr/>
            </p:nvSpPr>
            <p:spPr>
              <a:xfrm>
                <a:off x="2574896" y="2487914"/>
                <a:ext cx="18771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AC6616-DC7C-7D42-B945-D1F85C6B7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896" y="2487914"/>
                <a:ext cx="187718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D66703-9E9B-36D3-D4DF-E7DD0D12462C}"/>
              </a:ext>
            </a:extLst>
          </p:cNvPr>
          <p:cNvCxnSpPr/>
          <p:nvPr/>
        </p:nvCxnSpPr>
        <p:spPr>
          <a:xfrm flipH="1">
            <a:off x="2708598" y="1903751"/>
            <a:ext cx="93859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192AEE6-9071-A423-2DC2-F812A5D40102}"/>
              </a:ext>
            </a:extLst>
          </p:cNvPr>
          <p:cNvSpPr txBox="1"/>
          <p:nvPr/>
        </p:nvSpPr>
        <p:spPr>
          <a:xfrm>
            <a:off x="4706911" y="4579495"/>
            <a:ext cx="26532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There appear to be some small </a:t>
            </a:r>
            <a:r>
              <a:rPr lang="en-US" i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non-linear</a:t>
            </a: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effects in our setup that we need to further investigate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A8A632-6747-54DC-DADD-EFE81A674220}"/>
              </a:ext>
            </a:extLst>
          </p:cNvPr>
          <p:cNvCxnSpPr>
            <a:cxnSpLocks/>
          </p:cNvCxnSpPr>
          <p:nvPr/>
        </p:nvCxnSpPr>
        <p:spPr>
          <a:xfrm flipH="1" flipV="1">
            <a:off x="5299023" y="3814997"/>
            <a:ext cx="592112" cy="76449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C14C668-5B47-421D-2875-09E11A33D61D}"/>
              </a:ext>
            </a:extLst>
          </p:cNvPr>
          <p:cNvSpPr/>
          <p:nvPr/>
        </p:nvSpPr>
        <p:spPr>
          <a:xfrm>
            <a:off x="3175001" y="2487913"/>
            <a:ext cx="796924" cy="40133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F46134-60A1-FC63-6C77-8C966B833CD3}"/>
              </a:ext>
            </a:extLst>
          </p:cNvPr>
          <p:cNvSpPr txBox="1"/>
          <p:nvPr/>
        </p:nvSpPr>
        <p:spPr>
          <a:xfrm>
            <a:off x="2921392" y="2878801"/>
            <a:ext cx="130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constants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872953B-2587-C327-4540-7C658DF04A0F}"/>
              </a:ext>
            </a:extLst>
          </p:cNvPr>
          <p:cNvCxnSpPr/>
          <p:nvPr/>
        </p:nvCxnSpPr>
        <p:spPr>
          <a:xfrm flipH="1">
            <a:off x="5233904" y="6416554"/>
            <a:ext cx="93859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89DB339-4EF6-13A6-8231-46DA37A761E5}"/>
              </a:ext>
            </a:extLst>
          </p:cNvPr>
          <p:cNvCxnSpPr>
            <a:cxnSpLocks/>
          </p:cNvCxnSpPr>
          <p:nvPr/>
        </p:nvCxnSpPr>
        <p:spPr>
          <a:xfrm>
            <a:off x="411845" y="3606600"/>
            <a:ext cx="93859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792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Team </a:t>
            </a:r>
            <a:r>
              <a:rPr lang="en-US" sz="3200" b="1" dirty="0">
                <a:latin typeface="+mn-lt"/>
              </a:rPr>
              <a:t>10</a:t>
            </a:r>
            <a:r>
              <a:rPr lang="en-US" sz="3200" dirty="0">
                <a:latin typeface="+mn-lt"/>
              </a:rPr>
              <a:t> – 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05403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0070C0"/>
                </a:solidFill>
              </a:rPr>
              <a:t>magnetic field lines </a:t>
            </a:r>
            <a:r>
              <a:rPr lang="en-US" sz="2400" dirty="0"/>
              <a:t>within a </a:t>
            </a:r>
            <a:r>
              <a:rPr lang="en-US" sz="2400" b="1" dirty="0"/>
              <a:t>solenoid</a:t>
            </a:r>
            <a:r>
              <a:rPr lang="en-US" sz="2400" dirty="0"/>
              <a:t> (such as a coiled electromagnet) are </a:t>
            </a:r>
            <a:r>
              <a:rPr lang="en-US" sz="2400" b="1" dirty="0">
                <a:solidFill>
                  <a:srgbClr val="00B050"/>
                </a:solidFill>
              </a:rPr>
              <a:t>all parallel </a:t>
            </a:r>
            <a:r>
              <a:rPr lang="en-US" sz="2400" dirty="0"/>
              <a:t>but loop around at either end of the coils</a:t>
            </a:r>
          </a:p>
          <a:p>
            <a:r>
              <a:rPr lang="en-US" sz="2400" dirty="0"/>
              <a:t>From the </a:t>
            </a:r>
            <a:r>
              <a:rPr lang="en-US" sz="2400" b="1" dirty="0">
                <a:solidFill>
                  <a:srgbClr val="FF0000"/>
                </a:solidFill>
              </a:rPr>
              <a:t>Biot-Savart law</a:t>
            </a:r>
            <a:r>
              <a:rPr lang="en-US" sz="2400" dirty="0"/>
              <a:t>, the strength of the magnetic field in a solenoid is </a:t>
            </a:r>
            <a:r>
              <a:rPr lang="en-US" sz="2400" b="1" dirty="0">
                <a:solidFill>
                  <a:srgbClr val="FF0000"/>
                </a:solidFill>
              </a:rPr>
              <a:t>directly proportional to the current </a:t>
            </a:r>
            <a:r>
              <a:rPr lang="en-US" sz="2400" dirty="0"/>
              <a:t>flowing through the electromagnet coils</a:t>
            </a:r>
          </a:p>
          <a:p>
            <a:r>
              <a:rPr lang="en-US" sz="2400" dirty="0"/>
              <a:t>We can use the 5V taken directly from the USB port on the laptop to power a </a:t>
            </a:r>
            <a:r>
              <a:rPr lang="en-US" sz="2400" b="1" dirty="0">
                <a:solidFill>
                  <a:srgbClr val="7030A0"/>
                </a:solidFill>
              </a:rPr>
              <a:t>motor driver</a:t>
            </a:r>
            <a:r>
              <a:rPr lang="en-US" sz="2400" dirty="0"/>
              <a:t>, which in turn pushes the current through the electromagnet</a:t>
            </a:r>
          </a:p>
          <a:p>
            <a:r>
              <a:rPr lang="en-US" sz="2400" dirty="0"/>
              <a:t>We can control the motor driver using </a:t>
            </a:r>
            <a:r>
              <a:rPr lang="en-US" sz="2400" b="1" dirty="0"/>
              <a:t>PWM</a:t>
            </a:r>
            <a:r>
              <a:rPr lang="en-US" sz="2400" dirty="0"/>
              <a:t> signaling</a:t>
            </a:r>
          </a:p>
          <a:p>
            <a:r>
              <a:rPr lang="en-US" sz="2400" dirty="0"/>
              <a:t>We can measure magnetic field strength at the end of the electromagnet using a </a:t>
            </a:r>
            <a:r>
              <a:rPr lang="en-US" sz="2400" b="1" dirty="0">
                <a:solidFill>
                  <a:srgbClr val="0070C0"/>
                </a:solidFill>
              </a:rPr>
              <a:t>3-axis magnetometer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37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11179</TotalTime>
  <Words>549</Words>
  <Application>Microsoft Office PowerPoint</Application>
  <PresentationFormat>On-screen Show (4:3)</PresentationFormat>
  <Paragraphs>107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PowerPoint Presentation</vt:lpstr>
      <vt:lpstr>Our Challenge: Measure An Electromagnet</vt:lpstr>
      <vt:lpstr>Electromagnetism</vt:lpstr>
      <vt:lpstr>The Biot-Savart Law</vt:lpstr>
      <vt:lpstr>The Biot-Savart Law</vt:lpstr>
      <vt:lpstr>The Biot-Savart Law</vt:lpstr>
      <vt:lpstr>We Needed a Motor Driver</vt:lpstr>
      <vt:lpstr>Digital to Analog Conversion via PWM</vt:lpstr>
      <vt:lpstr>Triple Axis Magnetometer</vt:lpstr>
      <vt:lpstr>Our Approach</vt:lpstr>
      <vt:lpstr>Our Solution</vt:lpstr>
      <vt:lpstr>Our Solution</vt:lpstr>
      <vt:lpstr>Our Solution</vt:lpstr>
      <vt:lpstr>Our Solution</vt:lpstr>
      <vt:lpstr>Our Results</vt:lpstr>
      <vt:lpstr>Team 10 – What We Learned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Biersach, David</cp:lastModifiedBy>
  <cp:revision>1083</cp:revision>
  <cp:lastPrinted>2015-06-01T00:45:11Z</cp:lastPrinted>
  <dcterms:created xsi:type="dcterms:W3CDTF">2014-09-21T17:58:26Z</dcterms:created>
  <dcterms:modified xsi:type="dcterms:W3CDTF">2023-12-21T02:49:09Z</dcterms:modified>
</cp:coreProperties>
</file>