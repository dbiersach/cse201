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009" r:id="rId2"/>
    <p:sldId id="1149" r:id="rId3"/>
    <p:sldId id="418" r:id="rId4"/>
    <p:sldId id="1301" r:id="rId5"/>
    <p:sldId id="1309" r:id="rId6"/>
    <p:sldId id="1179" r:id="rId7"/>
    <p:sldId id="1092" r:id="rId8"/>
    <p:sldId id="423" r:id="rId9"/>
    <p:sldId id="1303" r:id="rId10"/>
    <p:sldId id="1304" r:id="rId11"/>
    <p:sldId id="1300" r:id="rId12"/>
    <p:sldId id="432" r:id="rId13"/>
    <p:sldId id="1310" r:id="rId1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C1E"/>
    <a:srgbClr val="277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AEC6BB-84CC-4255-977A-84CCCA04C56F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80614C5-9904-4F95-9017-793650C26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221CDC81-E4B5-40C6-8474-F89FE434FB67}" type="parTrans" cxnId="{5BDA9C60-0E34-4DE7-BE10-3D2188B3ECDA}">
      <dgm:prSet/>
      <dgm:spPr/>
      <dgm:t>
        <a:bodyPr/>
        <a:lstStyle/>
        <a:p>
          <a:endParaRPr lang="en-US"/>
        </a:p>
      </dgm:t>
    </dgm:pt>
    <dgm:pt modelId="{9CDE496C-C787-44AD-BAA3-609ED9919DAA}" type="sibTrans" cxnId="{5BDA9C60-0E34-4DE7-BE10-3D2188B3ECDA}">
      <dgm:prSet/>
      <dgm:spPr/>
      <dgm:t>
        <a:bodyPr/>
        <a:lstStyle/>
        <a:p>
          <a:endParaRPr lang="en-US"/>
        </a:p>
      </dgm:t>
    </dgm:pt>
    <dgm:pt modelId="{3E85A460-BC7B-4FD9-AEE2-9E795D248333}">
      <dgm:prSet phldrT="[Text]"/>
      <dgm:spPr/>
      <dgm:t>
        <a:bodyPr/>
        <a:lstStyle/>
        <a:p>
          <a:r>
            <a:rPr lang="en-US" dirty="0"/>
            <a:t>Chemistry</a:t>
          </a:r>
        </a:p>
      </dgm:t>
    </dgm:pt>
    <dgm:pt modelId="{CA899679-1E9D-41F9-BFAC-DF581959865E}" type="parTrans" cxnId="{7F36A6D3-D0EA-48C8-8C4A-CCCF5A99421B}">
      <dgm:prSet/>
      <dgm:spPr/>
      <dgm:t>
        <a:bodyPr/>
        <a:lstStyle/>
        <a:p>
          <a:endParaRPr lang="en-US"/>
        </a:p>
      </dgm:t>
    </dgm:pt>
    <dgm:pt modelId="{DDBAF3DD-E87A-49F5-A5F3-7FFC427E2E92}" type="sibTrans" cxnId="{7F36A6D3-D0EA-48C8-8C4A-CCCF5A99421B}">
      <dgm:prSet/>
      <dgm:spPr/>
      <dgm:t>
        <a:bodyPr/>
        <a:lstStyle/>
        <a:p>
          <a:endParaRPr lang="en-US"/>
        </a:p>
      </dgm:t>
    </dgm:pt>
    <dgm:pt modelId="{86BB73EC-BC5E-4DA5-B50A-A277B86451CD}">
      <dgm:prSet phldrT="[Text]" custT="1"/>
      <dgm:spPr/>
      <dgm:t>
        <a:bodyPr/>
        <a:lstStyle/>
        <a:p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Physics</a:t>
          </a:r>
        </a:p>
      </dgm:t>
    </dgm:pt>
    <dgm:pt modelId="{6E3D9B7B-5B11-4A90-9925-1FA84CC06EAD}" type="parTrans" cxnId="{B3022DA5-D229-45B6-BFF8-C38A811866A0}">
      <dgm:prSet/>
      <dgm:spPr/>
      <dgm:t>
        <a:bodyPr/>
        <a:lstStyle/>
        <a:p>
          <a:endParaRPr lang="en-US"/>
        </a:p>
      </dgm:t>
    </dgm:pt>
    <dgm:pt modelId="{58FF506B-D7FA-466E-B1A0-61B0C76BED3A}" type="sibTrans" cxnId="{B3022DA5-D229-45B6-BFF8-C38A811866A0}">
      <dgm:prSet/>
      <dgm:spPr/>
      <dgm:t>
        <a:bodyPr/>
        <a:lstStyle/>
        <a:p>
          <a:endParaRPr lang="en-US"/>
        </a:p>
      </dgm:t>
    </dgm:pt>
    <dgm:pt modelId="{CB09E91F-A8FC-45E9-AC30-F3BA52F25647}">
      <dgm:prSet/>
      <dgm:spPr/>
      <dgm:t>
        <a:bodyPr/>
        <a:lstStyle/>
        <a:p>
          <a:r>
            <a:rPr lang="en-US" dirty="0"/>
            <a:t>Math</a:t>
          </a:r>
        </a:p>
      </dgm:t>
    </dgm:pt>
    <dgm:pt modelId="{2459A130-510B-4410-9385-22FC445838C7}" type="parTrans" cxnId="{452E81A1-4F6B-4421-8EBB-4295DBBCAF45}">
      <dgm:prSet/>
      <dgm:spPr/>
      <dgm:t>
        <a:bodyPr/>
        <a:lstStyle/>
        <a:p>
          <a:endParaRPr lang="en-US"/>
        </a:p>
      </dgm:t>
    </dgm:pt>
    <dgm:pt modelId="{B7AE32C1-E947-43E2-89C9-05C990693351}" type="sibTrans" cxnId="{452E81A1-4F6B-4421-8EBB-4295DBBCAF45}">
      <dgm:prSet/>
      <dgm:spPr/>
      <dgm:t>
        <a:bodyPr/>
        <a:lstStyle/>
        <a:p>
          <a:endParaRPr lang="en-US"/>
        </a:p>
      </dgm:t>
    </dgm:pt>
    <dgm:pt modelId="{6B26F8FE-CC55-453E-923C-D858AE443071}" type="pres">
      <dgm:prSet presAssocID="{5DAEC6BB-84CC-4255-977A-84CCCA04C56F}" presName="linearFlow" presStyleCnt="0">
        <dgm:presLayoutVars>
          <dgm:resizeHandles val="exact"/>
        </dgm:presLayoutVars>
      </dgm:prSet>
      <dgm:spPr/>
    </dgm:pt>
    <dgm:pt modelId="{37B077BA-B39C-41D1-8CCA-17980D7006AE}" type="pres">
      <dgm:prSet presAssocID="{C80614C5-9904-4F95-9017-793650C26D7F}" presName="node" presStyleLbl="node1" presStyleIdx="0" presStyleCnt="4">
        <dgm:presLayoutVars>
          <dgm:bulletEnabled val="1"/>
        </dgm:presLayoutVars>
      </dgm:prSet>
      <dgm:spPr/>
    </dgm:pt>
    <dgm:pt modelId="{E37806A4-D134-417B-832C-4578F97C6392}" type="pres">
      <dgm:prSet presAssocID="{9CDE496C-C787-44AD-BAA3-609ED9919DAA}" presName="sibTrans" presStyleLbl="sibTrans2D1" presStyleIdx="0" presStyleCnt="3" custAng="10800000"/>
      <dgm:spPr/>
    </dgm:pt>
    <dgm:pt modelId="{DAA68D0B-1029-417B-9C5F-50F24752AA7B}" type="pres">
      <dgm:prSet presAssocID="{9CDE496C-C787-44AD-BAA3-609ED9919DAA}" presName="connectorText" presStyleLbl="sibTrans2D1" presStyleIdx="0" presStyleCnt="3"/>
      <dgm:spPr/>
    </dgm:pt>
    <dgm:pt modelId="{3A7904FB-6E17-46AA-AC5F-B2D6ED8060D2}" type="pres">
      <dgm:prSet presAssocID="{3E85A460-BC7B-4FD9-AEE2-9E795D248333}" presName="node" presStyleLbl="node1" presStyleIdx="1" presStyleCnt="4">
        <dgm:presLayoutVars>
          <dgm:bulletEnabled val="1"/>
        </dgm:presLayoutVars>
      </dgm:prSet>
      <dgm:spPr/>
    </dgm:pt>
    <dgm:pt modelId="{17B933A6-3C62-4CB5-91F7-5BB0CC5E0DE6}" type="pres">
      <dgm:prSet presAssocID="{DDBAF3DD-E87A-49F5-A5F3-7FFC427E2E92}" presName="sibTrans" presStyleLbl="sibTrans2D1" presStyleIdx="1" presStyleCnt="3" custAng="10800000"/>
      <dgm:spPr/>
    </dgm:pt>
    <dgm:pt modelId="{9CC86A77-44A6-455F-B2B5-5504333CA329}" type="pres">
      <dgm:prSet presAssocID="{DDBAF3DD-E87A-49F5-A5F3-7FFC427E2E92}" presName="connectorText" presStyleLbl="sibTrans2D1" presStyleIdx="1" presStyleCnt="3"/>
      <dgm:spPr/>
    </dgm:pt>
    <dgm:pt modelId="{6A8CA3B9-53F0-4064-A0C2-60EDEAC69C50}" type="pres">
      <dgm:prSet presAssocID="{86BB73EC-BC5E-4DA5-B50A-A277B86451CD}" presName="node" presStyleLbl="node1" presStyleIdx="2" presStyleCnt="4">
        <dgm:presLayoutVars>
          <dgm:bulletEnabled val="1"/>
        </dgm:presLayoutVars>
      </dgm:prSet>
      <dgm:spPr/>
    </dgm:pt>
    <dgm:pt modelId="{43F63DD0-B419-4A4F-9070-C08E24209076}" type="pres">
      <dgm:prSet presAssocID="{58FF506B-D7FA-466E-B1A0-61B0C76BED3A}" presName="sibTrans" presStyleLbl="sibTrans2D1" presStyleIdx="2" presStyleCnt="3" custAng="10800000"/>
      <dgm:spPr/>
    </dgm:pt>
    <dgm:pt modelId="{0E4E441F-7472-49BA-A1B5-2CBF877A7899}" type="pres">
      <dgm:prSet presAssocID="{58FF506B-D7FA-466E-B1A0-61B0C76BED3A}" presName="connectorText" presStyleLbl="sibTrans2D1" presStyleIdx="2" presStyleCnt="3"/>
      <dgm:spPr/>
    </dgm:pt>
    <dgm:pt modelId="{C07C960A-79A4-46AA-8592-530144B586E3}" type="pres">
      <dgm:prSet presAssocID="{CB09E91F-A8FC-45E9-AC30-F3BA52F25647}" presName="node" presStyleLbl="node1" presStyleIdx="3" presStyleCnt="4">
        <dgm:presLayoutVars>
          <dgm:bulletEnabled val="1"/>
        </dgm:presLayoutVars>
      </dgm:prSet>
      <dgm:spPr/>
    </dgm:pt>
  </dgm:ptLst>
  <dgm:cxnLst>
    <dgm:cxn modelId="{84F3210A-C329-4195-9436-0112833F4AC1}" type="presOf" srcId="{DDBAF3DD-E87A-49F5-A5F3-7FFC427E2E92}" destId="{9CC86A77-44A6-455F-B2B5-5504333CA329}" srcOrd="1" destOrd="0" presId="urn:microsoft.com/office/officeart/2005/8/layout/process2"/>
    <dgm:cxn modelId="{5C740B31-3927-4260-8ADF-9056EEFD0E75}" type="presOf" srcId="{C80614C5-9904-4F95-9017-793650C26D7F}" destId="{37B077BA-B39C-41D1-8CCA-17980D7006AE}" srcOrd="0" destOrd="0" presId="urn:microsoft.com/office/officeart/2005/8/layout/process2"/>
    <dgm:cxn modelId="{4138C036-068E-4893-B1EA-507FBDA0588F}" type="presOf" srcId="{58FF506B-D7FA-466E-B1A0-61B0C76BED3A}" destId="{0E4E441F-7472-49BA-A1B5-2CBF877A7899}" srcOrd="1" destOrd="0" presId="urn:microsoft.com/office/officeart/2005/8/layout/process2"/>
    <dgm:cxn modelId="{2459265D-A921-4036-9703-2F090A46873C}" type="presOf" srcId="{9CDE496C-C787-44AD-BAA3-609ED9919DAA}" destId="{DAA68D0B-1029-417B-9C5F-50F24752AA7B}" srcOrd="1" destOrd="0" presId="urn:microsoft.com/office/officeart/2005/8/layout/process2"/>
    <dgm:cxn modelId="{5BDA9C60-0E34-4DE7-BE10-3D2188B3ECDA}" srcId="{5DAEC6BB-84CC-4255-977A-84CCCA04C56F}" destId="{C80614C5-9904-4F95-9017-793650C26D7F}" srcOrd="0" destOrd="0" parTransId="{221CDC81-E4B5-40C6-8474-F89FE434FB67}" sibTransId="{9CDE496C-C787-44AD-BAA3-609ED9919DAA}"/>
    <dgm:cxn modelId="{3EDD9270-1486-473E-94E7-086FCB0B5EB5}" type="presOf" srcId="{DDBAF3DD-E87A-49F5-A5F3-7FFC427E2E92}" destId="{17B933A6-3C62-4CB5-91F7-5BB0CC5E0DE6}" srcOrd="0" destOrd="0" presId="urn:microsoft.com/office/officeart/2005/8/layout/process2"/>
    <dgm:cxn modelId="{D0EF0A52-FF81-4A62-97C4-EF59ECC959C1}" type="presOf" srcId="{86BB73EC-BC5E-4DA5-B50A-A277B86451CD}" destId="{6A8CA3B9-53F0-4064-A0C2-60EDEAC69C50}" srcOrd="0" destOrd="0" presId="urn:microsoft.com/office/officeart/2005/8/layout/process2"/>
    <dgm:cxn modelId="{58EE788F-2983-4526-9AFA-8578A2BD5CE9}" type="presOf" srcId="{5DAEC6BB-84CC-4255-977A-84CCCA04C56F}" destId="{6B26F8FE-CC55-453E-923C-D858AE443071}" srcOrd="0" destOrd="0" presId="urn:microsoft.com/office/officeart/2005/8/layout/process2"/>
    <dgm:cxn modelId="{D3957F9D-8435-4301-BCFC-5C69DE7F446A}" type="presOf" srcId="{58FF506B-D7FA-466E-B1A0-61B0C76BED3A}" destId="{43F63DD0-B419-4A4F-9070-C08E24209076}" srcOrd="0" destOrd="0" presId="urn:microsoft.com/office/officeart/2005/8/layout/process2"/>
    <dgm:cxn modelId="{452E81A1-4F6B-4421-8EBB-4295DBBCAF45}" srcId="{5DAEC6BB-84CC-4255-977A-84CCCA04C56F}" destId="{CB09E91F-A8FC-45E9-AC30-F3BA52F25647}" srcOrd="3" destOrd="0" parTransId="{2459A130-510B-4410-9385-22FC445838C7}" sibTransId="{B7AE32C1-E947-43E2-89C9-05C990693351}"/>
    <dgm:cxn modelId="{B3022DA5-D229-45B6-BFF8-C38A811866A0}" srcId="{5DAEC6BB-84CC-4255-977A-84CCCA04C56F}" destId="{86BB73EC-BC5E-4DA5-B50A-A277B86451CD}" srcOrd="2" destOrd="0" parTransId="{6E3D9B7B-5B11-4A90-9925-1FA84CC06EAD}" sibTransId="{58FF506B-D7FA-466E-B1A0-61B0C76BED3A}"/>
    <dgm:cxn modelId="{72C048C4-9CBA-43B9-80B6-5F56B369F6EA}" type="presOf" srcId="{9CDE496C-C787-44AD-BAA3-609ED9919DAA}" destId="{E37806A4-D134-417B-832C-4578F97C6392}" srcOrd="0" destOrd="0" presId="urn:microsoft.com/office/officeart/2005/8/layout/process2"/>
    <dgm:cxn modelId="{7F36A6D3-D0EA-48C8-8C4A-CCCF5A99421B}" srcId="{5DAEC6BB-84CC-4255-977A-84CCCA04C56F}" destId="{3E85A460-BC7B-4FD9-AEE2-9E795D248333}" srcOrd="1" destOrd="0" parTransId="{CA899679-1E9D-41F9-BFAC-DF581959865E}" sibTransId="{DDBAF3DD-E87A-49F5-A5F3-7FFC427E2E92}"/>
    <dgm:cxn modelId="{901030D5-0209-4AA7-8B41-A8A69C967A9E}" type="presOf" srcId="{3E85A460-BC7B-4FD9-AEE2-9E795D248333}" destId="{3A7904FB-6E17-46AA-AC5F-B2D6ED8060D2}" srcOrd="0" destOrd="0" presId="urn:microsoft.com/office/officeart/2005/8/layout/process2"/>
    <dgm:cxn modelId="{721FD4DB-D5FA-4C7A-A224-1741722D46D5}" type="presOf" srcId="{CB09E91F-A8FC-45E9-AC30-F3BA52F25647}" destId="{C07C960A-79A4-46AA-8592-530144B586E3}" srcOrd="0" destOrd="0" presId="urn:microsoft.com/office/officeart/2005/8/layout/process2"/>
    <dgm:cxn modelId="{42255743-0B57-417F-97B6-0657124C3EA4}" type="presParOf" srcId="{6B26F8FE-CC55-453E-923C-D858AE443071}" destId="{37B077BA-B39C-41D1-8CCA-17980D7006AE}" srcOrd="0" destOrd="0" presId="urn:microsoft.com/office/officeart/2005/8/layout/process2"/>
    <dgm:cxn modelId="{13CAB6C4-51FF-48AA-90D6-A95B7E4687A1}" type="presParOf" srcId="{6B26F8FE-CC55-453E-923C-D858AE443071}" destId="{E37806A4-D134-417B-832C-4578F97C6392}" srcOrd="1" destOrd="0" presId="urn:microsoft.com/office/officeart/2005/8/layout/process2"/>
    <dgm:cxn modelId="{BD9C71D0-61C6-4A78-9695-FCDCEDA02710}" type="presParOf" srcId="{E37806A4-D134-417B-832C-4578F97C6392}" destId="{DAA68D0B-1029-417B-9C5F-50F24752AA7B}" srcOrd="0" destOrd="0" presId="urn:microsoft.com/office/officeart/2005/8/layout/process2"/>
    <dgm:cxn modelId="{F3530CCA-04C7-423B-9B69-0AF6B0E56A7C}" type="presParOf" srcId="{6B26F8FE-CC55-453E-923C-D858AE443071}" destId="{3A7904FB-6E17-46AA-AC5F-B2D6ED8060D2}" srcOrd="2" destOrd="0" presId="urn:microsoft.com/office/officeart/2005/8/layout/process2"/>
    <dgm:cxn modelId="{D828AB88-E2D4-4E01-8A17-21120E1A32D2}" type="presParOf" srcId="{6B26F8FE-CC55-453E-923C-D858AE443071}" destId="{17B933A6-3C62-4CB5-91F7-5BB0CC5E0DE6}" srcOrd="3" destOrd="0" presId="urn:microsoft.com/office/officeart/2005/8/layout/process2"/>
    <dgm:cxn modelId="{CDA7DC56-4CE9-4F0A-B2F9-EE08B1ADCEF3}" type="presParOf" srcId="{17B933A6-3C62-4CB5-91F7-5BB0CC5E0DE6}" destId="{9CC86A77-44A6-455F-B2B5-5504333CA329}" srcOrd="0" destOrd="0" presId="urn:microsoft.com/office/officeart/2005/8/layout/process2"/>
    <dgm:cxn modelId="{89DF31E6-2349-4CC2-B8A5-0F9849F180F0}" type="presParOf" srcId="{6B26F8FE-CC55-453E-923C-D858AE443071}" destId="{6A8CA3B9-53F0-4064-A0C2-60EDEAC69C50}" srcOrd="4" destOrd="0" presId="urn:microsoft.com/office/officeart/2005/8/layout/process2"/>
    <dgm:cxn modelId="{50035B48-0233-4003-8E9F-7EB0E8DEF06D}" type="presParOf" srcId="{6B26F8FE-CC55-453E-923C-D858AE443071}" destId="{43F63DD0-B419-4A4F-9070-C08E24209076}" srcOrd="5" destOrd="0" presId="urn:microsoft.com/office/officeart/2005/8/layout/process2"/>
    <dgm:cxn modelId="{B95391FA-3C41-457C-BC0E-B19096CEB5AE}" type="presParOf" srcId="{43F63DD0-B419-4A4F-9070-C08E24209076}" destId="{0E4E441F-7472-49BA-A1B5-2CBF877A7899}" srcOrd="0" destOrd="0" presId="urn:microsoft.com/office/officeart/2005/8/layout/process2"/>
    <dgm:cxn modelId="{A2E1DDB1-4685-4E46-8078-9E09350D9F43}" type="presParOf" srcId="{6B26F8FE-CC55-453E-923C-D858AE443071}" destId="{C07C960A-79A4-46AA-8592-530144B586E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077BA-B39C-41D1-8CCA-17980D7006AE}">
      <dsp:nvSpPr>
        <dsp:cNvPr id="0" name=""/>
        <dsp:cNvSpPr/>
      </dsp:nvSpPr>
      <dsp:spPr>
        <a:xfrm>
          <a:off x="81833" y="1780"/>
          <a:ext cx="1192025" cy="662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Biology</a:t>
          </a:r>
        </a:p>
      </dsp:txBody>
      <dsp:txXfrm>
        <a:off x="101229" y="21176"/>
        <a:ext cx="1153233" cy="623444"/>
      </dsp:txXfrm>
    </dsp:sp>
    <dsp:sp modelId="{E37806A4-D134-417B-832C-4578F97C6392}">
      <dsp:nvSpPr>
        <dsp:cNvPr id="0" name=""/>
        <dsp:cNvSpPr/>
      </dsp:nvSpPr>
      <dsp:spPr>
        <a:xfrm rot="16200000">
          <a:off x="553676" y="680572"/>
          <a:ext cx="248338" cy="29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588444" y="779907"/>
        <a:ext cx="178804" cy="173837"/>
      </dsp:txXfrm>
    </dsp:sp>
    <dsp:sp modelId="{3A7904FB-6E17-46AA-AC5F-B2D6ED8060D2}">
      <dsp:nvSpPr>
        <dsp:cNvPr id="0" name=""/>
        <dsp:cNvSpPr/>
      </dsp:nvSpPr>
      <dsp:spPr>
        <a:xfrm>
          <a:off x="81833" y="995135"/>
          <a:ext cx="1192025" cy="662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Chemistry</a:t>
          </a:r>
        </a:p>
      </dsp:txBody>
      <dsp:txXfrm>
        <a:off x="101229" y="1014531"/>
        <a:ext cx="1153233" cy="623444"/>
      </dsp:txXfrm>
    </dsp:sp>
    <dsp:sp modelId="{17B933A6-3C62-4CB5-91F7-5BB0CC5E0DE6}">
      <dsp:nvSpPr>
        <dsp:cNvPr id="0" name=""/>
        <dsp:cNvSpPr/>
      </dsp:nvSpPr>
      <dsp:spPr>
        <a:xfrm rot="16200000">
          <a:off x="553676" y="1673927"/>
          <a:ext cx="248338" cy="29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588444" y="1773262"/>
        <a:ext cx="178804" cy="173837"/>
      </dsp:txXfrm>
    </dsp:sp>
    <dsp:sp modelId="{6A8CA3B9-53F0-4064-A0C2-60EDEAC69C50}">
      <dsp:nvSpPr>
        <dsp:cNvPr id="0" name=""/>
        <dsp:cNvSpPr/>
      </dsp:nvSpPr>
      <dsp:spPr>
        <a:xfrm>
          <a:off x="81833" y="1988490"/>
          <a:ext cx="1192025" cy="662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Physics</a:t>
          </a:r>
        </a:p>
      </dsp:txBody>
      <dsp:txXfrm>
        <a:off x="101229" y="2007886"/>
        <a:ext cx="1153233" cy="623444"/>
      </dsp:txXfrm>
    </dsp:sp>
    <dsp:sp modelId="{43F63DD0-B419-4A4F-9070-C08E24209076}">
      <dsp:nvSpPr>
        <dsp:cNvPr id="0" name=""/>
        <dsp:cNvSpPr/>
      </dsp:nvSpPr>
      <dsp:spPr>
        <a:xfrm rot="16200000">
          <a:off x="553676" y="2667282"/>
          <a:ext cx="248338" cy="2980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588444" y="2766617"/>
        <a:ext cx="178804" cy="173837"/>
      </dsp:txXfrm>
    </dsp:sp>
    <dsp:sp modelId="{C07C960A-79A4-46AA-8592-530144B586E3}">
      <dsp:nvSpPr>
        <dsp:cNvPr id="0" name=""/>
        <dsp:cNvSpPr/>
      </dsp:nvSpPr>
      <dsp:spPr>
        <a:xfrm>
          <a:off x="81833" y="2981845"/>
          <a:ext cx="1192025" cy="662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Math</a:t>
          </a:r>
        </a:p>
      </dsp:txBody>
      <dsp:txXfrm>
        <a:off x="101229" y="3001241"/>
        <a:ext cx="1153233" cy="623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9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0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6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61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858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75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43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NUL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8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5.png"/><Relationship Id="rId7" Type="http://schemas.openxmlformats.org/officeDocument/2006/relationships/image" Target="../media/image8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840.png"/><Relationship Id="rId10" Type="http://schemas.openxmlformats.org/officeDocument/2006/relationships/image" Target="../media/image16.png"/><Relationship Id="rId4" Type="http://schemas.openxmlformats.org/officeDocument/2006/relationships/image" Target="NULL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4" Type="http://schemas.openxmlformats.org/officeDocument/2006/relationships/image" Target="../media/image5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/>
                <a:t>Student #3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03</a:t>
              </a:r>
            </a:p>
            <a:p>
              <a:pPr algn="ctr"/>
              <a:r>
                <a:rPr lang="en-US" dirty="0"/>
                <a:t>Differential Equations</a:t>
              </a:r>
            </a:p>
            <a:p>
              <a:pPr algn="ctr"/>
              <a:r>
                <a:rPr lang="en-US" dirty="0"/>
                <a:t>Simple Harmonic Motion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961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Model a Pendulum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35223"/>
            <a:ext cx="2102721" cy="23690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15349" y="1825197"/>
                <a:ext cx="160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349" y="1825197"/>
                <a:ext cx="1609350" cy="276999"/>
              </a:xfrm>
              <a:prstGeom prst="rect">
                <a:avLst/>
              </a:prstGeom>
              <a:blipFill>
                <a:blip r:embed="rId4"/>
                <a:stretch>
                  <a:fillRect l="-3409" r="-227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670297" y="4385647"/>
                <a:ext cx="8322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297" y="4385647"/>
                <a:ext cx="832216" cy="276999"/>
              </a:xfrm>
              <a:prstGeom prst="rect">
                <a:avLst/>
              </a:prstGeom>
              <a:blipFill>
                <a:blip r:embed="rId5"/>
                <a:stretch>
                  <a:fillRect l="-5839" r="-292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70297" y="4909041"/>
                <a:ext cx="1100621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297" y="4909041"/>
                <a:ext cx="1100621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26347" y="4385647"/>
                <a:ext cx="6751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47" y="4385647"/>
                <a:ext cx="675120" cy="276999"/>
              </a:xfrm>
              <a:prstGeom prst="rect">
                <a:avLst/>
              </a:prstGeom>
              <a:blipFill>
                <a:blip r:embed="rId7"/>
                <a:stretch>
                  <a:fillRect l="-4505" r="-630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583084" y="5760330"/>
                <a:ext cx="1400960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84" y="5760330"/>
                <a:ext cx="1400960" cy="648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2484219" y="5760330"/>
                <a:ext cx="1472775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219" y="5760330"/>
                <a:ext cx="1472775" cy="6481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590768" y="2419379"/>
                <a:ext cx="2252476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68" y="2419379"/>
                <a:ext cx="2252476" cy="6481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4994533" y="3422413"/>
                <a:ext cx="1775166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533" y="3422413"/>
                <a:ext cx="1775166" cy="6481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951091" y="4387721"/>
            <a:ext cx="1775166" cy="1644445"/>
            <a:chOff x="6137333" y="4800600"/>
            <a:chExt cx="1775166" cy="1644445"/>
          </a:xfrm>
        </p:grpSpPr>
        <p:grpSp>
          <p:nvGrpSpPr>
            <p:cNvPr id="24" name="Group 23"/>
            <p:cNvGrpSpPr/>
            <p:nvPr/>
          </p:nvGrpSpPr>
          <p:grpSpPr>
            <a:xfrm>
              <a:off x="6312829" y="5007710"/>
              <a:ext cx="1511055" cy="1230225"/>
              <a:chOff x="6289733" y="5003487"/>
              <a:chExt cx="1511055" cy="1230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/>
            <p:cNvSpPr/>
            <p:nvPr/>
          </p:nvSpPr>
          <p:spPr>
            <a:xfrm>
              <a:off x="6137333" y="4800600"/>
              <a:ext cx="1775166" cy="16444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153264" y="2542757"/>
                <a:ext cx="132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4" y="2542757"/>
                <a:ext cx="132344" cy="276999"/>
              </a:xfrm>
              <a:prstGeom prst="rect">
                <a:avLst/>
              </a:prstGeom>
              <a:blipFill>
                <a:blip r:embed="rId15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F9FD2FA-1792-4EC7-BCB6-DEE0519F1A09}"/>
              </a:ext>
            </a:extLst>
          </p:cNvPr>
          <p:cNvSpPr/>
          <p:nvPr/>
        </p:nvSpPr>
        <p:spPr>
          <a:xfrm>
            <a:off x="6928886" y="3125519"/>
            <a:ext cx="1932047" cy="821629"/>
          </a:xfrm>
          <a:prstGeom prst="wedgeRoundRectCallout">
            <a:avLst>
              <a:gd name="adj1" fmla="val -69015"/>
              <a:gd name="adj2" fmla="val -30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But Euler’s Method works only on </a:t>
            </a:r>
            <a:r>
              <a:rPr lang="en-US" sz="16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first order</a:t>
            </a:r>
            <a:r>
              <a:rPr lang="en-US" sz="1600" b="1" dirty="0"/>
              <a:t> ODEs! </a:t>
            </a:r>
            <a:r>
              <a:rPr lang="en-US" sz="1600" b="1" dirty="0">
                <a:sym typeface="Wingdings" panose="05000000000000000000" pitchFamily="2" charset="2"/>
              </a:rPr>
              <a:t></a:t>
            </a:r>
            <a:r>
              <a:rPr lang="en-US" sz="1600" b="1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4FC7B-D6C8-49BE-AA24-EA5BA3BD6B6F}"/>
              </a:ext>
            </a:extLst>
          </p:cNvPr>
          <p:cNvSpPr txBox="1"/>
          <p:nvPr/>
        </p:nvSpPr>
        <p:spPr>
          <a:xfrm>
            <a:off x="6740011" y="1679753"/>
            <a:ext cx="1364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Gravity is a restoring force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BEAE7FC-3781-4755-A0B8-B0959E70134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06081" y="851291"/>
            <a:ext cx="145444" cy="1802368"/>
          </a:xfrm>
          <a:prstGeom prst="curvedConnector3">
            <a:avLst>
              <a:gd name="adj1" fmla="val 257174"/>
            </a:avLst>
          </a:prstGeom>
          <a:ln w="190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36164B-3AE7-42C0-9955-02464E1354FB}"/>
              </a:ext>
            </a:extLst>
          </p:cNvPr>
          <p:cNvSpPr txBox="1"/>
          <p:nvPr/>
        </p:nvSpPr>
        <p:spPr>
          <a:xfrm>
            <a:off x="6866209" y="4732889"/>
            <a:ext cx="20573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 can break the 2</a:t>
            </a:r>
            <a:r>
              <a:rPr lang="en-US" sz="1400" baseline="30000" dirty="0"/>
              <a:t>nd</a:t>
            </a:r>
            <a:r>
              <a:rPr lang="en-US" sz="1400" dirty="0"/>
              <a:t> order ODE into </a:t>
            </a:r>
            <a:r>
              <a:rPr lang="en-US" sz="1400" u="sng" dirty="0"/>
              <a:t>two</a:t>
            </a:r>
            <a:r>
              <a:rPr lang="en-US" sz="1400" dirty="0"/>
              <a:t> </a:t>
            </a:r>
            <a:r>
              <a:rPr lang="en-US" sz="1400" i="1" dirty="0"/>
              <a:t>linked</a:t>
            </a:r>
            <a:r>
              <a:rPr lang="en-US" sz="1400" dirty="0"/>
              <a:t> first-order ODEs and use </a:t>
            </a:r>
            <a:r>
              <a:rPr lang="en-US" sz="1400" b="1" dirty="0"/>
              <a:t>Euler’s method </a:t>
            </a:r>
            <a:r>
              <a:rPr lang="en-US" sz="1400" dirty="0"/>
              <a:t>on each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F6A2BD-A422-6235-EC1A-F37C2181AE33}"/>
              </a:ext>
            </a:extLst>
          </p:cNvPr>
          <p:cNvCxnSpPr/>
          <p:nvPr/>
        </p:nvCxnSpPr>
        <p:spPr>
          <a:xfrm flipV="1">
            <a:off x="4703411" y="2655331"/>
            <a:ext cx="223876" cy="2769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2473B5E-5BEC-197B-EC5F-6C294825148F}"/>
              </a:ext>
            </a:extLst>
          </p:cNvPr>
          <p:cNvCxnSpPr/>
          <p:nvPr/>
        </p:nvCxnSpPr>
        <p:spPr>
          <a:xfrm flipV="1">
            <a:off x="5863080" y="2632696"/>
            <a:ext cx="223876" cy="2769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B72A410-ACF3-45FD-E5FC-E6E1CD42CA37}"/>
              </a:ext>
            </a:extLst>
          </p:cNvPr>
          <p:cNvSpPr/>
          <p:nvPr/>
        </p:nvSpPr>
        <p:spPr>
          <a:xfrm>
            <a:off x="2574130" y="5992858"/>
            <a:ext cx="290513" cy="30956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9AA937-62A6-B1E6-C9F0-C6D871A254D5}"/>
              </a:ext>
            </a:extLst>
          </p:cNvPr>
          <p:cNvSpPr/>
          <p:nvPr/>
        </p:nvSpPr>
        <p:spPr>
          <a:xfrm>
            <a:off x="4816871" y="1835021"/>
            <a:ext cx="290513" cy="30956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3EB99-0DC7-7D67-499E-4C86FF0B8598}"/>
              </a:ext>
            </a:extLst>
          </p:cNvPr>
          <p:cNvSpPr/>
          <p:nvPr/>
        </p:nvSpPr>
        <p:spPr>
          <a:xfrm>
            <a:off x="3352800" y="4909041"/>
            <a:ext cx="418118" cy="6171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2F2868-59A8-D0C7-99DC-603681020C84}"/>
              </a:ext>
            </a:extLst>
          </p:cNvPr>
          <p:cNvSpPr/>
          <p:nvPr/>
        </p:nvSpPr>
        <p:spPr>
          <a:xfrm>
            <a:off x="671603" y="5791308"/>
            <a:ext cx="418118" cy="61714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F8222E-DE50-1CBE-335A-FAED0A5E0C97}"/>
              </a:ext>
            </a:extLst>
          </p:cNvPr>
          <p:cNvGrpSpPr/>
          <p:nvPr/>
        </p:nvGrpSpPr>
        <p:grpSpPr>
          <a:xfrm>
            <a:off x="1339773" y="3755029"/>
            <a:ext cx="774474" cy="488656"/>
            <a:chOff x="1339773" y="3640930"/>
            <a:chExt cx="774474" cy="4886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6091E8B-2C7B-8B45-4E43-BA712EC643FC}"/>
                    </a:ext>
                  </a:extLst>
                </p:cNvPr>
                <p:cNvSpPr txBox="1"/>
                <p:nvPr/>
              </p:nvSpPr>
              <p:spPr>
                <a:xfrm>
                  <a:off x="1339773" y="3821809"/>
                  <a:ext cx="7744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dirty="0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6091E8B-2C7B-8B45-4E43-BA712EC64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773" y="3821809"/>
                  <a:ext cx="774474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DCC806E-788E-1D2D-DA5D-AE8E1F476B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4296" y="3640930"/>
              <a:ext cx="0" cy="26592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AE5114-7458-814B-F0DC-565E5A39169D}"/>
              </a:ext>
            </a:extLst>
          </p:cNvPr>
          <p:cNvSpPr txBox="1"/>
          <p:nvPr/>
        </p:nvSpPr>
        <p:spPr>
          <a:xfrm>
            <a:off x="391015" y="4841352"/>
            <a:ext cx="1782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Take 2</a:t>
            </a:r>
            <a:r>
              <a:rPr lang="en-US" sz="1400" baseline="30000" dirty="0">
                <a:solidFill>
                  <a:srgbClr val="7030A0"/>
                </a:solidFill>
              </a:rPr>
              <a:t>nd</a:t>
            </a:r>
            <a:r>
              <a:rPr lang="en-US" sz="1400" dirty="0">
                <a:solidFill>
                  <a:srgbClr val="7030A0"/>
                </a:solidFill>
              </a:rPr>
              <a:t> derivative of both sides with respect to time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AB97B4-9BEC-BF80-A16A-BDA3AFBB6361}"/>
              </a:ext>
            </a:extLst>
          </p:cNvPr>
          <p:cNvGrpSpPr/>
          <p:nvPr/>
        </p:nvGrpSpPr>
        <p:grpSpPr>
          <a:xfrm>
            <a:off x="2350903" y="2419646"/>
            <a:ext cx="1592820" cy="523220"/>
            <a:chOff x="2820111" y="2466681"/>
            <a:chExt cx="1592820" cy="52322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B748B3-D33F-2604-6B03-2C3161A788DB}"/>
                </a:ext>
              </a:extLst>
            </p:cNvPr>
            <p:cNvSpPr txBox="1"/>
            <p:nvPr/>
          </p:nvSpPr>
          <p:spPr>
            <a:xfrm>
              <a:off x="3086405" y="2466681"/>
              <a:ext cx="13265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length of rod (constant)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7634323-B1CF-0078-EB31-1ECB92954A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0111" y="2728291"/>
              <a:ext cx="400495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44E08EA-DD6B-A655-6603-EBDC358E6CC0}"/>
              </a:ext>
            </a:extLst>
          </p:cNvPr>
          <p:cNvCxnSpPr>
            <a:stCxn id="10" idx="2"/>
            <a:endCxn id="30" idx="0"/>
          </p:cNvCxnSpPr>
          <p:nvPr/>
        </p:nvCxnSpPr>
        <p:spPr>
          <a:xfrm rot="5400000" flipH="1" flipV="1">
            <a:off x="1607057" y="2947350"/>
            <a:ext cx="4467399" cy="2242741"/>
          </a:xfrm>
          <a:prstGeom prst="bentConnector5">
            <a:avLst>
              <a:gd name="adj1" fmla="val -5117"/>
              <a:gd name="adj2" fmla="val 71054"/>
              <a:gd name="adj3" fmla="val 105117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69D6AD6-0883-846D-208D-CB74FC523751}"/>
              </a:ext>
            </a:extLst>
          </p:cNvPr>
          <p:cNvSpPr txBox="1"/>
          <p:nvPr/>
        </p:nvSpPr>
        <p:spPr>
          <a:xfrm>
            <a:off x="536107" y="1388828"/>
            <a:ext cx="231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A “Simple” Pendulum</a:t>
            </a:r>
          </a:p>
        </p:txBody>
      </p:sp>
    </p:spTree>
    <p:extLst>
      <p:ext uri="{BB962C8B-B14F-4D97-AF65-F5344CB8AC3E}">
        <p14:creationId xmlns:p14="http://schemas.microsoft.com/office/powerpoint/2010/main" val="220487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Euler’s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1124"/>
            <a:ext cx="2102721" cy="236906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3380387" y="1767382"/>
            <a:ext cx="1888656" cy="1644445"/>
            <a:chOff x="6137333" y="4800600"/>
            <a:chExt cx="1888656" cy="1644445"/>
          </a:xfrm>
        </p:grpSpPr>
        <p:grpSp>
          <p:nvGrpSpPr>
            <p:cNvPr id="24" name="Group 23"/>
            <p:cNvGrpSpPr/>
            <p:nvPr/>
          </p:nvGrpSpPr>
          <p:grpSpPr>
            <a:xfrm>
              <a:off x="6312829" y="5007710"/>
              <a:ext cx="1511055" cy="1230225"/>
              <a:chOff x="6289733" y="5003487"/>
              <a:chExt cx="1511055" cy="1230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/>
            <p:cNvSpPr/>
            <p:nvPr/>
          </p:nvSpPr>
          <p:spPr>
            <a:xfrm>
              <a:off x="6137333" y="4800600"/>
              <a:ext cx="1888656" cy="16444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blipFill>
                <a:blip r:embed="rId6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06202" y="2011495"/>
                <a:ext cx="2330958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202" y="2011495"/>
                <a:ext cx="2330958" cy="4743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606202" y="2825745"/>
                <a:ext cx="17184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202" y="2825745"/>
                <a:ext cx="1718484" cy="276999"/>
              </a:xfrm>
              <a:prstGeom prst="rect">
                <a:avLst/>
              </a:prstGeom>
              <a:blipFill>
                <a:blip r:embed="rId8"/>
                <a:stretch>
                  <a:fillRect l="-2837" r="-212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cxnSpLocks/>
            <a:endCxn id="6" idx="1"/>
          </p:cNvCxnSpPr>
          <p:nvPr/>
        </p:nvCxnSpPr>
        <p:spPr>
          <a:xfrm flipV="1">
            <a:off x="5111909" y="2248676"/>
            <a:ext cx="494293" cy="112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21" idx="1"/>
          </p:cNvCxnSpPr>
          <p:nvPr/>
        </p:nvCxnSpPr>
        <p:spPr>
          <a:xfrm flipV="1">
            <a:off x="4429836" y="2964245"/>
            <a:ext cx="1176366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09AB13E-94F6-4610-A131-02F490518D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9519" y="3710628"/>
            <a:ext cx="3627131" cy="2572433"/>
          </a:xfrm>
          <a:prstGeom prst="rect">
            <a:avLst/>
          </a:prstGeom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C7BA6741-FC37-493A-8B04-588C3BB54048}"/>
              </a:ext>
            </a:extLst>
          </p:cNvPr>
          <p:cNvSpPr/>
          <p:nvPr/>
        </p:nvSpPr>
        <p:spPr>
          <a:xfrm>
            <a:off x="2153264" y="5137447"/>
            <a:ext cx="1714138" cy="745335"/>
          </a:xfrm>
          <a:prstGeom prst="wedgeRoundRectCallout">
            <a:avLst>
              <a:gd name="adj1" fmla="val 120117"/>
              <a:gd name="adj2" fmla="val -481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is Euler’s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3AA6D-1F84-8F22-2ADB-7CAD5FE0C492}"/>
              </a:ext>
            </a:extLst>
          </p:cNvPr>
          <p:cNvSpPr/>
          <p:nvPr/>
        </p:nvSpPr>
        <p:spPr>
          <a:xfrm>
            <a:off x="6730584" y="5681272"/>
            <a:ext cx="607101" cy="2848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1A1A4D-9927-A6FD-4FA7-C2C8D795F1EE}"/>
              </a:ext>
            </a:extLst>
          </p:cNvPr>
          <p:cNvCxnSpPr/>
          <p:nvPr/>
        </p:nvCxnSpPr>
        <p:spPr>
          <a:xfrm>
            <a:off x="5388964" y="4781862"/>
            <a:ext cx="719528" cy="5696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CF036B-BAF6-3635-BDE6-477DC82B3AA9}"/>
              </a:ext>
            </a:extLst>
          </p:cNvPr>
          <p:cNvSpPr txBox="1"/>
          <p:nvPr/>
        </p:nvSpPr>
        <p:spPr>
          <a:xfrm>
            <a:off x="7511009" y="5645998"/>
            <a:ext cx="114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</a:rPr>
              <a:t>in time…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6AA9C1-A1FB-CAF3-F923-5064C9DC2F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244" y="4894468"/>
            <a:ext cx="1422575" cy="164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8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89E1CF-C493-DAF9-14F6-7B9391AC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75" y="1585425"/>
            <a:ext cx="6980651" cy="48761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Initial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6775447" y="2603589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FB0F31-217C-6B7F-382C-D0D50C8CFB4D}"/>
              </a:ext>
            </a:extLst>
          </p:cNvPr>
          <p:cNvGrpSpPr/>
          <p:nvPr/>
        </p:nvGrpSpPr>
        <p:grpSpPr>
          <a:xfrm>
            <a:off x="4100105" y="3209661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73162A-755A-3ADD-E911-04EA0EC8F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363B9-9646-8AC3-45DA-2C86BEBADBF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14BB8-62B7-963F-09C4-5C979E3C5DD6}"/>
              </a:ext>
            </a:extLst>
          </p:cNvPr>
          <p:cNvGrpSpPr/>
          <p:nvPr/>
        </p:nvGrpSpPr>
        <p:grpSpPr>
          <a:xfrm>
            <a:off x="5023114" y="3415568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4FF04-35CB-7518-5EF8-3260354B418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4D5399-6F71-7BDE-7D6B-2D851D556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87212-4A8F-C222-1536-72DA906A34DD}"/>
              </a:ext>
            </a:extLst>
          </p:cNvPr>
          <p:cNvGrpSpPr/>
          <p:nvPr/>
        </p:nvGrpSpPr>
        <p:grpSpPr>
          <a:xfrm>
            <a:off x="4152446" y="4049499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BFCAC3-0E9B-8C8C-B434-25B30FA260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DD98CB-5134-91A8-752C-FB5C383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CF036F-1172-7BA9-B87B-FFA9CCA377BC}"/>
              </a:ext>
            </a:extLst>
          </p:cNvPr>
          <p:cNvGrpSpPr/>
          <p:nvPr/>
        </p:nvGrpSpPr>
        <p:grpSpPr>
          <a:xfrm>
            <a:off x="2737877" y="4242524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1617A7-DF77-FECF-A2DF-5BD538D9A4C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AD9D5C-49D1-21FC-7EC8-E347B5708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B3782-6D9A-30B0-DED2-6323D7E366D3}"/>
              </a:ext>
            </a:extLst>
          </p:cNvPr>
          <p:cNvGrpSpPr/>
          <p:nvPr/>
        </p:nvGrpSpPr>
        <p:grpSpPr>
          <a:xfrm>
            <a:off x="4142567" y="4844248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815678-76FF-E5A1-E48D-8F5D2BA36BB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3D16F0-5857-9148-09C0-87CE49AE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F9B5E7-74DA-3EBD-B631-1180AD376FC4}"/>
              </a:ext>
            </a:extLst>
          </p:cNvPr>
          <p:cNvGrpSpPr/>
          <p:nvPr/>
        </p:nvGrpSpPr>
        <p:grpSpPr>
          <a:xfrm>
            <a:off x="4508800" y="5669631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F796D8-D9EE-70E1-E69A-832A1B2B36A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0F17B3B-918F-1E45-612E-718CE8B7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00B52E-AD86-9BF2-8AF6-E1DE88B614D0}"/>
              </a:ext>
            </a:extLst>
          </p:cNvPr>
          <p:cNvGrpSpPr/>
          <p:nvPr/>
        </p:nvGrpSpPr>
        <p:grpSpPr>
          <a:xfrm>
            <a:off x="4519832" y="5881231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887C3C-5B39-B924-5D77-867463736E4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5F3E4DA-99E3-03D3-3577-C97AF58D36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5C334D-0C0D-5E9F-7E5B-AFF6B319782A}"/>
              </a:ext>
            </a:extLst>
          </p:cNvPr>
          <p:cNvGrpSpPr/>
          <p:nvPr/>
        </p:nvGrpSpPr>
        <p:grpSpPr>
          <a:xfrm>
            <a:off x="2149061" y="6084538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95E3BEA-BE52-2EC4-4FE9-BBA37C6D937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7602C57-2B5D-08DC-1293-D606A88AC7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F753A42-0269-73AC-E07A-8D37DAD44031}"/>
              </a:ext>
            </a:extLst>
          </p:cNvPr>
          <p:cNvSpPr/>
          <p:nvPr/>
        </p:nvSpPr>
        <p:spPr>
          <a:xfrm>
            <a:off x="3336134" y="4933028"/>
            <a:ext cx="252423" cy="20199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E14888-3ED3-93F2-30D1-787E300AF5C8}"/>
              </a:ext>
            </a:extLst>
          </p:cNvPr>
          <p:cNvSpPr/>
          <p:nvPr/>
        </p:nvSpPr>
        <p:spPr>
          <a:xfrm>
            <a:off x="3679400" y="4933028"/>
            <a:ext cx="252423" cy="20199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/>
              <p:nvPr/>
            </p:nvSpPr>
            <p:spPr>
              <a:xfrm>
                <a:off x="6185290" y="3287891"/>
                <a:ext cx="1511055" cy="5259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290" y="3287891"/>
                <a:ext cx="1511055" cy="52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/>
              <p:nvPr/>
            </p:nvSpPr>
            <p:spPr>
              <a:xfrm>
                <a:off x="6185290" y="4094976"/>
                <a:ext cx="795666" cy="5259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290" y="4094976"/>
                <a:ext cx="795666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645180-CFDE-62F3-3AB8-C35BBF97A70D}"/>
              </a:ext>
            </a:extLst>
          </p:cNvPr>
          <p:cNvSpPr/>
          <p:nvPr/>
        </p:nvSpPr>
        <p:spPr>
          <a:xfrm>
            <a:off x="2883885" y="5753658"/>
            <a:ext cx="1216220" cy="1925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5290E4-0811-4024-9C0C-919D3F7A5C9E}"/>
              </a:ext>
            </a:extLst>
          </p:cNvPr>
          <p:cNvSpPr/>
          <p:nvPr/>
        </p:nvSpPr>
        <p:spPr>
          <a:xfrm>
            <a:off x="2883885" y="5975794"/>
            <a:ext cx="1216220" cy="17259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15FBE8-9F00-9704-B283-FC935F7B595E}"/>
              </a:ext>
            </a:extLst>
          </p:cNvPr>
          <p:cNvSpPr/>
          <p:nvPr/>
        </p:nvSpPr>
        <p:spPr>
          <a:xfrm>
            <a:off x="1461541" y="5753658"/>
            <a:ext cx="134911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0E21F5-1883-7BBB-9D8C-743D09B06C4A}"/>
              </a:ext>
            </a:extLst>
          </p:cNvPr>
          <p:cNvSpPr/>
          <p:nvPr/>
        </p:nvSpPr>
        <p:spPr>
          <a:xfrm>
            <a:off x="1081674" y="3287891"/>
            <a:ext cx="134911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411A3AE-9BC3-FFA0-586B-9D810912AB58}"/>
              </a:ext>
            </a:extLst>
          </p:cNvPr>
          <p:cNvCxnSpPr>
            <a:stCxn id="22" idx="1"/>
            <a:endCxn id="23" idx="1"/>
          </p:cNvCxnSpPr>
          <p:nvPr/>
        </p:nvCxnSpPr>
        <p:spPr>
          <a:xfrm rot="10800000">
            <a:off x="1081675" y="3384145"/>
            <a:ext cx="379867" cy="2465767"/>
          </a:xfrm>
          <a:prstGeom prst="bentConnector3">
            <a:avLst>
              <a:gd name="adj1" fmla="val 201613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BE091EE-1B4A-518B-6832-78B2E26DE93D}"/>
              </a:ext>
            </a:extLst>
          </p:cNvPr>
          <p:cNvSpPr/>
          <p:nvPr/>
        </p:nvSpPr>
        <p:spPr>
          <a:xfrm>
            <a:off x="1463336" y="5955883"/>
            <a:ext cx="134911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192484-B68E-9F87-75D4-D91C5B0638E2}"/>
              </a:ext>
            </a:extLst>
          </p:cNvPr>
          <p:cNvSpPr/>
          <p:nvPr/>
        </p:nvSpPr>
        <p:spPr>
          <a:xfrm>
            <a:off x="1084149" y="4126610"/>
            <a:ext cx="134911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715BED0-287D-0DDE-F3D8-EF950A18A651}"/>
              </a:ext>
            </a:extLst>
          </p:cNvPr>
          <p:cNvCxnSpPr>
            <a:stCxn id="30" idx="1"/>
            <a:endCxn id="31" idx="1"/>
          </p:cNvCxnSpPr>
          <p:nvPr/>
        </p:nvCxnSpPr>
        <p:spPr>
          <a:xfrm rot="10800000">
            <a:off x="1084150" y="4222864"/>
            <a:ext cx="379187" cy="1829273"/>
          </a:xfrm>
          <a:prstGeom prst="bentConnector3">
            <a:avLst>
              <a:gd name="adj1" fmla="val 28481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54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14A97B-EF3D-7603-629C-1127958F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48" y="1547329"/>
            <a:ext cx="5961905" cy="4914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Initial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5294200" y="1564216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FB0F31-217C-6B7F-382C-D0D50C8CFB4D}"/>
              </a:ext>
            </a:extLst>
          </p:cNvPr>
          <p:cNvGrpSpPr/>
          <p:nvPr/>
        </p:nvGrpSpPr>
        <p:grpSpPr>
          <a:xfrm>
            <a:off x="3081165" y="1747937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73162A-755A-3ADD-E911-04EA0EC8F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363B9-9646-8AC3-45DA-2C86BEBADBF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14BB8-62B7-963F-09C4-5C979E3C5DD6}"/>
              </a:ext>
            </a:extLst>
          </p:cNvPr>
          <p:cNvGrpSpPr/>
          <p:nvPr/>
        </p:nvGrpSpPr>
        <p:grpSpPr>
          <a:xfrm>
            <a:off x="4188215" y="2120195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4FF04-35CB-7518-5EF8-3260354B418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4D5399-6F71-7BDE-7D6B-2D851D556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87212-4A8F-C222-1536-72DA906A34DD}"/>
              </a:ext>
            </a:extLst>
          </p:cNvPr>
          <p:cNvGrpSpPr/>
          <p:nvPr/>
        </p:nvGrpSpPr>
        <p:grpSpPr>
          <a:xfrm>
            <a:off x="4229860" y="2700198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BFCAC3-0E9B-8C8C-B434-25B30FA260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DD98CB-5134-91A8-752C-FB5C383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CF036F-1172-7BA9-B87B-FFA9CCA377BC}"/>
              </a:ext>
            </a:extLst>
          </p:cNvPr>
          <p:cNvGrpSpPr/>
          <p:nvPr/>
        </p:nvGrpSpPr>
        <p:grpSpPr>
          <a:xfrm>
            <a:off x="3863809" y="3271176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1617A7-DF77-FECF-A2DF-5BD538D9A4C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AD9D5C-49D1-21FC-7EC8-E347B5708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B3782-6D9A-30B0-DED2-6323D7E366D3}"/>
              </a:ext>
            </a:extLst>
          </p:cNvPr>
          <p:cNvGrpSpPr/>
          <p:nvPr/>
        </p:nvGrpSpPr>
        <p:grpSpPr>
          <a:xfrm>
            <a:off x="7486650" y="3896333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815678-76FF-E5A1-E48D-8F5D2BA36BB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3D16F0-5857-9148-09C0-87CE49AE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F9B5E7-74DA-3EBD-B631-1180AD376FC4}"/>
              </a:ext>
            </a:extLst>
          </p:cNvPr>
          <p:cNvGrpSpPr/>
          <p:nvPr/>
        </p:nvGrpSpPr>
        <p:grpSpPr>
          <a:xfrm>
            <a:off x="4785864" y="4845196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F796D8-D9EE-70E1-E69A-832A1B2B36A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0F17B3B-918F-1E45-612E-718CE8B7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00B52E-AD86-9BF2-8AF6-E1DE88B614D0}"/>
              </a:ext>
            </a:extLst>
          </p:cNvPr>
          <p:cNvGrpSpPr/>
          <p:nvPr/>
        </p:nvGrpSpPr>
        <p:grpSpPr>
          <a:xfrm>
            <a:off x="4180226" y="5919858"/>
            <a:ext cx="1076632" cy="369332"/>
            <a:chOff x="2157212" y="5356391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887C3C-5B39-B924-5D77-867463736E4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5F3E4DA-99E3-03D3-3577-C97AF58D36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5C334D-0C0D-5E9F-7E5B-AFF6B319782A}"/>
              </a:ext>
            </a:extLst>
          </p:cNvPr>
          <p:cNvGrpSpPr/>
          <p:nvPr/>
        </p:nvGrpSpPr>
        <p:grpSpPr>
          <a:xfrm>
            <a:off x="2539615" y="6135421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95E3BEA-BE52-2EC4-4FE9-BBA37C6D937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7602C57-2B5D-08DC-1293-D606A88AC7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14D6F9F-3EEC-3638-8546-C3EC16264F61}"/>
              </a:ext>
            </a:extLst>
          </p:cNvPr>
          <p:cNvSpPr/>
          <p:nvPr/>
        </p:nvSpPr>
        <p:spPr>
          <a:xfrm>
            <a:off x="5987374" y="4103811"/>
            <a:ext cx="651183" cy="21815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29B62F-116E-BB89-265F-7E83F49688B4}"/>
              </a:ext>
            </a:extLst>
          </p:cNvPr>
          <p:cNvSpPr/>
          <p:nvPr/>
        </p:nvSpPr>
        <p:spPr>
          <a:xfrm>
            <a:off x="6759267" y="4103811"/>
            <a:ext cx="651183" cy="21815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2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Initial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B13C7-A19E-FCF7-4E60-E2FFA833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47330"/>
            <a:ext cx="6114286" cy="51523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0C3680-15F8-EA78-A347-D6883722E082}"/>
              </a:ext>
            </a:extLst>
          </p:cNvPr>
          <p:cNvSpPr txBox="1"/>
          <p:nvPr/>
        </p:nvSpPr>
        <p:spPr>
          <a:xfrm>
            <a:off x="2709019" y="3366902"/>
            <a:ext cx="1956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Initial pendulum angular displacement from centerline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CB18DE-2D5A-2D1D-41C9-3E4910733DD1}"/>
              </a:ext>
            </a:extLst>
          </p:cNvPr>
          <p:cNvCxnSpPr>
            <a:cxnSpLocks/>
          </p:cNvCxnSpPr>
          <p:nvPr/>
        </p:nvCxnSpPr>
        <p:spPr>
          <a:xfrm flipH="1">
            <a:off x="2489200" y="4077532"/>
            <a:ext cx="522664" cy="10564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E5E3BA-BCB5-6004-77BC-621629A55ED4}"/>
                  </a:ext>
                </a:extLst>
              </p:cNvPr>
              <p:cNvSpPr txBox="1"/>
              <p:nvPr/>
            </p:nvSpPr>
            <p:spPr>
              <a:xfrm>
                <a:off x="2610594" y="4328754"/>
                <a:ext cx="157325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=1.309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E5E3BA-BCB5-6004-77BC-621629A55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594" y="4328754"/>
                <a:ext cx="1573251" cy="276999"/>
              </a:xfrm>
              <a:prstGeom prst="rect">
                <a:avLst/>
              </a:prstGeom>
              <a:blipFill>
                <a:blip r:embed="rId3"/>
                <a:stretch>
                  <a:fillRect l="-2713" r="-3101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CB6E31E-DE4C-0101-3EC0-6373AF6FFF5F}"/>
              </a:ext>
            </a:extLst>
          </p:cNvPr>
          <p:cNvSpPr txBox="1"/>
          <p:nvPr/>
        </p:nvSpPr>
        <p:spPr>
          <a:xfrm>
            <a:off x="5616937" y="5103839"/>
            <a:ext cx="2986549" cy="1200329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This is </a:t>
            </a:r>
            <a:r>
              <a:rPr lang="en-US" b="1" u="sng" dirty="0"/>
              <a:t>not</a:t>
            </a:r>
            <a:r>
              <a:rPr lang="en-US" b="1" dirty="0"/>
              <a:t> good… The model predicts the pendulum will begin to swing wildly, which would not happen naturally!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Numerical Instability of Euler's Method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For Oscillatory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046" y="1825625"/>
            <a:ext cx="4187006" cy="406551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Increasing 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time_steps</a:t>
            </a:r>
            <a:r>
              <a:rPr lang="en-US" sz="2400" dirty="0">
                <a:ln>
                  <a:solidFill>
                    <a:schemeClr val="tx1"/>
                  </a:solidFill>
                </a:ln>
              </a:rPr>
              <a:t> </a:t>
            </a:r>
            <a:r>
              <a:rPr lang="en-US" sz="2400" dirty="0"/>
              <a:t>by </a:t>
            </a:r>
            <a:r>
              <a:rPr lang="en-US" sz="2400" dirty="0">
                <a:ln>
                  <a:solidFill>
                    <a:schemeClr val="tx1"/>
                  </a:solidFill>
                </a:ln>
              </a:rPr>
              <a:t>10x</a:t>
            </a:r>
            <a:r>
              <a:rPr lang="en-US" sz="2400" dirty="0"/>
              <a:t> does not prevent the displacement from </a:t>
            </a:r>
            <a:r>
              <a:rPr lang="en-US" sz="2400" b="1" i="1" dirty="0">
                <a:solidFill>
                  <a:srgbClr val="FF0000"/>
                </a:solidFill>
              </a:rPr>
              <a:t>growing</a:t>
            </a:r>
            <a:r>
              <a:rPr lang="en-US" sz="2400" dirty="0"/>
              <a:t> after each oscillation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simple forward Euler method can be </a:t>
            </a:r>
            <a:r>
              <a:rPr lang="en-US" sz="2400" b="1" u="sng" dirty="0">
                <a:solidFill>
                  <a:srgbClr val="FF0000"/>
                </a:solidFill>
              </a:rPr>
              <a:t>unstable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for harmonic motion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B050"/>
                </a:solidFill>
              </a:rPr>
              <a:t>energy</a:t>
            </a:r>
            <a:r>
              <a:rPr lang="en-US" sz="2400" dirty="0"/>
              <a:t> in the system is </a:t>
            </a:r>
            <a:r>
              <a:rPr lang="en-US" sz="2400" i="1" dirty="0">
                <a:solidFill>
                  <a:srgbClr val="7030A0"/>
                </a:solidFill>
              </a:rPr>
              <a:t>artificially</a:t>
            </a:r>
            <a:r>
              <a:rPr lang="en-US" sz="2400" dirty="0"/>
              <a:t> growing </a:t>
            </a:r>
            <a:r>
              <a:rPr lang="en-US" sz="2400" b="1" dirty="0"/>
              <a:t>over time</a:t>
            </a:r>
            <a:r>
              <a:rPr lang="en-US" sz="2400" dirty="0"/>
              <a:t> without bounds because no term can be </a:t>
            </a:r>
            <a:r>
              <a:rPr lang="en-US" sz="2400" i="1" dirty="0"/>
              <a:t>negative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16018" y="2013768"/>
                <a:ext cx="310072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018" y="2013768"/>
                <a:ext cx="3100721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92210" y="3825545"/>
                <a:ext cx="231056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210" y="3825545"/>
                <a:ext cx="2310568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915325" y="4693660"/>
                <a:ext cx="385842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325" y="4693660"/>
                <a:ext cx="3858429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335922" y="2806549"/>
                <a:ext cx="2860911" cy="744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922" y="2806549"/>
                <a:ext cx="2860911" cy="7448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/>
          <p:cNvCxnSpPr>
            <a:cxnSpLocks/>
            <a:stCxn id="3" idx="2"/>
            <a:endCxn id="13" idx="0"/>
          </p:cNvCxnSpPr>
          <p:nvPr/>
        </p:nvCxnSpPr>
        <p:spPr>
          <a:xfrm rot="5400000" flipH="1" flipV="1">
            <a:off x="4434209" y="3156761"/>
            <a:ext cx="1063713" cy="4405035"/>
          </a:xfrm>
          <a:prstGeom prst="bentConnector5">
            <a:avLst>
              <a:gd name="adj1" fmla="val -21491"/>
              <a:gd name="adj2" fmla="val 47593"/>
              <a:gd name="adj3" fmla="val 12149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BD8BF6-315B-4923-A31C-B1AADEEDE0FE}"/>
              </a:ext>
            </a:extLst>
          </p:cNvPr>
          <p:cNvSpPr txBox="1"/>
          <p:nvPr/>
        </p:nvSpPr>
        <p:spPr>
          <a:xfrm>
            <a:off x="5557436" y="5393818"/>
            <a:ext cx="25742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rgbClr val="7030A0"/>
                </a:solidFill>
              </a:rPr>
              <a:t>Due to the squaring of values,</a:t>
            </a:r>
          </a:p>
          <a:p>
            <a:pPr algn="ctr"/>
            <a:r>
              <a:rPr lang="en-US" sz="1400" i="1" dirty="0">
                <a:solidFill>
                  <a:srgbClr val="7030A0"/>
                </a:solidFill>
              </a:rPr>
              <a:t>the next energy state will </a:t>
            </a:r>
            <a:r>
              <a:rPr lang="en-US" sz="1400" b="1" i="1" dirty="0">
                <a:solidFill>
                  <a:srgbClr val="7030A0"/>
                </a:solidFill>
              </a:rPr>
              <a:t>always</a:t>
            </a:r>
            <a:r>
              <a:rPr lang="en-US" sz="1400" i="1" dirty="0">
                <a:solidFill>
                  <a:srgbClr val="7030A0"/>
                </a:solidFill>
              </a:rPr>
              <a:t> be incorrectly larger than the previous energy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88DF5E-A8D7-4387-88B4-8B7126936FCA}"/>
              </a:ext>
            </a:extLst>
          </p:cNvPr>
          <p:cNvSpPr/>
          <p:nvPr/>
        </p:nvSpPr>
        <p:spPr>
          <a:xfrm>
            <a:off x="6991603" y="4827422"/>
            <a:ext cx="353962" cy="320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54E22E-2A01-44CF-9604-5269798FC4DD}"/>
              </a:ext>
            </a:extLst>
          </p:cNvPr>
          <p:cNvSpPr/>
          <p:nvPr/>
        </p:nvSpPr>
        <p:spPr>
          <a:xfrm>
            <a:off x="7732395" y="4827422"/>
            <a:ext cx="300564" cy="632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Elbow Connector 11">
            <a:extLst>
              <a:ext uri="{FF2B5EF4-FFF2-40B4-BE49-F238E27FC236}">
                <a16:creationId xmlns:a16="http://schemas.microsoft.com/office/drawing/2014/main" id="{48EE6436-B302-41E1-A4DD-39C0E00B6168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rot="5400000" flipH="1" flipV="1">
            <a:off x="4791256" y="2799715"/>
            <a:ext cx="1063713" cy="5119128"/>
          </a:xfrm>
          <a:prstGeom prst="bentConnector5">
            <a:avLst>
              <a:gd name="adj1" fmla="val -21491"/>
              <a:gd name="adj2" fmla="val 41015"/>
              <a:gd name="adj3" fmla="val 12149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0F9730-E412-408C-9475-A53B900BF399}"/>
              </a:ext>
            </a:extLst>
          </p:cNvPr>
          <p:cNvSpPr txBox="1"/>
          <p:nvPr/>
        </p:nvSpPr>
        <p:spPr>
          <a:xfrm>
            <a:off x="5692211" y="1669121"/>
            <a:ext cx="765740" cy="307777"/>
          </a:xfrm>
          <a:prstGeom prst="rect">
            <a:avLst/>
          </a:prstGeom>
          <a:solidFill>
            <a:srgbClr val="007A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kinetic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C0B6C5-4A6C-4C0D-9B8C-3FB18F58A6A7}"/>
              </a:ext>
            </a:extLst>
          </p:cNvPr>
          <p:cNvSpPr txBox="1"/>
          <p:nvPr/>
        </p:nvSpPr>
        <p:spPr>
          <a:xfrm>
            <a:off x="7168584" y="1669121"/>
            <a:ext cx="876663" cy="307777"/>
          </a:xfrm>
          <a:prstGeom prst="rect">
            <a:avLst/>
          </a:prstGeom>
          <a:solidFill>
            <a:srgbClr val="007A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potential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C901E-E392-62C8-80AA-9765604F3ECF}"/>
              </a:ext>
            </a:extLst>
          </p:cNvPr>
          <p:cNvSpPr txBox="1"/>
          <p:nvPr/>
        </p:nvSpPr>
        <p:spPr>
          <a:xfrm>
            <a:off x="5827236" y="3343910"/>
            <a:ext cx="1878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Small angle identity</a:t>
            </a:r>
          </a:p>
        </p:txBody>
      </p:sp>
    </p:spTree>
    <p:extLst>
      <p:ext uri="{BB962C8B-B14F-4D97-AF65-F5344CB8AC3E}">
        <p14:creationId xmlns:p14="http://schemas.microsoft.com/office/powerpoint/2010/main" val="20073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Cromer's Fix to Euler's Method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46" y="1468581"/>
            <a:ext cx="6843308" cy="48689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38865" y="4800600"/>
            <a:ext cx="6622025" cy="3982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FF4FD3-744E-4629-B40E-23F0BC7D3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541" y="1591919"/>
            <a:ext cx="1224733" cy="1547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CBE655-DCF2-4548-9566-1AA34D1D8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865" y="4781771"/>
            <a:ext cx="6687941" cy="1493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5B4C74-7BD8-4592-8067-AFAD9E3C534F}"/>
              </a:ext>
            </a:extLst>
          </p:cNvPr>
          <p:cNvSpPr/>
          <p:nvPr/>
        </p:nvSpPr>
        <p:spPr>
          <a:xfrm>
            <a:off x="5419601" y="4818434"/>
            <a:ext cx="1746374" cy="2520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2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398A82-29C1-583E-481F-DCE542873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74" y="1585425"/>
            <a:ext cx="6969564" cy="48684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Revised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4991618" y="5871444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F753A42-0269-73AC-E07A-8D37DAD44031}"/>
              </a:ext>
            </a:extLst>
          </p:cNvPr>
          <p:cNvSpPr/>
          <p:nvPr/>
        </p:nvSpPr>
        <p:spPr>
          <a:xfrm>
            <a:off x="3115820" y="5955111"/>
            <a:ext cx="744186" cy="2019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/>
              <p:nvPr/>
            </p:nvSpPr>
            <p:spPr>
              <a:xfrm>
                <a:off x="6185290" y="3287891"/>
                <a:ext cx="1511055" cy="5259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290" y="3287891"/>
                <a:ext cx="1511055" cy="52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/>
              <p:nvPr/>
            </p:nvSpPr>
            <p:spPr>
              <a:xfrm>
                <a:off x="6185290" y="4094976"/>
                <a:ext cx="795666" cy="5259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290" y="4094976"/>
                <a:ext cx="795666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1F0EA5B-AD75-F276-D007-D56EF985CA43}"/>
              </a:ext>
            </a:extLst>
          </p:cNvPr>
          <p:cNvGrpSpPr/>
          <p:nvPr/>
        </p:nvGrpSpPr>
        <p:grpSpPr>
          <a:xfrm>
            <a:off x="6730863" y="4092973"/>
            <a:ext cx="1930963" cy="1811145"/>
            <a:chOff x="6730863" y="4092973"/>
            <a:chExt cx="1930963" cy="181114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4E44EE-A5DA-AAB4-0214-0C29E2831D6C}"/>
                </a:ext>
              </a:extLst>
            </p:cNvPr>
            <p:cNvSpPr txBox="1"/>
            <p:nvPr/>
          </p:nvSpPr>
          <p:spPr>
            <a:xfrm>
              <a:off x="6730863" y="4826900"/>
              <a:ext cx="1930963" cy="10772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</a:rPr>
                <a:t>Notice that the original ODEs don't change, just how we </a:t>
              </a:r>
              <a:r>
                <a:rPr lang="en-US" sz="1600" b="1" dirty="0">
                  <a:solidFill>
                    <a:srgbClr val="7030A0"/>
                  </a:solidFill>
                </a:rPr>
                <a:t>calculate</a:t>
              </a:r>
              <a:r>
                <a:rPr lang="en-US" sz="1600" dirty="0">
                  <a:solidFill>
                    <a:srgbClr val="7030A0"/>
                  </a:solidFill>
                </a:rPr>
                <a:t> them!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5C2B58-0CDB-9337-BB92-E844B23873FC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H="1" flipV="1">
              <a:off x="7127823" y="4092973"/>
              <a:ext cx="568522" cy="733927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215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2388C9-C550-1892-601D-CBA5EF495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47329"/>
            <a:ext cx="6114286" cy="51523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Revised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145837-9081-4DAD-9B08-C53A9666BC7E}"/>
              </a:ext>
            </a:extLst>
          </p:cNvPr>
          <p:cNvGrpSpPr/>
          <p:nvPr/>
        </p:nvGrpSpPr>
        <p:grpSpPr>
          <a:xfrm>
            <a:off x="5841794" y="4271343"/>
            <a:ext cx="91440" cy="640660"/>
            <a:chOff x="6073590" y="3989949"/>
            <a:chExt cx="91440" cy="64066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5DEBB3F-F326-3BD0-E43B-7EC85348016E}"/>
                </a:ext>
              </a:extLst>
            </p:cNvPr>
            <p:cNvSpPr/>
            <p:nvPr/>
          </p:nvSpPr>
          <p:spPr>
            <a:xfrm>
              <a:off x="6073590" y="3989949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F068467-F086-86B7-05B0-711DAF0E9096}"/>
                </a:ext>
              </a:extLst>
            </p:cNvPr>
            <p:cNvSpPr/>
            <p:nvPr/>
          </p:nvSpPr>
          <p:spPr>
            <a:xfrm>
              <a:off x="6073590" y="4539169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1299AA5-B2F1-DD42-C8E8-196B383B3844}"/>
                </a:ext>
              </a:extLst>
            </p:cNvPr>
            <p:cNvCxnSpPr>
              <a:cxnSpLocks/>
              <a:stCxn id="28" idx="4"/>
              <a:endCxn id="29" idx="0"/>
            </p:cNvCxnSpPr>
            <p:nvPr/>
          </p:nvCxnSpPr>
          <p:spPr>
            <a:xfrm>
              <a:off x="6119310" y="4081389"/>
              <a:ext cx="0" cy="45778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86675D94-6EE0-D1DD-706F-3F254940CBBF}"/>
              </a:ext>
            </a:extLst>
          </p:cNvPr>
          <p:cNvSpPr/>
          <p:nvPr/>
        </p:nvSpPr>
        <p:spPr>
          <a:xfrm>
            <a:off x="3400940" y="4926240"/>
            <a:ext cx="2440854" cy="834367"/>
          </a:xfrm>
          <a:prstGeom prst="wedgeRoundRectCallout">
            <a:avLst>
              <a:gd name="adj1" fmla="val -54755"/>
              <a:gd name="adj2" fmla="val -1212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The pendulum has maximum velocity when at zero displacement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FBDD5E-AD60-4758-26A5-52D0DF077D8D}"/>
              </a:ext>
            </a:extLst>
          </p:cNvPr>
          <p:cNvGrpSpPr/>
          <p:nvPr/>
        </p:nvGrpSpPr>
        <p:grpSpPr>
          <a:xfrm>
            <a:off x="3179336" y="2688839"/>
            <a:ext cx="91440" cy="1673944"/>
            <a:chOff x="2923727" y="2088357"/>
            <a:chExt cx="91440" cy="167394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79C5892-6EFA-004D-B956-BD57C908D6FA}"/>
                </a:ext>
              </a:extLst>
            </p:cNvPr>
            <p:cNvSpPr/>
            <p:nvPr/>
          </p:nvSpPr>
          <p:spPr>
            <a:xfrm>
              <a:off x="2923727" y="2088357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11D1727-A969-AD6E-4341-0E0475318AF7}"/>
                </a:ext>
              </a:extLst>
            </p:cNvPr>
            <p:cNvSpPr/>
            <p:nvPr/>
          </p:nvSpPr>
          <p:spPr>
            <a:xfrm>
              <a:off x="2923727" y="3670861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21A5783-8A73-1E39-913C-087E9823F946}"/>
                </a:ext>
              </a:extLst>
            </p:cNvPr>
            <p:cNvCxnSpPr>
              <a:cxnSpLocks/>
              <a:stCxn id="33" idx="4"/>
              <a:endCxn id="34" idx="0"/>
            </p:cNvCxnSpPr>
            <p:nvPr/>
          </p:nvCxnSpPr>
          <p:spPr>
            <a:xfrm>
              <a:off x="2969447" y="2179797"/>
              <a:ext cx="0" cy="149106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B45E424-564C-2F25-6ADE-B750EEA0337A}"/>
              </a:ext>
            </a:extLst>
          </p:cNvPr>
          <p:cNvSpPr txBox="1"/>
          <p:nvPr/>
        </p:nvSpPr>
        <p:spPr>
          <a:xfrm>
            <a:off x="318917" y="2364780"/>
            <a:ext cx="1611544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This simulation is now numerically </a:t>
            </a:r>
            <a:r>
              <a:rPr lang="en-US" sz="1600" b="1" dirty="0">
                <a:solidFill>
                  <a:srgbClr val="7030A0"/>
                </a:solidFill>
              </a:rPr>
              <a:t>stable</a:t>
            </a:r>
          </a:p>
        </p:txBody>
      </p:sp>
    </p:spTree>
    <p:extLst>
      <p:ext uri="{BB962C8B-B14F-4D97-AF65-F5344CB8AC3E}">
        <p14:creationId xmlns:p14="http://schemas.microsoft.com/office/powerpoint/2010/main" val="143844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52F41-D57C-488A-A963-AC86F42575F3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36859" y="789913"/>
            <a:ext cx="5270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Most of Science is </a:t>
            </a:r>
            <a:r>
              <a:rPr lang="en-US" sz="3600" b="1" dirty="0">
                <a:solidFill>
                  <a:srgbClr val="FF0000"/>
                </a:solidFill>
              </a:rPr>
              <a:t>Waves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06350" y="1766181"/>
            <a:ext cx="5410199" cy="3477876"/>
            <a:chOff x="1263446" y="1828799"/>
            <a:chExt cx="5410199" cy="3477876"/>
          </a:xfrm>
        </p:grpSpPr>
        <p:sp>
          <p:nvSpPr>
            <p:cNvPr id="4" name="TextBox 3"/>
            <p:cNvSpPr txBox="1"/>
            <p:nvPr/>
          </p:nvSpPr>
          <p:spPr>
            <a:xfrm>
              <a:off x="1263446" y="1828800"/>
              <a:ext cx="2861187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Electrical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Magnetic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Acoustic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Heat Flow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Vibrational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Torsional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Nuclear / Quantum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Gravitational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Oceanic / Tidal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Orbital Precession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Springs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419601" y="1828799"/>
              <a:ext cx="2254044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Pendulums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Tomography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Stock Market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Economics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Astronomical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Fluid Dynamics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Earthquakes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AC / DC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AM / FM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Speech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Heartbeats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05232" y="5648632"/>
            <a:ext cx="6511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It is important that to develop a keen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 understanding of the mathematics of </a:t>
            </a:r>
            <a:r>
              <a:rPr lang="en-US" b="1" dirty="0">
                <a:solidFill>
                  <a:srgbClr val="7030A0"/>
                </a:solidFill>
              </a:rPr>
              <a:t>waves</a:t>
            </a:r>
            <a:r>
              <a:rPr lang="en-US" dirty="0">
                <a:solidFill>
                  <a:srgbClr val="7030A0"/>
                </a:solidFill>
              </a:rPr>
              <a:t>!</a:t>
            </a:r>
            <a:endParaRPr lang="en-US" b="1" dirty="0">
              <a:solidFill>
                <a:srgbClr val="7030A0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EE4C7A-4385-5E2E-3E7C-12FCA692C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708240"/>
              </p:ext>
            </p:extLst>
          </p:nvPr>
        </p:nvGraphicFramePr>
        <p:xfrm>
          <a:off x="627386" y="1682187"/>
          <a:ext cx="1355692" cy="3645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741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E6C6B-547A-48EC-8E69-8444D9EA60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337" y="671051"/>
            <a:ext cx="6717325" cy="2816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AECBFA-048A-41FF-8751-30D92A00D971}"/>
              </a:ext>
            </a:extLst>
          </p:cNvPr>
          <p:cNvSpPr txBox="1"/>
          <p:nvPr/>
        </p:nvSpPr>
        <p:spPr>
          <a:xfrm>
            <a:off x="2603089" y="316983"/>
            <a:ext cx="393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Hidden Figures</a:t>
            </a:r>
            <a:r>
              <a:rPr lang="en-US" dirty="0"/>
              <a:t>, Fox 2000 Pictures, 2016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B1D1F0-F1E7-4F3F-BC72-C24216A93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21" y="3051356"/>
            <a:ext cx="4084334" cy="3186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6A676-2F70-4C23-AC60-C288ECFA2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210" y="3554672"/>
            <a:ext cx="4915122" cy="2828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F0D93A-3AC9-4262-AF55-F031E91C1B74}"/>
              </a:ext>
            </a:extLst>
          </p:cNvPr>
          <p:cNvSpPr/>
          <p:nvPr/>
        </p:nvSpPr>
        <p:spPr>
          <a:xfrm>
            <a:off x="7236216" y="4969125"/>
            <a:ext cx="1706763" cy="502119"/>
          </a:xfrm>
          <a:prstGeom prst="wedgeRoundRectCallout">
            <a:avLst>
              <a:gd name="adj1" fmla="val -43541"/>
              <a:gd name="adj2" fmla="val 994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Euler’s Method</a:t>
            </a:r>
          </a:p>
        </p:txBody>
      </p:sp>
    </p:spTree>
    <p:extLst>
      <p:ext uri="{BB962C8B-B14F-4D97-AF65-F5344CB8AC3E}">
        <p14:creationId xmlns:p14="http://schemas.microsoft.com/office/powerpoint/2010/main" val="2729075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03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model a simple pendulum by separating a 2</a:t>
            </a:r>
            <a:r>
              <a:rPr lang="en-US" sz="2400" baseline="30000" dirty="0"/>
              <a:t>nd</a:t>
            </a:r>
            <a:r>
              <a:rPr lang="en-US" sz="2400" dirty="0"/>
              <a:t> order differential equation into a set of linked 1</a:t>
            </a:r>
            <a:r>
              <a:rPr lang="en-US" sz="2400" baseline="30000" dirty="0"/>
              <a:t>st</a:t>
            </a:r>
            <a:r>
              <a:rPr lang="en-US" sz="2400" dirty="0"/>
              <a:t> order differential equations</a:t>
            </a:r>
          </a:p>
          <a:p>
            <a:r>
              <a:rPr lang="en-US" sz="2400" dirty="0"/>
              <a:t>How to numerically estimate a system of ODEs using Euler’s Forward Method</a:t>
            </a:r>
          </a:p>
          <a:p>
            <a:r>
              <a:rPr lang="en-US" sz="2400" dirty="0"/>
              <a:t>How to reduce numerical instability by using Cromer’s fix for Euler’s Method</a:t>
            </a:r>
          </a:p>
          <a:p>
            <a:r>
              <a:rPr lang="en-US" sz="2400" dirty="0"/>
              <a:t>In simple harmonic motion, a point in time having zero displacement represents the point in space where the system has maximum kinetic energy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6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8441</TotalTime>
  <Words>554</Words>
  <Application>Microsoft Office PowerPoint</Application>
  <PresentationFormat>On-screen Show (4:3)</PresentationFormat>
  <Paragraphs>141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Our Challenge: Model a Pendulum</vt:lpstr>
      <vt:lpstr>Euler’s Method</vt:lpstr>
      <vt:lpstr>Our Initial Solution</vt:lpstr>
      <vt:lpstr>Our Initial Solution</vt:lpstr>
      <vt:lpstr>Our Initial Result</vt:lpstr>
      <vt:lpstr>Numerical Instability of Euler's Method For Oscillatory Modes</vt:lpstr>
      <vt:lpstr>Cromer's Fix to Euler's Method</vt:lpstr>
      <vt:lpstr>Our Revised Solution</vt:lpstr>
      <vt:lpstr>Our Revised Result</vt:lpstr>
      <vt:lpstr>PowerPoint Presentation</vt:lpstr>
      <vt:lpstr>PowerPoint Presentation</vt:lpstr>
      <vt:lpstr>Team 03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1016</cp:revision>
  <cp:lastPrinted>2015-06-01T00:45:11Z</cp:lastPrinted>
  <dcterms:created xsi:type="dcterms:W3CDTF">2014-09-21T17:58:26Z</dcterms:created>
  <dcterms:modified xsi:type="dcterms:W3CDTF">2023-12-18T23:11:02Z</dcterms:modified>
</cp:coreProperties>
</file>