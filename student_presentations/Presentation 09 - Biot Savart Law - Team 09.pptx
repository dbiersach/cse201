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380" r:id="rId2"/>
    <p:sldId id="1028" r:id="rId3"/>
    <p:sldId id="1025" r:id="rId4"/>
    <p:sldId id="1431" r:id="rId5"/>
    <p:sldId id="1433" r:id="rId6"/>
    <p:sldId id="1434" r:id="rId7"/>
    <p:sldId id="1435" r:id="rId8"/>
    <p:sldId id="1430" r:id="rId9"/>
    <p:sldId id="1031" r:id="rId10"/>
    <p:sldId id="1081" r:id="rId11"/>
    <p:sldId id="1442" r:id="rId12"/>
    <p:sldId id="1396" r:id="rId13"/>
    <p:sldId id="1447" r:id="rId14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80A4"/>
    <a:srgbClr val="4993C7"/>
    <a:srgbClr val="5D80B4"/>
    <a:srgbClr val="E6E6E6"/>
    <a:srgbClr val="8C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2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Biot-Savart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038683"/>
          </a:xfrm>
        </p:spPr>
        <p:txBody>
          <a:bodyPr>
            <a:normAutofit/>
          </a:bodyPr>
          <a:lstStyle/>
          <a:p>
            <a:r>
              <a:rPr lang="en-US" sz="2400" dirty="0"/>
              <a:t>Coulomb's Law relates static </a:t>
            </a:r>
            <a:r>
              <a:rPr lang="en-US" sz="2400" b="1" dirty="0">
                <a:solidFill>
                  <a:srgbClr val="00B050"/>
                </a:solidFill>
              </a:rPr>
              <a:t>electric fields</a:t>
            </a:r>
            <a:r>
              <a:rPr lang="en-US" sz="2400" dirty="0"/>
              <a:t> to the </a:t>
            </a:r>
            <a:r>
              <a:rPr lang="en-US" sz="2400" i="1" dirty="0"/>
              <a:t>point charges</a:t>
            </a:r>
            <a:r>
              <a:rPr lang="en-US" sz="2400" dirty="0"/>
              <a:t> which are their sources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7030A0"/>
                </a:solidFill>
              </a:rPr>
              <a:t>Biot-Savart Law </a:t>
            </a:r>
            <a:r>
              <a:rPr lang="en-US" sz="2400" dirty="0"/>
              <a:t>relates static </a:t>
            </a:r>
            <a:r>
              <a:rPr lang="en-US" sz="2400" b="1" dirty="0">
                <a:solidFill>
                  <a:srgbClr val="0070C0"/>
                </a:solidFill>
              </a:rPr>
              <a:t>magnetic fields</a:t>
            </a:r>
            <a:r>
              <a:rPr lang="en-US" sz="2400" dirty="0"/>
              <a:t> to the </a:t>
            </a:r>
            <a:r>
              <a:rPr lang="en-US" sz="2400" i="1" dirty="0">
                <a:solidFill>
                  <a:srgbClr val="FF0000"/>
                </a:solidFill>
              </a:rPr>
              <a:t>currents</a:t>
            </a:r>
            <a:r>
              <a:rPr lang="en-US" sz="2400" dirty="0"/>
              <a:t> which are their sources</a:t>
            </a:r>
          </a:p>
          <a:p>
            <a:r>
              <a:rPr lang="en-US" sz="2400" dirty="0"/>
              <a:t>Finding the magnetic field resulting from a current distribution involves the </a:t>
            </a:r>
            <a:r>
              <a:rPr lang="en-US" sz="2400" b="1" dirty="0"/>
              <a:t>vector product</a:t>
            </a:r>
            <a:r>
              <a:rPr lang="en-US" sz="2400" dirty="0"/>
              <a:t> and is inherently a </a:t>
            </a:r>
            <a:r>
              <a:rPr lang="en-US" sz="2400" u="sng" dirty="0"/>
              <a:t>calculus</a:t>
            </a:r>
            <a:r>
              <a:rPr lang="en-US" sz="2400" dirty="0"/>
              <a:t> problem when the </a:t>
            </a:r>
            <a:r>
              <a:rPr lang="en-US" sz="2400" i="1" dirty="0"/>
              <a:t>distance</a:t>
            </a:r>
            <a:r>
              <a:rPr lang="en-US" sz="2400" dirty="0"/>
              <a:t> from the steady current to the magnetic field point is continuously changing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D37407-1DBB-395E-7290-5D5C71E71597}"/>
              </a:ext>
            </a:extLst>
          </p:cNvPr>
          <p:cNvGrpSpPr/>
          <p:nvPr/>
        </p:nvGrpSpPr>
        <p:grpSpPr>
          <a:xfrm>
            <a:off x="1208408" y="5016865"/>
            <a:ext cx="3303772" cy="1589504"/>
            <a:chOff x="1605509" y="4949410"/>
            <a:chExt cx="3303772" cy="15895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A1763E-07BF-CD07-2805-01BA2E7C9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5509" y="4949410"/>
              <a:ext cx="1350158" cy="158950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C201D2-D774-EA6A-A0A5-E8B4F534B40A}"/>
                </a:ext>
              </a:extLst>
            </p:cNvPr>
            <p:cNvSpPr txBox="1"/>
            <p:nvPr/>
          </p:nvSpPr>
          <p:spPr>
            <a:xfrm>
              <a:off x="2955667" y="5420996"/>
              <a:ext cx="19536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Jean-Baptiste Biot</a:t>
              </a:r>
            </a:p>
            <a:p>
              <a:pPr algn="ctr"/>
              <a:r>
                <a:rPr lang="en-US" dirty="0"/>
                <a:t>1774-1862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9ADA29-1FF2-564A-64C1-F6B97E9CAA90}"/>
              </a:ext>
            </a:extLst>
          </p:cNvPr>
          <p:cNvGrpSpPr/>
          <p:nvPr/>
        </p:nvGrpSpPr>
        <p:grpSpPr>
          <a:xfrm>
            <a:off x="5090860" y="5008783"/>
            <a:ext cx="2844732" cy="1605668"/>
            <a:chOff x="5487961" y="4941328"/>
            <a:chExt cx="2844732" cy="160566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A071F77-57B8-FDCF-13A6-8A6B6F0DC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7961" y="4941328"/>
              <a:ext cx="1202701" cy="160566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D30C72-4B70-4E7F-E45F-C867128F7834}"/>
                </a:ext>
              </a:extLst>
            </p:cNvPr>
            <p:cNvSpPr txBox="1"/>
            <p:nvPr/>
          </p:nvSpPr>
          <p:spPr>
            <a:xfrm>
              <a:off x="6705246" y="5420996"/>
              <a:ext cx="1627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Félix Savart</a:t>
              </a:r>
            </a:p>
            <a:p>
              <a:pPr algn="ctr"/>
              <a:r>
                <a:rPr lang="en-US" dirty="0"/>
                <a:t>1791-1841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192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Electromagnets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BFB55-1C5B-8557-3B58-CCE376DAF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12" y="1690689"/>
            <a:ext cx="6095238" cy="4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2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8B2C9-F326-6937-F799-393565F29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684" y="1210239"/>
            <a:ext cx="5912631" cy="44375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llout: Line 4">
                <a:extLst>
                  <a:ext uri="{FF2B5EF4-FFF2-40B4-BE49-F238E27FC236}">
                    <a16:creationId xmlns:a16="http://schemas.microsoft.com/office/drawing/2014/main" id="{C1525BF3-4C42-3100-5009-B4923DF79749}"/>
                  </a:ext>
                </a:extLst>
              </p:cNvPr>
              <p:cNvSpPr/>
              <p:nvPr/>
            </p:nvSpPr>
            <p:spPr>
              <a:xfrm>
                <a:off x="3590144" y="4894619"/>
                <a:ext cx="2434008" cy="952067"/>
              </a:xfrm>
              <a:prstGeom prst="borderCallout1">
                <a:avLst>
                  <a:gd name="adj1" fmla="val -2003"/>
                  <a:gd name="adj2" fmla="val 49332"/>
                  <a:gd name="adj3" fmla="val -81107"/>
                  <a:gd name="adj4" fmla="val 72595"/>
                </a:avLst>
              </a:prstGeom>
              <a:ln w="28575">
                <a:headEnd type="none" w="med" len="med"/>
                <a:tailEnd type="triangle" w="med" len="med"/>
              </a:ln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Resistance</a:t>
                </a:r>
              </a:p>
            </p:txBody>
          </p:sp>
        </mc:Choice>
        <mc:Fallback xmlns="">
          <p:sp>
            <p:nvSpPr>
              <p:cNvPr id="5" name="Callout: Line 4">
                <a:extLst>
                  <a:ext uri="{FF2B5EF4-FFF2-40B4-BE49-F238E27FC236}">
                    <a16:creationId xmlns:a16="http://schemas.microsoft.com/office/drawing/2014/main" id="{C1525BF3-4C42-3100-5009-B4923DF797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144" y="4894619"/>
                <a:ext cx="2434008" cy="952067"/>
              </a:xfrm>
              <a:prstGeom prst="borderCallout1">
                <a:avLst>
                  <a:gd name="adj1" fmla="val -2003"/>
                  <a:gd name="adj2" fmla="val 49332"/>
                  <a:gd name="adj3" fmla="val -81107"/>
                  <a:gd name="adj4" fmla="val 72595"/>
                </a:avLst>
              </a:prstGeom>
              <a:blipFill>
                <a:blip r:embed="rId3"/>
                <a:stretch>
                  <a:fillRect/>
                </a:stretch>
              </a:blipFill>
              <a:ln w="28575">
                <a:headEnd type="none" w="med" len="med"/>
                <a:tailEnd type="triangle" w="med" len="med"/>
              </a:ln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55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Biot-Savart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B2408C-8740-A743-C3C7-ED711957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03" y="1690689"/>
            <a:ext cx="4886793" cy="35551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322EA9-762F-5FE3-B8E0-AC50606CEC35}"/>
              </a:ext>
            </a:extLst>
          </p:cNvPr>
          <p:cNvSpPr txBox="1"/>
          <p:nvPr/>
        </p:nvSpPr>
        <p:spPr>
          <a:xfrm>
            <a:off x="4601979" y="3747541"/>
            <a:ext cx="25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52BDE9-4F33-DB6C-9C78-A58BEB3538A8}"/>
              </a:ext>
            </a:extLst>
          </p:cNvPr>
          <p:cNvSpPr txBox="1"/>
          <p:nvPr/>
        </p:nvSpPr>
        <p:spPr>
          <a:xfrm>
            <a:off x="6457950" y="1806315"/>
            <a:ext cx="159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280A4"/>
                </a:solidFill>
              </a:rPr>
              <a:t>Magnetic Field Lines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2443ADB-EDEB-E5D5-7932-28C8AA063442}"/>
              </a:ext>
            </a:extLst>
          </p:cNvPr>
          <p:cNvGrpSpPr/>
          <p:nvPr/>
        </p:nvGrpSpPr>
        <p:grpSpPr>
          <a:xfrm>
            <a:off x="1176022" y="4876613"/>
            <a:ext cx="2474788" cy="1314846"/>
            <a:chOff x="3201808" y="5043659"/>
            <a:chExt cx="2474788" cy="131484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2F2671C-D5F6-D70C-2FA5-F59DA6E37649}"/>
                </a:ext>
              </a:extLst>
            </p:cNvPr>
            <p:cNvSpPr txBox="1"/>
            <p:nvPr/>
          </p:nvSpPr>
          <p:spPr>
            <a:xfrm>
              <a:off x="4182886" y="5408695"/>
              <a:ext cx="14937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André </a:t>
              </a:r>
              <a:r>
                <a:rPr lang="en-US" sz="1600" b="1" dirty="0"/>
                <a:t>Ampère</a:t>
              </a:r>
            </a:p>
            <a:p>
              <a:pPr algn="ctr"/>
              <a:r>
                <a:rPr lang="en-US" sz="1600" dirty="0"/>
                <a:t>(1775 – 1836)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08D9BE1-7674-D6B0-4792-CF2ACC59F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01808" y="5043659"/>
              <a:ext cx="981077" cy="131484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9E278E1-38D4-5A42-728A-3BAD52A2FF78}"/>
              </a:ext>
            </a:extLst>
          </p:cNvPr>
          <p:cNvSpPr txBox="1"/>
          <p:nvPr/>
        </p:nvSpPr>
        <p:spPr>
          <a:xfrm>
            <a:off x="4616266" y="5212962"/>
            <a:ext cx="3013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Moving charges (a current) produce a magnetic field</a:t>
            </a:r>
          </a:p>
        </p:txBody>
      </p:sp>
    </p:spTree>
    <p:extLst>
      <p:ext uri="{BB962C8B-B14F-4D97-AF65-F5344CB8AC3E}">
        <p14:creationId xmlns:p14="http://schemas.microsoft.com/office/powerpoint/2010/main" val="327695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F13C45-C76C-436E-6B3F-3141683A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93" y="1753482"/>
            <a:ext cx="7202614" cy="4540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Biot-Savart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0C73E4-4B47-8B37-7601-618A04BB47FA}"/>
              </a:ext>
            </a:extLst>
          </p:cNvPr>
          <p:cNvSpPr/>
          <p:nvPr/>
        </p:nvSpPr>
        <p:spPr>
          <a:xfrm>
            <a:off x="6545500" y="4143404"/>
            <a:ext cx="987057" cy="368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FD766-E062-B1EF-2AE7-92AB207D1680}"/>
              </a:ext>
            </a:extLst>
          </p:cNvPr>
          <p:cNvSpPr txBox="1"/>
          <p:nvPr/>
        </p:nvSpPr>
        <p:spPr>
          <a:xfrm>
            <a:off x="6515519" y="652139"/>
            <a:ext cx="17013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n</a:t>
            </a:r>
            <a:r>
              <a:rPr lang="en-US" sz="1400" dirty="0">
                <a:solidFill>
                  <a:srgbClr val="7030A0"/>
                </a:solidFill>
              </a:rPr>
              <a:t> is # of turns per unit length</a:t>
            </a:r>
          </a:p>
          <a:p>
            <a:pPr algn="ctr"/>
            <a:r>
              <a:rPr lang="en-US" sz="1400" dirty="0">
                <a:solidFill>
                  <a:srgbClr val="7030A0"/>
                </a:solidFill>
              </a:rPr>
              <a:t>(turn "density")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2259057-1F60-354A-682F-7ED8E720E0B2}"/>
              </a:ext>
            </a:extLst>
          </p:cNvPr>
          <p:cNvCxnSpPr>
            <a:stCxn id="8" idx="3"/>
            <a:endCxn id="3" idx="3"/>
          </p:cNvCxnSpPr>
          <p:nvPr/>
        </p:nvCxnSpPr>
        <p:spPr>
          <a:xfrm flipH="1">
            <a:off x="7532557" y="1021471"/>
            <a:ext cx="684345" cy="3306251"/>
          </a:xfrm>
          <a:prstGeom prst="bentConnector3">
            <a:avLst>
              <a:gd name="adj1" fmla="val -3340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D01199-1554-3E36-2182-AADBB12F21C0}"/>
              </a:ext>
            </a:extLst>
          </p:cNvPr>
          <p:cNvGrpSpPr/>
          <p:nvPr/>
        </p:nvGrpSpPr>
        <p:grpSpPr>
          <a:xfrm>
            <a:off x="511799" y="652139"/>
            <a:ext cx="2116683" cy="738664"/>
            <a:chOff x="511799" y="679874"/>
            <a:chExt cx="2116683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5BDD2FF-BAE0-A774-E900-25E4B551E010}"/>
                    </a:ext>
                  </a:extLst>
                </p:cNvPr>
                <p:cNvSpPr txBox="1"/>
                <p:nvPr/>
              </p:nvSpPr>
              <p:spPr>
                <a:xfrm>
                  <a:off x="1134989" y="679874"/>
                  <a:ext cx="87030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5BDD2FF-BAE0-A774-E900-25E4B551E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989" y="679874"/>
                  <a:ext cx="870302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4196" r="-699" b="-2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81EF89-4A60-978F-C203-CAE46D64A823}"/>
                    </a:ext>
                  </a:extLst>
                </p:cNvPr>
                <p:cNvSpPr txBox="1"/>
                <p:nvPr/>
              </p:nvSpPr>
              <p:spPr>
                <a:xfrm>
                  <a:off x="511799" y="895318"/>
                  <a:ext cx="211668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1400" dirty="0">
                      <a:solidFill>
                        <a:srgbClr val="7030A0"/>
                      </a:solidFill>
                    </a:rPr>
                    <a:t> = relative permeability of the solenoid core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81EF89-4A60-978F-C203-CAE46D64A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799" y="895318"/>
                  <a:ext cx="2116683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4375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Biot-Savart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A2861-F9C0-3121-CF6F-B7F052C9A8AE}"/>
                  </a:ext>
                </a:extLst>
              </p:cNvPr>
              <p:cNvSpPr txBox="1"/>
              <p:nvPr/>
            </p:nvSpPr>
            <p:spPr>
              <a:xfrm>
                <a:off x="2681109" y="1914998"/>
                <a:ext cx="18771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A2861-F9C0-3121-CF6F-B7F052C9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109" y="1914998"/>
                <a:ext cx="1877181" cy="369332"/>
              </a:xfrm>
              <a:prstGeom prst="rect">
                <a:avLst/>
              </a:prstGeom>
              <a:blipFill>
                <a:blip r:embed="rId2"/>
                <a:stretch>
                  <a:fillRect l="-3571" r="-259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AD6AEF-12AD-6013-A1CB-0C6AFD915EAB}"/>
                  </a:ext>
                </a:extLst>
              </p:cNvPr>
              <p:cNvSpPr txBox="1"/>
              <p:nvPr/>
            </p:nvSpPr>
            <p:spPr>
              <a:xfrm>
                <a:off x="5965146" y="1610457"/>
                <a:ext cx="22485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= Relative permeability of electromagnet's core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AD6AEF-12AD-6013-A1CB-0C6AFD915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146" y="1610457"/>
                <a:ext cx="2248525" cy="923330"/>
              </a:xfrm>
              <a:prstGeom prst="rect">
                <a:avLst/>
              </a:prstGeom>
              <a:blipFill>
                <a:blip r:embed="rId3"/>
                <a:stretch>
                  <a:fillRect l="-2446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C080C7-4FDC-0497-78E1-9261E7F050FB}"/>
                  </a:ext>
                </a:extLst>
              </p:cNvPr>
              <p:cNvSpPr txBox="1"/>
              <p:nvPr/>
            </p:nvSpPr>
            <p:spPr>
              <a:xfrm>
                <a:off x="5965146" y="2673510"/>
                <a:ext cx="22485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= Current (in Amps) traveling through the electromagnet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C080C7-4FDC-0497-78E1-9261E7F05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146" y="2673510"/>
                <a:ext cx="2248525" cy="923330"/>
              </a:xfrm>
              <a:prstGeom prst="rect">
                <a:avLst/>
              </a:prstGeom>
              <a:blipFill>
                <a:blip r:embed="rId4"/>
                <a:stretch>
                  <a:fillRect l="-2446" t="-3974" r="-27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625EA1-3E07-9574-EA70-90C9F05C44E4}"/>
                  </a:ext>
                </a:extLst>
              </p:cNvPr>
              <p:cNvSpPr txBox="1"/>
              <p:nvPr/>
            </p:nvSpPr>
            <p:spPr>
              <a:xfrm>
                <a:off x="5965146" y="3736562"/>
                <a:ext cx="2248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The turn density of the electromagnet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625EA1-3E07-9574-EA70-90C9F05C4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146" y="3736562"/>
                <a:ext cx="2248525" cy="646331"/>
              </a:xfrm>
              <a:prstGeom prst="rect">
                <a:avLst/>
              </a:prstGeom>
              <a:blipFill>
                <a:blip r:embed="rId5"/>
                <a:stretch>
                  <a:fillRect l="-244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E526E-50EA-0282-3B53-2940112259E7}"/>
                  </a:ext>
                </a:extLst>
              </p:cNvPr>
              <p:cNvSpPr txBox="1"/>
              <p:nvPr/>
            </p:nvSpPr>
            <p:spPr>
              <a:xfrm>
                <a:off x="2202108" y="2726936"/>
                <a:ext cx="283518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constant</a:t>
                </a:r>
                <a:r>
                  <a:rPr lang="en-US" dirty="0"/>
                  <a:t> throughout the length of the electromagnet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E526E-50EA-0282-3B53-294011225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08" y="2726936"/>
                <a:ext cx="2835183" cy="923330"/>
              </a:xfrm>
              <a:prstGeom prst="rect">
                <a:avLst/>
              </a:prstGeom>
              <a:blipFill>
                <a:blip r:embed="rId6"/>
                <a:stretch>
                  <a:fillRect l="-1290" t="-3289" r="-150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64B15D-573E-A610-7124-2114E8874B4E}"/>
                  </a:ext>
                </a:extLst>
              </p:cNvPr>
              <p:cNvSpPr txBox="1"/>
              <p:nvPr/>
            </p:nvSpPr>
            <p:spPr>
              <a:xfrm>
                <a:off x="3081314" y="4092872"/>
                <a:ext cx="14384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64B15D-573E-A610-7124-2114E8874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14" y="4092872"/>
                <a:ext cx="1438471" cy="369332"/>
              </a:xfrm>
              <a:prstGeom prst="rect">
                <a:avLst/>
              </a:prstGeom>
              <a:blipFill>
                <a:blip r:embed="rId7"/>
                <a:stretch>
                  <a:fillRect l="-4661" r="-211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CD57F21-746A-AD5C-C386-436E9FF5D4E0}"/>
              </a:ext>
            </a:extLst>
          </p:cNvPr>
          <p:cNvSpPr txBox="1"/>
          <p:nvPr/>
        </p:nvSpPr>
        <p:spPr>
          <a:xfrm>
            <a:off x="1108421" y="4904809"/>
            <a:ext cx="5022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 we increase current (I) flowing through the electromagnet, the magnetic field strength (B) of the electromagnet should rise at a </a:t>
            </a:r>
            <a:r>
              <a:rPr lang="en-US" u="sng" dirty="0"/>
              <a:t>linear</a:t>
            </a:r>
            <a:r>
              <a:rPr lang="en-US" dirty="0"/>
              <a:t>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8FA0AD-1AE5-B485-C0D6-EABE8EE3BEF9}"/>
              </a:ext>
            </a:extLst>
          </p:cNvPr>
          <p:cNvSpPr/>
          <p:nvPr/>
        </p:nvSpPr>
        <p:spPr>
          <a:xfrm>
            <a:off x="2696099" y="1917436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2EB4D6-A03D-8F98-A301-FBB9617118E2}"/>
              </a:ext>
            </a:extLst>
          </p:cNvPr>
          <p:cNvSpPr/>
          <p:nvPr/>
        </p:nvSpPr>
        <p:spPr>
          <a:xfrm>
            <a:off x="3082977" y="4144498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C22973-53BB-D61B-BA3F-8ADC55FE3B23}"/>
              </a:ext>
            </a:extLst>
          </p:cNvPr>
          <p:cNvSpPr/>
          <p:nvPr/>
        </p:nvSpPr>
        <p:spPr>
          <a:xfrm>
            <a:off x="3669681" y="4144498"/>
            <a:ext cx="30271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5E0C59-B6B6-FE6F-5732-0976C551DCE4}"/>
              </a:ext>
            </a:extLst>
          </p:cNvPr>
          <p:cNvSpPr/>
          <p:nvPr/>
        </p:nvSpPr>
        <p:spPr>
          <a:xfrm>
            <a:off x="4277812" y="4144498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123707-3564-7102-9B87-BFD7FB421C58}"/>
              </a:ext>
            </a:extLst>
          </p:cNvPr>
          <p:cNvSpPr/>
          <p:nvPr/>
        </p:nvSpPr>
        <p:spPr>
          <a:xfrm>
            <a:off x="3305654" y="1917436"/>
            <a:ext cx="74169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1F4F6B-6597-120A-4A05-9D703721112B}"/>
              </a:ext>
            </a:extLst>
          </p:cNvPr>
          <p:cNvSpPr/>
          <p:nvPr/>
        </p:nvSpPr>
        <p:spPr>
          <a:xfrm>
            <a:off x="4321575" y="1917436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848FD6A-9EA8-2912-2395-21E0786B0039}"/>
              </a:ext>
            </a:extLst>
          </p:cNvPr>
          <p:cNvCxnSpPr>
            <a:cxnSpLocks/>
            <a:stCxn id="21" idx="1"/>
            <a:endCxn id="22" idx="1"/>
          </p:cNvCxnSpPr>
          <p:nvPr/>
        </p:nvCxnSpPr>
        <p:spPr>
          <a:xfrm rot="10800000" flipH="1" flipV="1">
            <a:off x="2696099" y="2102102"/>
            <a:ext cx="386878" cy="2227062"/>
          </a:xfrm>
          <a:prstGeom prst="bentConnector3">
            <a:avLst>
              <a:gd name="adj1" fmla="val -20438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09E995A-4474-0C08-91B4-88016018780B}"/>
              </a:ext>
            </a:extLst>
          </p:cNvPr>
          <p:cNvCxnSpPr>
            <a:cxnSpLocks/>
            <a:stCxn id="5" idx="3"/>
            <a:endCxn id="17" idx="3"/>
          </p:cNvCxnSpPr>
          <p:nvPr/>
        </p:nvCxnSpPr>
        <p:spPr>
          <a:xfrm flipH="1">
            <a:off x="4519785" y="2099664"/>
            <a:ext cx="38505" cy="2177874"/>
          </a:xfrm>
          <a:prstGeom prst="bentConnector3">
            <a:avLst>
              <a:gd name="adj1" fmla="val -174213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C9B6569-9C56-A985-0314-8CB6671F4DDC}"/>
              </a:ext>
            </a:extLst>
          </p:cNvPr>
          <p:cNvCxnSpPr>
            <a:cxnSpLocks/>
            <a:stCxn id="25" idx="0"/>
            <a:endCxn id="23" idx="2"/>
          </p:cNvCxnSpPr>
          <p:nvPr/>
        </p:nvCxnSpPr>
        <p:spPr>
          <a:xfrm rot="16200000" flipH="1">
            <a:off x="2450571" y="3143364"/>
            <a:ext cx="2596394" cy="144539"/>
          </a:xfrm>
          <a:prstGeom prst="bentConnector5">
            <a:avLst>
              <a:gd name="adj1" fmla="val -8805"/>
              <a:gd name="adj2" fmla="val -1462426"/>
              <a:gd name="adj3" fmla="val 108805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6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125AB-A871-8394-19DE-9523B2D075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439838" y="1961060"/>
            <a:ext cx="2753892" cy="1928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Why We Need a Motor Driver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2DF154-26E9-C920-1459-506C30B0E5C2}"/>
              </a:ext>
            </a:extLst>
          </p:cNvPr>
          <p:cNvCxnSpPr>
            <a:cxnSpLocks/>
          </p:cNvCxnSpPr>
          <p:nvPr/>
        </p:nvCxnSpPr>
        <p:spPr>
          <a:xfrm>
            <a:off x="3934918" y="2016179"/>
            <a:ext cx="12516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4D2763-5037-5800-A044-D629AB0ED7C9}"/>
              </a:ext>
            </a:extLst>
          </p:cNvPr>
          <p:cNvCxnSpPr>
            <a:cxnSpLocks/>
          </p:cNvCxnSpPr>
          <p:nvPr/>
        </p:nvCxnSpPr>
        <p:spPr>
          <a:xfrm>
            <a:off x="3927423" y="2273510"/>
            <a:ext cx="12366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370613C-3D9E-90BF-811B-58AFB04CA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4" y="1564919"/>
            <a:ext cx="3194103" cy="31989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020D61-11A1-A2A2-578E-CAEDD855AE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3817"/>
          <a:stretch/>
        </p:blipFill>
        <p:spPr>
          <a:xfrm rot="5400000">
            <a:off x="6887475" y="2572962"/>
            <a:ext cx="2190768" cy="70453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1271E8-D74C-1D0E-8F14-D246F63A15E6}"/>
              </a:ext>
            </a:extLst>
          </p:cNvPr>
          <p:cNvSpPr txBox="1"/>
          <p:nvPr/>
        </p:nvSpPr>
        <p:spPr>
          <a:xfrm>
            <a:off x="597106" y="5384252"/>
            <a:ext cx="3803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KB2040</a:t>
            </a:r>
            <a:r>
              <a:rPr lang="en-US" dirty="0"/>
              <a:t> can set the output voltage of the DRV8833 using pulse width modulation </a:t>
            </a:r>
            <a:r>
              <a:rPr lang="en-US" b="1" dirty="0"/>
              <a:t>(PWM)</a:t>
            </a:r>
            <a:r>
              <a:rPr lang="en-US" dirty="0"/>
              <a:t> on pins </a:t>
            </a:r>
            <a:r>
              <a:rPr lang="en-US" b="1" dirty="0">
                <a:solidFill>
                  <a:srgbClr val="00B050"/>
                </a:solidFill>
              </a:rPr>
              <a:t>D7</a:t>
            </a:r>
            <a:r>
              <a:rPr lang="en-US" dirty="0"/>
              <a:t> and </a:t>
            </a:r>
            <a:r>
              <a:rPr lang="en-US" b="1" dirty="0">
                <a:solidFill>
                  <a:srgbClr val="FFC000"/>
                </a:solidFill>
              </a:rPr>
              <a:t>D8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F1193A-A56B-C45A-6BE9-B3B93CCDF909}"/>
              </a:ext>
            </a:extLst>
          </p:cNvPr>
          <p:cNvCxnSpPr>
            <a:cxnSpLocks/>
          </p:cNvCxnSpPr>
          <p:nvPr/>
        </p:nvCxnSpPr>
        <p:spPr>
          <a:xfrm>
            <a:off x="628650" y="4308996"/>
            <a:ext cx="28575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002E87-1B30-7817-E1DC-1A9AF7BAB8CF}"/>
              </a:ext>
            </a:extLst>
          </p:cNvPr>
          <p:cNvCxnSpPr>
            <a:cxnSpLocks/>
          </p:cNvCxnSpPr>
          <p:nvPr/>
        </p:nvCxnSpPr>
        <p:spPr>
          <a:xfrm flipV="1">
            <a:off x="623653" y="4289403"/>
            <a:ext cx="0" cy="60962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A4D6C0-B9EF-B8D0-940A-BC2B223860B0}"/>
              </a:ext>
            </a:extLst>
          </p:cNvPr>
          <p:cNvCxnSpPr>
            <a:cxnSpLocks/>
          </p:cNvCxnSpPr>
          <p:nvPr/>
        </p:nvCxnSpPr>
        <p:spPr>
          <a:xfrm>
            <a:off x="476249" y="4083467"/>
            <a:ext cx="43315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48900C-AB60-DD84-A3D3-8A1115ED8ED9}"/>
              </a:ext>
            </a:extLst>
          </p:cNvPr>
          <p:cNvCxnSpPr>
            <a:cxnSpLocks/>
          </p:cNvCxnSpPr>
          <p:nvPr/>
        </p:nvCxnSpPr>
        <p:spPr>
          <a:xfrm flipV="1">
            <a:off x="476249" y="4070350"/>
            <a:ext cx="0" cy="96270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069B69-EB68-F4DB-935B-F6D25196E50E}"/>
              </a:ext>
            </a:extLst>
          </p:cNvPr>
          <p:cNvCxnSpPr>
            <a:cxnSpLocks/>
          </p:cNvCxnSpPr>
          <p:nvPr/>
        </p:nvCxnSpPr>
        <p:spPr>
          <a:xfrm flipV="1">
            <a:off x="328845" y="3840434"/>
            <a:ext cx="0" cy="134501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9C0CF-0EDC-4F46-30CC-07A11EC930AF}"/>
              </a:ext>
            </a:extLst>
          </p:cNvPr>
          <p:cNvCxnSpPr>
            <a:cxnSpLocks/>
          </p:cNvCxnSpPr>
          <p:nvPr/>
        </p:nvCxnSpPr>
        <p:spPr>
          <a:xfrm>
            <a:off x="328845" y="3859314"/>
            <a:ext cx="58055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6CB7EA-68AC-CE53-57BE-B473C2CF958E}"/>
              </a:ext>
            </a:extLst>
          </p:cNvPr>
          <p:cNvCxnSpPr>
            <a:cxnSpLocks/>
          </p:cNvCxnSpPr>
          <p:nvPr/>
        </p:nvCxnSpPr>
        <p:spPr>
          <a:xfrm>
            <a:off x="4663502" y="3340670"/>
            <a:ext cx="50061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0E544F-7E23-43E4-EC88-F5B388457CE3}"/>
              </a:ext>
            </a:extLst>
          </p:cNvPr>
          <p:cNvCxnSpPr>
            <a:cxnSpLocks/>
          </p:cNvCxnSpPr>
          <p:nvPr/>
        </p:nvCxnSpPr>
        <p:spPr>
          <a:xfrm flipV="1">
            <a:off x="4658505" y="3321077"/>
            <a:ext cx="0" cy="186437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CEADFB-C2A6-9E93-7632-720B7A120186}"/>
              </a:ext>
            </a:extLst>
          </p:cNvPr>
          <p:cNvCxnSpPr>
            <a:cxnSpLocks/>
          </p:cNvCxnSpPr>
          <p:nvPr/>
        </p:nvCxnSpPr>
        <p:spPr>
          <a:xfrm>
            <a:off x="4511101" y="3069892"/>
            <a:ext cx="65301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43B49C-386F-DC73-A795-A8D17E9F62CD}"/>
              </a:ext>
            </a:extLst>
          </p:cNvPr>
          <p:cNvCxnSpPr>
            <a:cxnSpLocks/>
          </p:cNvCxnSpPr>
          <p:nvPr/>
        </p:nvCxnSpPr>
        <p:spPr>
          <a:xfrm flipV="1">
            <a:off x="4511101" y="3049632"/>
            <a:ext cx="0" cy="198342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38F501-C3BC-040F-7A6A-E04F7C339A16}"/>
              </a:ext>
            </a:extLst>
          </p:cNvPr>
          <p:cNvCxnSpPr>
            <a:cxnSpLocks/>
          </p:cNvCxnSpPr>
          <p:nvPr/>
        </p:nvCxnSpPr>
        <p:spPr>
          <a:xfrm flipV="1">
            <a:off x="4204947" y="2793525"/>
            <a:ext cx="0" cy="21055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50F4F7-9430-4411-EB01-526FBFB0582B}"/>
              </a:ext>
            </a:extLst>
          </p:cNvPr>
          <p:cNvCxnSpPr>
            <a:cxnSpLocks/>
          </p:cNvCxnSpPr>
          <p:nvPr/>
        </p:nvCxnSpPr>
        <p:spPr>
          <a:xfrm flipV="1">
            <a:off x="4204947" y="2812405"/>
            <a:ext cx="959165" cy="117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B35792-47BB-221A-EFF4-6FD4E6EBE163}"/>
              </a:ext>
            </a:extLst>
          </p:cNvPr>
          <p:cNvCxnSpPr>
            <a:cxnSpLocks/>
          </p:cNvCxnSpPr>
          <p:nvPr/>
        </p:nvCxnSpPr>
        <p:spPr>
          <a:xfrm>
            <a:off x="623653" y="4880653"/>
            <a:ext cx="3581294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9969B98-F86E-114A-F846-259F4F62D961}"/>
              </a:ext>
            </a:extLst>
          </p:cNvPr>
          <p:cNvCxnSpPr>
            <a:cxnSpLocks/>
          </p:cNvCxnSpPr>
          <p:nvPr/>
        </p:nvCxnSpPr>
        <p:spPr>
          <a:xfrm>
            <a:off x="457200" y="5016386"/>
            <a:ext cx="405889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4C9F86-A563-BA91-AC10-B090B804F9DD}"/>
              </a:ext>
            </a:extLst>
          </p:cNvPr>
          <p:cNvCxnSpPr>
            <a:cxnSpLocks/>
          </p:cNvCxnSpPr>
          <p:nvPr/>
        </p:nvCxnSpPr>
        <p:spPr>
          <a:xfrm>
            <a:off x="328845" y="5169578"/>
            <a:ext cx="433965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271B8C9-B56A-79DB-20E2-E1D57941A7E4}"/>
              </a:ext>
            </a:extLst>
          </p:cNvPr>
          <p:cNvSpPr txBox="1"/>
          <p:nvPr/>
        </p:nvSpPr>
        <p:spPr>
          <a:xfrm>
            <a:off x="4864624" y="5245753"/>
            <a:ext cx="3571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KB2040</a:t>
            </a:r>
            <a:r>
              <a:rPr lang="en-US" dirty="0"/>
              <a:t> can kill the power to the electromagnet by putting the DRV8333 into </a:t>
            </a:r>
            <a:r>
              <a:rPr lang="en-US" u="sng" dirty="0"/>
              <a:t>sleep</a:t>
            </a:r>
            <a:r>
              <a:rPr lang="en-US" dirty="0"/>
              <a:t> mode by </a:t>
            </a:r>
            <a:r>
              <a:rPr lang="en-US" i="1" dirty="0"/>
              <a:t>asserting</a:t>
            </a:r>
            <a:r>
              <a:rPr lang="en-US" dirty="0"/>
              <a:t> the </a:t>
            </a:r>
            <a:r>
              <a:rPr lang="en-US" b="1" dirty="0">
                <a:solidFill>
                  <a:srgbClr val="7030A0"/>
                </a:solidFill>
              </a:rPr>
              <a:t>SLP</a:t>
            </a:r>
            <a:r>
              <a:rPr lang="en-US" dirty="0"/>
              <a:t> pin (</a:t>
            </a:r>
            <a:r>
              <a:rPr lang="en-US" b="1" dirty="0">
                <a:solidFill>
                  <a:srgbClr val="7030A0"/>
                </a:solidFill>
              </a:rPr>
              <a:t>D6</a:t>
            </a:r>
            <a:r>
              <a:rPr lang="en-US" dirty="0"/>
              <a:t> on MCU)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10210-DC51-0E25-4016-5A2EAD75B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73499" y="2266992"/>
            <a:ext cx="889709" cy="2943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EF5C8E-66D6-43EA-6075-05948C564992}"/>
              </a:ext>
            </a:extLst>
          </p:cNvPr>
          <p:cNvCxnSpPr>
            <a:cxnSpLocks/>
          </p:cNvCxnSpPr>
          <p:nvPr/>
        </p:nvCxnSpPr>
        <p:spPr>
          <a:xfrm>
            <a:off x="6465445" y="2813580"/>
            <a:ext cx="8572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8F3D4B-0CB2-93E6-ECDA-ACEC2E9AE26E}"/>
              </a:ext>
            </a:extLst>
          </p:cNvPr>
          <p:cNvCxnSpPr>
            <a:cxnSpLocks/>
          </p:cNvCxnSpPr>
          <p:nvPr/>
        </p:nvCxnSpPr>
        <p:spPr>
          <a:xfrm>
            <a:off x="7303647" y="1999160"/>
            <a:ext cx="3269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E2AE57-8426-C3B7-CB39-DF170C34F118}"/>
              </a:ext>
            </a:extLst>
          </p:cNvPr>
          <p:cNvCxnSpPr>
            <a:cxnSpLocks/>
          </p:cNvCxnSpPr>
          <p:nvPr/>
        </p:nvCxnSpPr>
        <p:spPr>
          <a:xfrm>
            <a:off x="6482112" y="3071616"/>
            <a:ext cx="63786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011072-5E1B-66D1-8C8E-44FBE0ACA3E1}"/>
              </a:ext>
            </a:extLst>
          </p:cNvPr>
          <p:cNvCxnSpPr>
            <a:cxnSpLocks/>
          </p:cNvCxnSpPr>
          <p:nvPr/>
        </p:nvCxnSpPr>
        <p:spPr>
          <a:xfrm flipV="1">
            <a:off x="7103311" y="3057996"/>
            <a:ext cx="0" cy="7835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10E103-9D52-6470-6FDF-8104291AA544}"/>
              </a:ext>
            </a:extLst>
          </p:cNvPr>
          <p:cNvCxnSpPr>
            <a:cxnSpLocks/>
          </p:cNvCxnSpPr>
          <p:nvPr/>
        </p:nvCxnSpPr>
        <p:spPr>
          <a:xfrm>
            <a:off x="7081838" y="3853837"/>
            <a:ext cx="5511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D2D797-96D9-F9A4-D653-B8B2F6F27D5B}"/>
              </a:ext>
            </a:extLst>
          </p:cNvPr>
          <p:cNvCxnSpPr>
            <a:cxnSpLocks/>
          </p:cNvCxnSpPr>
          <p:nvPr/>
        </p:nvCxnSpPr>
        <p:spPr>
          <a:xfrm flipV="1">
            <a:off x="7616893" y="1999160"/>
            <a:ext cx="2982" cy="258083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9EEEAE-B88E-C24A-C936-BC9C719D8B1C}"/>
              </a:ext>
            </a:extLst>
          </p:cNvPr>
          <p:cNvCxnSpPr>
            <a:cxnSpLocks/>
          </p:cNvCxnSpPr>
          <p:nvPr/>
        </p:nvCxnSpPr>
        <p:spPr>
          <a:xfrm>
            <a:off x="4345233" y="4561863"/>
            <a:ext cx="328535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4F7689-8C5F-C414-D57A-5A4495B9AB09}"/>
              </a:ext>
            </a:extLst>
          </p:cNvPr>
          <p:cNvCxnSpPr>
            <a:cxnSpLocks/>
          </p:cNvCxnSpPr>
          <p:nvPr/>
        </p:nvCxnSpPr>
        <p:spPr>
          <a:xfrm flipV="1">
            <a:off x="4359156" y="3627294"/>
            <a:ext cx="0" cy="95369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F41249-717C-B46D-E968-D3C7634C8B61}"/>
              </a:ext>
            </a:extLst>
          </p:cNvPr>
          <p:cNvCxnSpPr>
            <a:cxnSpLocks/>
          </p:cNvCxnSpPr>
          <p:nvPr/>
        </p:nvCxnSpPr>
        <p:spPr>
          <a:xfrm>
            <a:off x="3924907" y="3624119"/>
            <a:ext cx="452692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2B975BE-BDD9-7A04-9C8D-5C7272B656F1}"/>
              </a:ext>
            </a:extLst>
          </p:cNvPr>
          <p:cNvSpPr txBox="1"/>
          <p:nvPr/>
        </p:nvSpPr>
        <p:spPr>
          <a:xfrm>
            <a:off x="6636000" y="2252802"/>
            <a:ext cx="493661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1K</a:t>
            </a:r>
            <a:r>
              <a:rPr lang="el-GR" sz="1400" b="1" dirty="0"/>
              <a:t>Ω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5160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Digital to Analog Conversion via PWM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6E81A-AC0F-D811-CE2C-835E12FE6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816" y="1746353"/>
            <a:ext cx="5179934" cy="4661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59E1EA-740B-8551-DEC0-A81D50791F65}"/>
                  </a:ext>
                </a:extLst>
              </p:cNvPr>
              <p:cNvSpPr txBox="1"/>
              <p:nvPr/>
            </p:nvSpPr>
            <p:spPr>
              <a:xfrm>
                <a:off x="6153619" y="3279096"/>
                <a:ext cx="183556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×0.25=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0.825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59E1EA-740B-8551-DEC0-A81D50791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19" y="3279096"/>
                <a:ext cx="1835566" cy="246221"/>
              </a:xfrm>
              <a:prstGeom prst="rect">
                <a:avLst/>
              </a:prstGeom>
              <a:blipFill>
                <a:blip r:embed="rId3"/>
                <a:stretch>
                  <a:fillRect l="-1987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7624CE-C838-FC66-7322-3B0309F5B632}"/>
                  </a:ext>
                </a:extLst>
              </p:cNvPr>
              <p:cNvSpPr txBox="1"/>
              <p:nvPr/>
            </p:nvSpPr>
            <p:spPr>
              <a:xfrm>
                <a:off x="6153619" y="4173509"/>
                <a:ext cx="17217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×0.50=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1.65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7624CE-C838-FC66-7322-3B0309F5B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19" y="4173509"/>
                <a:ext cx="1721753" cy="246221"/>
              </a:xfrm>
              <a:prstGeom prst="rect">
                <a:avLst/>
              </a:prstGeom>
              <a:blipFill>
                <a:blip r:embed="rId4"/>
                <a:stretch>
                  <a:fillRect l="-2120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E763C9-8EF4-CB93-E9B2-9BCD06083292}"/>
                  </a:ext>
                </a:extLst>
              </p:cNvPr>
              <p:cNvSpPr txBox="1"/>
              <p:nvPr/>
            </p:nvSpPr>
            <p:spPr>
              <a:xfrm>
                <a:off x="6153619" y="5067922"/>
                <a:ext cx="17217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×0.75=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2.48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E763C9-8EF4-CB93-E9B2-9BCD06083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19" y="5067922"/>
                <a:ext cx="1721753" cy="246221"/>
              </a:xfrm>
              <a:prstGeom prst="rect">
                <a:avLst/>
              </a:prstGeom>
              <a:blipFill>
                <a:blip r:embed="rId5"/>
                <a:stretch>
                  <a:fillRect l="-2120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0DAFA7-5E0C-27A1-DF17-368C41E1D07A}"/>
                  </a:ext>
                </a:extLst>
              </p:cNvPr>
              <p:cNvSpPr txBox="1"/>
              <p:nvPr/>
            </p:nvSpPr>
            <p:spPr>
              <a:xfrm>
                <a:off x="6150565" y="5598592"/>
                <a:ext cx="45057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n>
                    <a:solidFill>
                      <a:srgbClr val="3280A4"/>
                    </a:solidFill>
                  </a:ln>
                  <a:solidFill>
                    <a:srgbClr val="3280A4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0DAFA7-5E0C-27A1-DF17-368C41E1D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565" y="5598592"/>
                <a:ext cx="450572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F2BB07-97F5-4E96-03EB-B349D674E65C}"/>
                  </a:ext>
                </a:extLst>
              </p:cNvPr>
              <p:cNvSpPr txBox="1"/>
              <p:nvPr/>
            </p:nvSpPr>
            <p:spPr>
              <a:xfrm>
                <a:off x="6150565" y="2507793"/>
                <a:ext cx="2950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n>
                    <a:solidFill>
                      <a:srgbClr val="3280A4"/>
                    </a:solidFill>
                  </a:ln>
                  <a:solidFill>
                    <a:srgbClr val="3280A4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F2BB07-97F5-4E96-03EB-B349D674E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565" y="2507793"/>
                <a:ext cx="295081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0F3E938-4594-6564-9EBE-06C37F024198}"/>
              </a:ext>
            </a:extLst>
          </p:cNvPr>
          <p:cNvSpPr/>
          <p:nvPr/>
        </p:nvSpPr>
        <p:spPr>
          <a:xfrm>
            <a:off x="1139825" y="1836295"/>
            <a:ext cx="561559" cy="479685"/>
          </a:xfrm>
          <a:prstGeom prst="rect">
            <a:avLst/>
          </a:prstGeom>
          <a:noFill/>
          <a:ln w="38100">
            <a:solidFill>
              <a:srgbClr val="328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3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Triple Axis Magnetometer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1C10B-0732-2E97-ACD6-4C6B08AC37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8208" y="1690689"/>
            <a:ext cx="2915587" cy="2113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3D6BB0-8420-AC7E-0C3F-49D171AC2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207" y="1625798"/>
            <a:ext cx="3070316" cy="34512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D7D9A6-9E5B-E821-B87E-7917661B56E2}"/>
              </a:ext>
            </a:extLst>
          </p:cNvPr>
          <p:cNvSpPr txBox="1"/>
          <p:nvPr/>
        </p:nvSpPr>
        <p:spPr>
          <a:xfrm>
            <a:off x="723494" y="4234152"/>
            <a:ext cx="34625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Because the </a:t>
            </a:r>
            <a:r>
              <a:rPr lang="en-US" dirty="0">
                <a:solidFill>
                  <a:srgbClr val="0070C0"/>
                </a:solidFill>
              </a:rPr>
              <a:t>magnetic fields at the </a:t>
            </a:r>
            <a:r>
              <a:rPr lang="en-US" u="sng" dirty="0">
                <a:solidFill>
                  <a:srgbClr val="0070C0"/>
                </a:solidFill>
              </a:rPr>
              <a:t>end</a:t>
            </a:r>
            <a:r>
              <a:rPr lang="en-US" dirty="0">
                <a:solidFill>
                  <a:srgbClr val="0070C0"/>
                </a:solidFill>
              </a:rPr>
              <a:t> of the electromagnet</a:t>
            </a:r>
            <a:r>
              <a:rPr lang="en-US" dirty="0"/>
              <a:t> are circulating in all three dimensions in both clockwise and counterclockwise rotations, we will use this formula to find the </a:t>
            </a:r>
            <a:r>
              <a:rPr lang="en-US" b="1" dirty="0"/>
              <a:t>total magnitude</a:t>
            </a:r>
            <a:r>
              <a:rPr lang="en-US" dirty="0"/>
              <a:t> (strength) of the field: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021AC3-448C-039F-94D3-90C8C7B62450}"/>
                  </a:ext>
                </a:extLst>
              </p:cNvPr>
              <p:cNvSpPr txBox="1"/>
              <p:nvPr/>
            </p:nvSpPr>
            <p:spPr>
              <a:xfrm>
                <a:off x="4856815" y="5489196"/>
                <a:ext cx="2928687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𝑇𝑂𝑇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021AC3-448C-039F-94D3-90C8C7B62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815" y="5489196"/>
                <a:ext cx="2928687" cy="563680"/>
              </a:xfrm>
              <a:prstGeom prst="rect">
                <a:avLst/>
              </a:prstGeom>
              <a:blipFill>
                <a:blip r:embed="rId4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463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Step 44 – MMC5603 and Qwiic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E6473-E167-6918-BF10-44EFC84E4015}"/>
              </a:ext>
            </a:extLst>
          </p:cNvPr>
          <p:cNvSpPr txBox="1"/>
          <p:nvPr/>
        </p:nvSpPr>
        <p:spPr>
          <a:xfrm>
            <a:off x="332168" y="301178"/>
            <a:ext cx="176645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(1) MMC5603</a:t>
            </a:r>
          </a:p>
          <a:p>
            <a:r>
              <a:rPr lang="en-US" sz="1400" dirty="0"/>
              <a:t>(1) 5V Electromagnet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66187-F8D6-418A-8DAB-DC8258D6C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08" y="1478480"/>
            <a:ext cx="7556783" cy="47724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85889E-13C9-F489-8E8D-E06C754E5A72}"/>
              </a:ext>
            </a:extLst>
          </p:cNvPr>
          <p:cNvCxnSpPr/>
          <p:nvPr/>
        </p:nvCxnSpPr>
        <p:spPr>
          <a:xfrm flipH="1">
            <a:off x="4054840" y="4129790"/>
            <a:ext cx="704538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55A107-6555-AA54-FBE7-B48A8485F2A4}"/>
              </a:ext>
            </a:extLst>
          </p:cNvPr>
          <p:cNvCxnSpPr/>
          <p:nvPr/>
        </p:nvCxnSpPr>
        <p:spPr>
          <a:xfrm flipH="1">
            <a:off x="4334656" y="5196590"/>
            <a:ext cx="704538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22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B9F400-16AF-50BB-99BB-1910C6CE3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71" y="1485299"/>
            <a:ext cx="6732457" cy="45182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biot_savart.py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21E46-57C4-9247-2D87-198A116A91D1}"/>
              </a:ext>
            </a:extLst>
          </p:cNvPr>
          <p:cNvSpPr/>
          <p:nvPr/>
        </p:nvSpPr>
        <p:spPr>
          <a:xfrm>
            <a:off x="1371596" y="5261824"/>
            <a:ext cx="3725060" cy="4719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21EC36-21CB-7A23-EFD7-A415C515FBB8}"/>
              </a:ext>
            </a:extLst>
          </p:cNvPr>
          <p:cNvCxnSpPr/>
          <p:nvPr/>
        </p:nvCxnSpPr>
        <p:spPr>
          <a:xfrm flipV="1">
            <a:off x="1386586" y="5640292"/>
            <a:ext cx="693295" cy="5621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316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biot_savart.py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914C08-7E6C-473F-E560-3804471134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802" y="1330653"/>
            <a:ext cx="6376395" cy="527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9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biot_savart.py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914C08-7E6C-473F-E560-3804471134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802" y="1330653"/>
            <a:ext cx="6376395" cy="52709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AC6616-DC7C-7D42-B945-D1F85C6B7098}"/>
                  </a:ext>
                </a:extLst>
              </p:cNvPr>
              <p:cNvSpPr txBox="1"/>
              <p:nvPr/>
            </p:nvSpPr>
            <p:spPr>
              <a:xfrm>
                <a:off x="2574896" y="2487914"/>
                <a:ext cx="18771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AC6616-DC7C-7D42-B945-D1F85C6B7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896" y="2487914"/>
                <a:ext cx="18771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D66703-9E9B-36D3-D4DF-E7DD0D12462C}"/>
              </a:ext>
            </a:extLst>
          </p:cNvPr>
          <p:cNvCxnSpPr/>
          <p:nvPr/>
        </p:nvCxnSpPr>
        <p:spPr>
          <a:xfrm flipH="1">
            <a:off x="3341099" y="1881266"/>
            <a:ext cx="93859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92AEE6-9071-A423-2DC2-F812A5D40102}"/>
              </a:ext>
            </a:extLst>
          </p:cNvPr>
          <p:cNvSpPr txBox="1"/>
          <p:nvPr/>
        </p:nvSpPr>
        <p:spPr>
          <a:xfrm>
            <a:off x="4706911" y="4579495"/>
            <a:ext cx="2653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There appear to be some small </a:t>
            </a:r>
            <a:r>
              <a:rPr lang="en-US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non-linear</a:t>
            </a: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effects – why do you think that might be happening?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A8A632-6747-54DC-DADD-EFE81A674220}"/>
              </a:ext>
            </a:extLst>
          </p:cNvPr>
          <p:cNvCxnSpPr>
            <a:cxnSpLocks/>
          </p:cNvCxnSpPr>
          <p:nvPr/>
        </p:nvCxnSpPr>
        <p:spPr>
          <a:xfrm flipH="1" flipV="1">
            <a:off x="5299023" y="3814997"/>
            <a:ext cx="592112" cy="76449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C14C668-5B47-421D-2875-09E11A33D61D}"/>
              </a:ext>
            </a:extLst>
          </p:cNvPr>
          <p:cNvSpPr/>
          <p:nvPr/>
        </p:nvSpPr>
        <p:spPr>
          <a:xfrm>
            <a:off x="3175001" y="2487913"/>
            <a:ext cx="796924" cy="40133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F46134-60A1-FC63-6C77-8C966B833CD3}"/>
              </a:ext>
            </a:extLst>
          </p:cNvPr>
          <p:cNvSpPr txBox="1"/>
          <p:nvPr/>
        </p:nvSpPr>
        <p:spPr>
          <a:xfrm>
            <a:off x="2921392" y="2878801"/>
            <a:ext cx="130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constants</a:t>
            </a:r>
          </a:p>
        </p:txBody>
      </p:sp>
    </p:spTree>
    <p:extLst>
      <p:ext uri="{BB962C8B-B14F-4D97-AF65-F5344CB8AC3E}">
        <p14:creationId xmlns:p14="http://schemas.microsoft.com/office/powerpoint/2010/main" val="1179031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9792</TotalTime>
  <Words>401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The Biot-Savart Law</vt:lpstr>
      <vt:lpstr>How Electromagnets Work</vt:lpstr>
      <vt:lpstr>PowerPoint Presentation</vt:lpstr>
      <vt:lpstr>The Biot-Savart Law</vt:lpstr>
      <vt:lpstr>The Biot-Savart Law</vt:lpstr>
      <vt:lpstr>The Biot-Savart Law</vt:lpstr>
      <vt:lpstr>Why We Need a Motor Driver</vt:lpstr>
      <vt:lpstr>Digital to Analog Conversion via PWM</vt:lpstr>
      <vt:lpstr>Triple Axis Magnetometer</vt:lpstr>
      <vt:lpstr>Step 44 – MMC5603 and Qwiic</vt:lpstr>
      <vt:lpstr>Check biot_savart.py</vt:lpstr>
      <vt:lpstr>Check biot_savart.py</vt:lpstr>
      <vt:lpstr>Check biot_savart.py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1036</cp:revision>
  <cp:lastPrinted>2015-06-01T00:45:11Z</cp:lastPrinted>
  <dcterms:created xsi:type="dcterms:W3CDTF">2014-09-21T17:58:26Z</dcterms:created>
  <dcterms:modified xsi:type="dcterms:W3CDTF">2023-01-08T08:19:07Z</dcterms:modified>
</cp:coreProperties>
</file>