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460" r:id="rId2"/>
    <p:sldId id="1416" r:id="rId3"/>
    <p:sldId id="1418" r:id="rId4"/>
    <p:sldId id="1409" r:id="rId5"/>
    <p:sldId id="1419" r:id="rId6"/>
    <p:sldId id="1074" r:id="rId7"/>
    <p:sldId id="1073" r:id="rId8"/>
    <p:sldId id="1265" r:id="rId9"/>
    <p:sldId id="1425" r:id="rId10"/>
    <p:sldId id="1243" r:id="rId11"/>
    <p:sldId id="1459" r:id="rId12"/>
    <p:sldId id="1429" r:id="rId13"/>
    <p:sldId id="1461" r:id="rId14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823E"/>
    <a:srgbClr val="4993C7"/>
    <a:srgbClr val="3280A4"/>
    <a:srgbClr val="5D80B4"/>
    <a:srgbClr val="E6E6E6"/>
    <a:srgbClr val="8C3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09" autoAdjust="0"/>
  </p:normalViewPr>
  <p:slideViewPr>
    <p:cSldViewPr snapToGrid="0">
      <p:cViewPr varScale="1">
        <p:scale>
          <a:sx n="120" d="100"/>
          <a:sy n="120" d="100"/>
        </p:scale>
        <p:origin x="13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12/18/2023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12/18/2023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12/18/2023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12/18/2023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12/18/2023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D8D1F-051C-48C7-91AB-482302FE3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33B3E1-0D87-D6A9-78FC-3EA6D47CB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00" y="698474"/>
            <a:ext cx="5298279" cy="35378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74B64E8C-7BF5-78F5-2ED4-4DC9E406511F}"/>
              </a:ext>
            </a:extLst>
          </p:cNvPr>
          <p:cNvGrpSpPr/>
          <p:nvPr/>
        </p:nvGrpSpPr>
        <p:grpSpPr>
          <a:xfrm>
            <a:off x="5725008" y="926279"/>
            <a:ext cx="3172691" cy="4200717"/>
            <a:chOff x="5697345" y="814191"/>
            <a:chExt cx="3172691" cy="420071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9E72BF4-1C3A-D1AC-9CA3-5FE2E816B79E}"/>
                </a:ext>
              </a:extLst>
            </p:cNvPr>
            <p:cNvSpPr txBox="1"/>
            <p:nvPr/>
          </p:nvSpPr>
          <p:spPr>
            <a:xfrm>
              <a:off x="6023301" y="2308225"/>
              <a:ext cx="252077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Student #1</a:t>
              </a:r>
            </a:p>
            <a:p>
              <a:pPr algn="ctr"/>
              <a:r>
                <a:rPr lang="en-US" dirty="0"/>
                <a:t>Student #2</a:t>
              </a:r>
            </a:p>
            <a:p>
              <a:pPr algn="ctr"/>
              <a:r>
                <a:rPr lang="en-US"/>
                <a:t>Student #3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37C7F66-FBD2-4BF6-62E5-8A37BCFAF7E0}"/>
                </a:ext>
              </a:extLst>
            </p:cNvPr>
            <p:cNvSpPr txBox="1"/>
            <p:nvPr/>
          </p:nvSpPr>
          <p:spPr>
            <a:xfrm>
              <a:off x="5697345" y="814191"/>
              <a:ext cx="31726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Control Systems</a:t>
              </a:r>
            </a:p>
            <a:p>
              <a:pPr algn="ctr"/>
              <a:r>
                <a:rPr lang="en-US" sz="2000" b="1" dirty="0"/>
                <a:t>Engineering</a:t>
              </a:r>
            </a:p>
            <a:p>
              <a:pPr algn="ctr"/>
              <a:r>
                <a:rPr lang="en-US" sz="2000" dirty="0"/>
                <a:t>(CSE 201)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DD062F-CCDE-C11A-48EF-C4C1D3DD1BFD}"/>
                </a:ext>
              </a:extLst>
            </p:cNvPr>
            <p:cNvSpPr txBox="1"/>
            <p:nvPr/>
          </p:nvSpPr>
          <p:spPr>
            <a:xfrm>
              <a:off x="5961841" y="4091578"/>
              <a:ext cx="2643698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Team 09</a:t>
              </a:r>
            </a:p>
            <a:p>
              <a:pPr algn="ctr"/>
              <a:r>
                <a:rPr lang="en-US" dirty="0"/>
                <a:t>RLC Resonance</a:t>
              </a:r>
            </a:p>
            <a:p>
              <a:pPr algn="ctr"/>
              <a:r>
                <a:rPr lang="en-US" dirty="0"/>
                <a:t>Spectrum Analyzers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27732-83E6-04A2-5845-6ACA361CC4C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6028" y="5701304"/>
            <a:ext cx="2330650" cy="5688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03CD4A6-FFBC-151B-CD40-F585ACB1099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301" y="4390130"/>
            <a:ext cx="3281713" cy="17219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24EAD51-C7F2-8CD6-13FA-37E97B1526D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8260" y="5126996"/>
            <a:ext cx="2786319" cy="12461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4882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Challenge: </a:t>
            </a:r>
            <a:r>
              <a:rPr lang="en-US" sz="3200" b="1" dirty="0">
                <a:latin typeface="+mn-lt"/>
              </a:rPr>
              <a:t>Build a Spectrum Analyzer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0070C0"/>
                </a:solidFill>
              </a:rPr>
              <a:t>spectrum analyzer</a:t>
            </a:r>
            <a:r>
              <a:rPr lang="en-US" sz="2400" dirty="0"/>
              <a:t> (SA) is an advanced </a:t>
            </a:r>
            <a:r>
              <a:rPr lang="en-US" sz="2400" u="sng" dirty="0"/>
              <a:t>benchtop</a:t>
            </a:r>
            <a:r>
              <a:rPr lang="en-US" sz="2400" dirty="0"/>
              <a:t> </a:t>
            </a:r>
            <a:r>
              <a:rPr lang="en-US" sz="2400" i="1" dirty="0"/>
              <a:t>instrument</a:t>
            </a:r>
            <a:r>
              <a:rPr lang="en-US" sz="2400" dirty="0"/>
              <a:t> used to measure a circuit's response as the circuit's inputs are systematically </a:t>
            </a:r>
            <a:r>
              <a:rPr lang="en-US" sz="2400" b="1" dirty="0">
                <a:solidFill>
                  <a:srgbClr val="FF0000"/>
                </a:solidFill>
              </a:rPr>
              <a:t>swept</a:t>
            </a:r>
            <a:r>
              <a:rPr lang="en-US" sz="2400" dirty="0"/>
              <a:t> across a wide range of frequencies</a:t>
            </a:r>
          </a:p>
          <a:p>
            <a:r>
              <a:rPr lang="en-US" sz="2400" dirty="0"/>
              <a:t>By plotting circuit measurements like </a:t>
            </a:r>
            <a:r>
              <a:rPr lang="en-US" sz="2400" b="1" dirty="0">
                <a:solidFill>
                  <a:srgbClr val="00B050"/>
                </a:solidFill>
              </a:rPr>
              <a:t>output voltage</a:t>
            </a:r>
            <a:r>
              <a:rPr lang="en-US" sz="2400" dirty="0"/>
              <a:t>, the SA can help identify the frequencies that induce resonance</a:t>
            </a:r>
          </a:p>
          <a:p>
            <a:r>
              <a:rPr lang="en-US" sz="2400" dirty="0"/>
              <a:t>This analysis is crucial when designing radios and antennas that can transmit and receive signals at </a:t>
            </a:r>
            <a:r>
              <a:rPr lang="en-US" sz="2400" b="1" dirty="0"/>
              <a:t>specific</a:t>
            </a:r>
            <a:r>
              <a:rPr lang="en-US" sz="2400" dirty="0"/>
              <a:t> frequencies</a:t>
            </a:r>
          </a:p>
          <a:p>
            <a:r>
              <a:rPr lang="en-US" sz="2400" dirty="0"/>
              <a:t>We need a </a:t>
            </a:r>
            <a:r>
              <a:rPr lang="en-US" sz="2400" b="1" dirty="0"/>
              <a:t>SA</a:t>
            </a:r>
            <a:r>
              <a:rPr lang="en-US" sz="2400" dirty="0"/>
              <a:t> to design and test cell towers, Wi-Fi stations, GPS satellites, radar detectors, laser ranging devices, and even acoustical instruments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12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Finding a Circuit's Resonant Frequency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90FDC7-52C8-D1F8-C905-6D0124950847}"/>
              </a:ext>
            </a:extLst>
          </p:cNvPr>
          <p:cNvSpPr txBox="1"/>
          <p:nvPr/>
        </p:nvSpPr>
        <p:spPr>
          <a:xfrm>
            <a:off x="914401" y="4920362"/>
            <a:ext cx="300559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7030A0"/>
                </a:solidFill>
              </a:rPr>
              <a:t>Our challenge was to use a $10 KB2040 to determine the resonant frequency of an RLC circuit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090541-33E6-68E0-4B32-5986113FBAA7}"/>
              </a:ext>
            </a:extLst>
          </p:cNvPr>
          <p:cNvSpPr txBox="1"/>
          <p:nvPr/>
        </p:nvSpPr>
        <p:spPr>
          <a:xfrm>
            <a:off x="4572000" y="4920362"/>
            <a:ext cx="35843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Team 08 </a:t>
            </a:r>
            <a:r>
              <a:rPr lang="en-US" sz="2000" dirty="0">
                <a:solidFill>
                  <a:srgbClr val="7030A0"/>
                </a:solidFill>
              </a:rPr>
              <a:t>already simulated our RLC circuit being driven by an AC voltage source…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133130-26B2-B69E-3B45-48EE7711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31" y="1625222"/>
            <a:ext cx="7562538" cy="27604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5D72BE-560E-56D6-E91E-8263D2DC04B1}"/>
              </a:ext>
            </a:extLst>
          </p:cNvPr>
          <p:cNvSpPr txBox="1"/>
          <p:nvPr/>
        </p:nvSpPr>
        <p:spPr>
          <a:xfrm>
            <a:off x="5089161" y="2713069"/>
            <a:ext cx="682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endParaRPr lang="en-US" sz="3200" dirty="0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B95935-0D5A-1281-5EE1-AB56432302D7}"/>
              </a:ext>
            </a:extLst>
          </p:cNvPr>
          <p:cNvSpPr/>
          <p:nvPr/>
        </p:nvSpPr>
        <p:spPr>
          <a:xfrm>
            <a:off x="4572000" y="3429000"/>
            <a:ext cx="3657600" cy="891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0D7AA5-EAA9-E4A2-1D11-298442859977}"/>
              </a:ext>
            </a:extLst>
          </p:cNvPr>
          <p:cNvSpPr/>
          <p:nvPr/>
        </p:nvSpPr>
        <p:spPr>
          <a:xfrm>
            <a:off x="6400800" y="2225358"/>
            <a:ext cx="2313830" cy="1591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3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13AA26A-4AB9-9FC7-C312-67C703050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73" y="1420895"/>
            <a:ext cx="6515854" cy="53005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Team 08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90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BBBE5C8-B14B-8758-14A2-29C6300771E1}"/>
              </a:ext>
            </a:extLst>
          </p:cNvPr>
          <p:cNvGrpSpPr/>
          <p:nvPr/>
        </p:nvGrpSpPr>
        <p:grpSpPr>
          <a:xfrm>
            <a:off x="2929155" y="4685033"/>
            <a:ext cx="2249026" cy="1532205"/>
            <a:chOff x="2929155" y="4685033"/>
            <a:chExt cx="2249026" cy="153220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52F6020-F1DA-55DC-52CB-FBD71BB8F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9155" y="4685033"/>
              <a:ext cx="2249026" cy="1532205"/>
            </a:xfrm>
            <a:prstGeom prst="rect">
              <a:avLst/>
            </a:prstGeom>
          </p:spPr>
        </p:pic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C2A4051D-3AC7-7A24-F3DE-364850AAE0C5}"/>
                </a:ext>
              </a:extLst>
            </p:cNvPr>
            <p:cNvSpPr txBox="1"/>
            <p:nvPr/>
          </p:nvSpPr>
          <p:spPr>
            <a:xfrm>
              <a:off x="3726712" y="5017795"/>
              <a:ext cx="813277" cy="523220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7030A0"/>
                  </a:solidFill>
                </a:rPr>
                <a:t>TLV2462</a:t>
              </a:r>
            </a:p>
            <a:p>
              <a:pPr algn="ctr"/>
              <a:r>
                <a:rPr lang="en-US" sz="1400" dirty="0">
                  <a:solidFill>
                    <a:srgbClr val="7030A0"/>
                  </a:solidFill>
                </a:rPr>
                <a:t>Op Amp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Approach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1EB07-AAAB-2B81-431A-6B5FB1898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52" y="2080508"/>
            <a:ext cx="1648597" cy="3216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DAEF19-0D9C-030B-3BA2-1C456A880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387" y="2080508"/>
            <a:ext cx="2711963" cy="38661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176FF0-2639-DD8F-A21A-7E0B71EA3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314" y="2080508"/>
            <a:ext cx="1525598" cy="2194456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4E9916B-00EB-8F3E-80E6-5CF6E39967AA}"/>
              </a:ext>
            </a:extLst>
          </p:cNvPr>
          <p:cNvCxnSpPr/>
          <p:nvPr/>
        </p:nvCxnSpPr>
        <p:spPr>
          <a:xfrm>
            <a:off x="2196060" y="2825646"/>
            <a:ext cx="33727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31764E-01A1-B333-2A3D-591871CF2EC8}"/>
              </a:ext>
            </a:extLst>
          </p:cNvPr>
          <p:cNvCxnSpPr>
            <a:cxnSpLocks/>
          </p:cNvCxnSpPr>
          <p:nvPr/>
        </p:nvCxnSpPr>
        <p:spPr>
          <a:xfrm>
            <a:off x="2548328" y="5976079"/>
            <a:ext cx="10867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5D0CFDE-7CAB-31CD-0348-E6930914C31B}"/>
              </a:ext>
            </a:extLst>
          </p:cNvPr>
          <p:cNvCxnSpPr>
            <a:cxnSpLocks/>
          </p:cNvCxnSpPr>
          <p:nvPr/>
        </p:nvCxnSpPr>
        <p:spPr>
          <a:xfrm>
            <a:off x="2548328" y="2550826"/>
            <a:ext cx="99801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1299CE-C24A-1AAC-ACB0-36EDEC30BFDF}"/>
              </a:ext>
            </a:extLst>
          </p:cNvPr>
          <p:cNvCxnSpPr>
            <a:cxnSpLocks/>
          </p:cNvCxnSpPr>
          <p:nvPr/>
        </p:nvCxnSpPr>
        <p:spPr>
          <a:xfrm>
            <a:off x="2548328" y="3790013"/>
            <a:ext cx="97553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D50DD82-6096-EAFC-9D02-040176B52F62}"/>
              </a:ext>
            </a:extLst>
          </p:cNvPr>
          <p:cNvCxnSpPr>
            <a:cxnSpLocks/>
          </p:cNvCxnSpPr>
          <p:nvPr/>
        </p:nvCxnSpPr>
        <p:spPr>
          <a:xfrm>
            <a:off x="2533337" y="2531269"/>
            <a:ext cx="2" cy="37957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CA68F1F-583A-7FA1-F552-B9F12EE906ED}"/>
              </a:ext>
            </a:extLst>
          </p:cNvPr>
          <p:cNvCxnSpPr>
            <a:cxnSpLocks/>
          </p:cNvCxnSpPr>
          <p:nvPr/>
        </p:nvCxnSpPr>
        <p:spPr>
          <a:xfrm flipH="1">
            <a:off x="2524835" y="6270117"/>
            <a:ext cx="5466787" cy="401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39DC1E1-C39B-F231-20CC-25E06C0C325F}"/>
              </a:ext>
            </a:extLst>
          </p:cNvPr>
          <p:cNvCxnSpPr>
            <a:cxnSpLocks/>
          </p:cNvCxnSpPr>
          <p:nvPr/>
        </p:nvCxnSpPr>
        <p:spPr>
          <a:xfrm>
            <a:off x="2185691" y="3285345"/>
            <a:ext cx="6774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CD88B47-D2AE-C437-C1DA-02FFD6133190}"/>
              </a:ext>
            </a:extLst>
          </p:cNvPr>
          <p:cNvCxnSpPr>
            <a:cxnSpLocks/>
          </p:cNvCxnSpPr>
          <p:nvPr/>
        </p:nvCxnSpPr>
        <p:spPr>
          <a:xfrm>
            <a:off x="2868916" y="2240913"/>
            <a:ext cx="67743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946A4A9-3142-9300-C59C-7856966564F7}"/>
              </a:ext>
            </a:extLst>
          </p:cNvPr>
          <p:cNvCxnSpPr>
            <a:cxnSpLocks/>
          </p:cNvCxnSpPr>
          <p:nvPr/>
        </p:nvCxnSpPr>
        <p:spPr>
          <a:xfrm>
            <a:off x="2863121" y="2221865"/>
            <a:ext cx="0" cy="21527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FD9C0F4-5BBB-7F1D-C487-8127B18D1D2E}"/>
              </a:ext>
            </a:extLst>
          </p:cNvPr>
          <p:cNvCxnSpPr>
            <a:cxnSpLocks/>
          </p:cNvCxnSpPr>
          <p:nvPr/>
        </p:nvCxnSpPr>
        <p:spPr>
          <a:xfrm>
            <a:off x="4567238" y="4951752"/>
            <a:ext cx="631031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5243D17-5DAE-BBE2-5606-D9B8F3A98945}"/>
              </a:ext>
            </a:extLst>
          </p:cNvPr>
          <p:cNvCxnSpPr>
            <a:cxnSpLocks/>
          </p:cNvCxnSpPr>
          <p:nvPr/>
        </p:nvCxnSpPr>
        <p:spPr>
          <a:xfrm>
            <a:off x="2847871" y="4369868"/>
            <a:ext cx="233031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1E03547-1C70-641C-3172-438D51210C0C}"/>
              </a:ext>
            </a:extLst>
          </p:cNvPr>
          <p:cNvCxnSpPr>
            <a:cxnSpLocks/>
          </p:cNvCxnSpPr>
          <p:nvPr/>
        </p:nvCxnSpPr>
        <p:spPr>
          <a:xfrm>
            <a:off x="5178181" y="4350544"/>
            <a:ext cx="0" cy="6012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3B6E16C-59C0-0D89-2FA6-F4C763CED86C}"/>
              </a:ext>
            </a:extLst>
          </p:cNvPr>
          <p:cNvCxnSpPr>
            <a:cxnSpLocks/>
          </p:cNvCxnSpPr>
          <p:nvPr/>
        </p:nvCxnSpPr>
        <p:spPr>
          <a:xfrm flipV="1">
            <a:off x="2174449" y="4951631"/>
            <a:ext cx="525317" cy="249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738551B-C9EB-E15D-A2EF-81E8EAEE9425}"/>
              </a:ext>
            </a:extLst>
          </p:cNvPr>
          <p:cNvCxnSpPr>
            <a:cxnSpLocks/>
          </p:cNvCxnSpPr>
          <p:nvPr/>
        </p:nvCxnSpPr>
        <p:spPr>
          <a:xfrm>
            <a:off x="2174449" y="4477085"/>
            <a:ext cx="549373" cy="272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3987840-0F39-3771-A89B-41B1AA4A8BFF}"/>
              </a:ext>
            </a:extLst>
          </p:cNvPr>
          <p:cNvCxnSpPr>
            <a:cxnSpLocks/>
          </p:cNvCxnSpPr>
          <p:nvPr/>
        </p:nvCxnSpPr>
        <p:spPr>
          <a:xfrm flipV="1">
            <a:off x="2181592" y="5186980"/>
            <a:ext cx="542230" cy="471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096C419-1F67-0A60-0E80-812595E20883}"/>
              </a:ext>
            </a:extLst>
          </p:cNvPr>
          <p:cNvCxnSpPr>
            <a:cxnSpLocks/>
          </p:cNvCxnSpPr>
          <p:nvPr/>
        </p:nvCxnSpPr>
        <p:spPr>
          <a:xfrm>
            <a:off x="2708222" y="2830409"/>
            <a:ext cx="0" cy="235866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17060C0-62E5-8AC9-5419-3B8951D3D5CA}"/>
              </a:ext>
            </a:extLst>
          </p:cNvPr>
          <p:cNvCxnSpPr>
            <a:cxnSpLocks/>
          </p:cNvCxnSpPr>
          <p:nvPr/>
        </p:nvCxnSpPr>
        <p:spPr>
          <a:xfrm>
            <a:off x="2708222" y="2851470"/>
            <a:ext cx="85221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7F8F95F-83D4-A9C2-5B55-B024B6D188C8}"/>
              </a:ext>
            </a:extLst>
          </p:cNvPr>
          <p:cNvCxnSpPr>
            <a:cxnSpLocks/>
          </p:cNvCxnSpPr>
          <p:nvPr/>
        </p:nvCxnSpPr>
        <p:spPr>
          <a:xfrm>
            <a:off x="2699766" y="3177736"/>
            <a:ext cx="85221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A9FA58E-32B3-77C4-9763-0DA159D0B6E2}"/>
              </a:ext>
            </a:extLst>
          </p:cNvPr>
          <p:cNvCxnSpPr>
            <a:cxnSpLocks/>
          </p:cNvCxnSpPr>
          <p:nvPr/>
        </p:nvCxnSpPr>
        <p:spPr>
          <a:xfrm>
            <a:off x="2691310" y="3506383"/>
            <a:ext cx="85221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311EB3D-2AF5-D11F-CE98-740939B197E2}"/>
              </a:ext>
            </a:extLst>
          </p:cNvPr>
          <p:cNvCxnSpPr>
            <a:cxnSpLocks/>
          </p:cNvCxnSpPr>
          <p:nvPr/>
        </p:nvCxnSpPr>
        <p:spPr>
          <a:xfrm>
            <a:off x="3339969" y="4571710"/>
            <a:ext cx="0" cy="428082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9025361-081A-51E1-3B70-E24CA20FE9CE}"/>
              </a:ext>
            </a:extLst>
          </p:cNvPr>
          <p:cNvCxnSpPr>
            <a:cxnSpLocks/>
          </p:cNvCxnSpPr>
          <p:nvPr/>
        </p:nvCxnSpPr>
        <p:spPr>
          <a:xfrm>
            <a:off x="2998033" y="4120746"/>
            <a:ext cx="56240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78A54F87-B101-316E-5C86-8B5427D2BD1D}"/>
              </a:ext>
            </a:extLst>
          </p:cNvPr>
          <p:cNvCxnSpPr>
            <a:cxnSpLocks/>
          </p:cNvCxnSpPr>
          <p:nvPr/>
        </p:nvCxnSpPr>
        <p:spPr>
          <a:xfrm>
            <a:off x="3010056" y="4115983"/>
            <a:ext cx="0" cy="151169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BB76856-E4EC-DAC2-F56A-1F647C8E5F80}"/>
              </a:ext>
            </a:extLst>
          </p:cNvPr>
          <p:cNvCxnSpPr>
            <a:cxnSpLocks/>
          </p:cNvCxnSpPr>
          <p:nvPr/>
        </p:nvCxnSpPr>
        <p:spPr>
          <a:xfrm>
            <a:off x="2998033" y="5627676"/>
            <a:ext cx="687049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AED70189-24C7-FF80-121A-434FC3445F53}"/>
              </a:ext>
            </a:extLst>
          </p:cNvPr>
          <p:cNvSpPr txBox="1"/>
          <p:nvPr/>
        </p:nvSpPr>
        <p:spPr>
          <a:xfrm>
            <a:off x="3653415" y="3922411"/>
            <a:ext cx="545681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V</a:t>
            </a:r>
            <a:r>
              <a:rPr lang="en-US" sz="1400" b="1" baseline="-25000" dirty="0"/>
              <a:t>OUT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7B890562-24EC-B5A8-02F9-984E1CC88AE1}"/>
              </a:ext>
            </a:extLst>
          </p:cNvPr>
          <p:cNvCxnSpPr>
            <a:cxnSpLocks/>
          </p:cNvCxnSpPr>
          <p:nvPr/>
        </p:nvCxnSpPr>
        <p:spPr>
          <a:xfrm flipH="1">
            <a:off x="3321844" y="4999792"/>
            <a:ext cx="365806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F13569BD-12E9-28BA-4E84-CA4E39A72E41}"/>
              </a:ext>
            </a:extLst>
          </p:cNvPr>
          <p:cNvCxnSpPr>
            <a:cxnSpLocks/>
          </p:cNvCxnSpPr>
          <p:nvPr/>
        </p:nvCxnSpPr>
        <p:spPr>
          <a:xfrm>
            <a:off x="3339969" y="4588377"/>
            <a:ext cx="2330310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53A2B349-F794-F8E2-1343-4F8CD5ABD0F3}"/>
              </a:ext>
            </a:extLst>
          </p:cNvPr>
          <p:cNvCxnSpPr>
            <a:cxnSpLocks/>
          </p:cNvCxnSpPr>
          <p:nvPr/>
        </p:nvCxnSpPr>
        <p:spPr>
          <a:xfrm>
            <a:off x="5670279" y="2557972"/>
            <a:ext cx="0" cy="204736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FCB3A5F-955A-8A41-2B3B-2C8CE2947988}"/>
              </a:ext>
            </a:extLst>
          </p:cNvPr>
          <p:cNvCxnSpPr>
            <a:cxnSpLocks/>
          </p:cNvCxnSpPr>
          <p:nvPr/>
        </p:nvCxnSpPr>
        <p:spPr>
          <a:xfrm flipH="1">
            <a:off x="5670279" y="2572258"/>
            <a:ext cx="303384" cy="0"/>
          </a:xfrm>
          <a:prstGeom prst="line">
            <a:avLst/>
          </a:prstGeom>
          <a:ln w="3810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EF590821-62B5-1192-7EF0-4AB27499171D}"/>
              </a:ext>
            </a:extLst>
          </p:cNvPr>
          <p:cNvCxnSpPr>
            <a:cxnSpLocks/>
          </p:cNvCxnSpPr>
          <p:nvPr/>
        </p:nvCxnSpPr>
        <p:spPr>
          <a:xfrm>
            <a:off x="7974767" y="5443992"/>
            <a:ext cx="0" cy="8462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345E2BF-471E-3079-D4C2-7B850F54896D}"/>
              </a:ext>
            </a:extLst>
          </p:cNvPr>
          <p:cNvCxnSpPr>
            <a:cxnSpLocks/>
          </p:cNvCxnSpPr>
          <p:nvPr/>
        </p:nvCxnSpPr>
        <p:spPr>
          <a:xfrm>
            <a:off x="2174449" y="4230188"/>
            <a:ext cx="2568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8CBA849-C33A-3174-9A03-D807FAD8A3B8}"/>
              </a:ext>
            </a:extLst>
          </p:cNvPr>
          <p:cNvCxnSpPr>
            <a:cxnSpLocks/>
          </p:cNvCxnSpPr>
          <p:nvPr/>
        </p:nvCxnSpPr>
        <p:spPr>
          <a:xfrm>
            <a:off x="5450830" y="1828800"/>
            <a:ext cx="7449" cy="304302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CDFBB77-D6FA-F891-F322-3105932FD81F}"/>
              </a:ext>
            </a:extLst>
          </p:cNvPr>
          <p:cNvCxnSpPr>
            <a:cxnSpLocks/>
          </p:cNvCxnSpPr>
          <p:nvPr/>
        </p:nvCxnSpPr>
        <p:spPr>
          <a:xfrm>
            <a:off x="5458280" y="4860270"/>
            <a:ext cx="51538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C2701A9F-05B3-3C5E-B8AF-2B9137113419}"/>
              </a:ext>
            </a:extLst>
          </p:cNvPr>
          <p:cNvCxnSpPr>
            <a:cxnSpLocks/>
          </p:cNvCxnSpPr>
          <p:nvPr/>
        </p:nvCxnSpPr>
        <p:spPr>
          <a:xfrm>
            <a:off x="2431292" y="1841409"/>
            <a:ext cx="302809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DFA6686C-BF31-DE70-2FA7-7585C8EC102B}"/>
              </a:ext>
            </a:extLst>
          </p:cNvPr>
          <p:cNvCxnSpPr>
            <a:cxnSpLocks/>
          </p:cNvCxnSpPr>
          <p:nvPr/>
        </p:nvCxnSpPr>
        <p:spPr>
          <a:xfrm flipH="1">
            <a:off x="2415221" y="1828800"/>
            <a:ext cx="2847" cy="241333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B676B3E8-D670-29CD-75C6-70DFE577391E}"/>
              </a:ext>
            </a:extLst>
          </p:cNvPr>
          <p:cNvSpPr txBox="1"/>
          <p:nvPr/>
        </p:nvSpPr>
        <p:spPr>
          <a:xfrm>
            <a:off x="6579433" y="3185947"/>
            <a:ext cx="851942" cy="37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100nF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24C313B-EA32-94DC-D0AA-D1975228B942}"/>
              </a:ext>
            </a:extLst>
          </p:cNvPr>
          <p:cNvSpPr txBox="1"/>
          <p:nvPr/>
        </p:nvSpPr>
        <p:spPr>
          <a:xfrm>
            <a:off x="6548454" y="1917835"/>
            <a:ext cx="913901" cy="37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100mH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C2EDCD4-E36A-2446-3857-95D712BB126C}"/>
              </a:ext>
            </a:extLst>
          </p:cNvPr>
          <p:cNvSpPr txBox="1"/>
          <p:nvPr/>
        </p:nvSpPr>
        <p:spPr>
          <a:xfrm>
            <a:off x="6627152" y="4479814"/>
            <a:ext cx="756505" cy="37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</a:t>
            </a:r>
            <a:r>
              <a:rPr lang="el-GR" b="1" dirty="0"/>
              <a:t>Ω</a:t>
            </a:r>
            <a:endParaRPr lang="en-US" b="1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8F43F22-AB2B-2DCC-045F-13D9F11F41C7}"/>
              </a:ext>
            </a:extLst>
          </p:cNvPr>
          <p:cNvSpPr txBox="1"/>
          <p:nvPr/>
        </p:nvSpPr>
        <p:spPr>
          <a:xfrm>
            <a:off x="6627152" y="5773681"/>
            <a:ext cx="756505" cy="37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100</a:t>
            </a:r>
            <a:r>
              <a:rPr lang="el-GR" b="1" dirty="0"/>
              <a:t>Ω</a:t>
            </a:r>
            <a:endParaRPr lang="en-US" b="1" dirty="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6902F43B-3A9F-7B3B-6A5C-012A0E3AF975}"/>
              </a:ext>
            </a:extLst>
          </p:cNvPr>
          <p:cNvSpPr/>
          <p:nvPr/>
        </p:nvSpPr>
        <p:spPr>
          <a:xfrm>
            <a:off x="5921115" y="4791021"/>
            <a:ext cx="137160" cy="13716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CF633-B218-A468-A554-D9D324173BDC}"/>
              </a:ext>
            </a:extLst>
          </p:cNvPr>
          <p:cNvSpPr txBox="1"/>
          <p:nvPr/>
        </p:nvSpPr>
        <p:spPr>
          <a:xfrm rot="16200000">
            <a:off x="2473522" y="4609830"/>
            <a:ext cx="736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SPI Bus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347F3-A7B1-D09A-89A4-6E5AB0F1A963}"/>
              </a:ext>
            </a:extLst>
          </p:cNvPr>
          <p:cNvSpPr txBox="1"/>
          <p:nvPr/>
        </p:nvSpPr>
        <p:spPr>
          <a:xfrm>
            <a:off x="5670279" y="944005"/>
            <a:ext cx="2517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RLC Circuit is "powered" (</a:t>
            </a:r>
            <a:r>
              <a:rPr lang="en-US" b="1" dirty="0">
                <a:solidFill>
                  <a:srgbClr val="7030A0"/>
                </a:solidFill>
              </a:rPr>
              <a:t>driven</a:t>
            </a:r>
            <a:r>
              <a:rPr lang="en-US" dirty="0">
                <a:solidFill>
                  <a:srgbClr val="7030A0"/>
                </a:solidFill>
              </a:rPr>
              <a:t>) by the AD9833+TLV2462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22F9EA-B429-B675-4BF5-1E833CACF29E}"/>
              </a:ext>
            </a:extLst>
          </p:cNvPr>
          <p:cNvSpPr txBox="1"/>
          <p:nvPr/>
        </p:nvSpPr>
        <p:spPr>
          <a:xfrm>
            <a:off x="674557" y="5459208"/>
            <a:ext cx="16193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We will measure the voltage at the </a:t>
            </a:r>
            <a:r>
              <a:rPr lang="en-US" sz="1600" b="1" dirty="0">
                <a:solidFill>
                  <a:srgbClr val="00B050"/>
                </a:solidFill>
              </a:rPr>
              <a:t>10</a:t>
            </a:r>
            <a:r>
              <a:rPr lang="el-GR" sz="1600" b="1" dirty="0">
                <a:solidFill>
                  <a:srgbClr val="00B050"/>
                </a:solidFill>
              </a:rPr>
              <a:t>Ω</a:t>
            </a:r>
            <a:r>
              <a:rPr lang="en-US" sz="1600" dirty="0">
                <a:solidFill>
                  <a:srgbClr val="00B050"/>
                </a:solidFill>
              </a:rPr>
              <a:t> resistor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DBCF95-7B40-B690-3E79-433479C829B3}"/>
              </a:ext>
            </a:extLst>
          </p:cNvPr>
          <p:cNvSpPr txBox="1"/>
          <p:nvPr/>
        </p:nvSpPr>
        <p:spPr>
          <a:xfrm>
            <a:off x="3317082" y="1438950"/>
            <a:ext cx="1818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Signal Generator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2AFF10-3EB6-5724-5906-23BA1C2B2055}"/>
              </a:ext>
            </a:extLst>
          </p:cNvPr>
          <p:cNvSpPr txBox="1"/>
          <p:nvPr/>
        </p:nvSpPr>
        <p:spPr>
          <a:xfrm>
            <a:off x="3223936" y="6347015"/>
            <a:ext cx="1818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Op-Amp</a:t>
            </a:r>
          </a:p>
        </p:txBody>
      </p:sp>
    </p:spTree>
    <p:extLst>
      <p:ext uri="{BB962C8B-B14F-4D97-AF65-F5344CB8AC3E}">
        <p14:creationId xmlns:p14="http://schemas.microsoft.com/office/powerpoint/2010/main" val="969267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17A559C-39E9-1D1B-3B7A-AEFC493DB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521" y="1254432"/>
            <a:ext cx="1700108" cy="27278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DA0D8-B063-5A8D-A1F8-56E6E506772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5309" y="4031852"/>
            <a:ext cx="6003561" cy="23244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FD3714-74B0-8EC1-6845-0CCA4C648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31" y="1540990"/>
            <a:ext cx="6014518" cy="23213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6DF0B6-21FA-539C-04A4-7A782B304064}"/>
              </a:ext>
            </a:extLst>
          </p:cNvPr>
          <p:cNvSpPr txBox="1"/>
          <p:nvPr/>
        </p:nvSpPr>
        <p:spPr>
          <a:xfrm>
            <a:off x="2881945" y="2794215"/>
            <a:ext cx="57965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100</a:t>
            </a:r>
            <a:r>
              <a:rPr lang="el-GR" sz="1400" b="1" dirty="0"/>
              <a:t>Ω</a:t>
            </a:r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C0E55-3187-F744-59FA-83D91BA185E7}"/>
              </a:ext>
            </a:extLst>
          </p:cNvPr>
          <p:cNvSpPr txBox="1"/>
          <p:nvPr/>
        </p:nvSpPr>
        <p:spPr>
          <a:xfrm>
            <a:off x="2881945" y="2187856"/>
            <a:ext cx="57965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10</a:t>
            </a:r>
            <a:r>
              <a:rPr lang="el-GR" sz="1400" b="1" dirty="0"/>
              <a:t>Ω</a:t>
            </a:r>
            <a:endParaRPr lang="en-US" sz="1400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AA08FB-06EE-2028-14F6-A58A698A1D70}"/>
              </a:ext>
            </a:extLst>
          </p:cNvPr>
          <p:cNvCxnSpPr>
            <a:cxnSpLocks/>
          </p:cNvCxnSpPr>
          <p:nvPr/>
        </p:nvCxnSpPr>
        <p:spPr>
          <a:xfrm>
            <a:off x="6840900" y="3119011"/>
            <a:ext cx="35976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E574BD-DA9D-B6CA-AEDA-5DEA25DBF3C1}"/>
              </a:ext>
            </a:extLst>
          </p:cNvPr>
          <p:cNvCxnSpPr>
            <a:cxnSpLocks/>
          </p:cNvCxnSpPr>
          <p:nvPr/>
        </p:nvCxnSpPr>
        <p:spPr>
          <a:xfrm>
            <a:off x="6833405" y="1683070"/>
            <a:ext cx="3597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860458-72CF-2BE3-33EA-6AE96F48CFED}"/>
              </a:ext>
            </a:extLst>
          </p:cNvPr>
          <p:cNvCxnSpPr/>
          <p:nvPr/>
        </p:nvCxnSpPr>
        <p:spPr>
          <a:xfrm>
            <a:off x="7013287" y="1690689"/>
            <a:ext cx="0" cy="1411303"/>
          </a:xfrm>
          <a:prstGeom prst="straightConnector1">
            <a:avLst/>
          </a:prstGeom>
          <a:ln w="38100">
            <a:solidFill>
              <a:srgbClr val="7030A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0855D15-F717-9D10-7661-09C3A9D621FA}"/>
                  </a:ext>
                </a:extLst>
              </p:cNvPr>
              <p:cNvSpPr txBox="1"/>
              <p:nvPr/>
            </p:nvSpPr>
            <p:spPr>
              <a:xfrm>
                <a:off x="254833" y="4287187"/>
                <a:ext cx="2256956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At </a:t>
                </a:r>
                <a:r>
                  <a:rPr lang="en-US" sz="1400" i="1" dirty="0"/>
                  <a:t>resonance</a:t>
                </a:r>
                <a:r>
                  <a:rPr lang="en-US" sz="1400" dirty="0"/>
                  <a:t>, the </a:t>
                </a:r>
                <a:r>
                  <a:rPr lang="en-US" sz="1400" u="sng" dirty="0"/>
                  <a:t>resistance</a:t>
                </a:r>
                <a:r>
                  <a:rPr lang="en-US" sz="1400" dirty="0"/>
                  <a:t> of the </a:t>
                </a:r>
                <a:r>
                  <a:rPr lang="en-US" sz="1400" b="1" dirty="0"/>
                  <a:t>LC</a:t>
                </a:r>
                <a:r>
                  <a:rPr lang="en-US" sz="1400" dirty="0"/>
                  <a:t> components drops to zero (</a:t>
                </a:r>
                <a:r>
                  <a:rPr lang="en-US" sz="1400" b="1" dirty="0">
                    <a:solidFill>
                      <a:srgbClr val="FF0000"/>
                    </a:solidFill>
                  </a:rPr>
                  <a:t>shorts out</a:t>
                </a:r>
                <a:r>
                  <a:rPr lang="en-US" sz="1400" dirty="0"/>
                  <a:t>), and maximum </a:t>
                </a:r>
                <a:r>
                  <a:rPr lang="en-US" sz="1400" b="1" dirty="0"/>
                  <a:t>current</a:t>
                </a:r>
                <a:r>
                  <a:rPr lang="en-US" sz="1400" dirty="0"/>
                  <a:t> will flow through the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l-GR" sz="1400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1400" dirty="0">
                    <a:solidFill>
                      <a:srgbClr val="7030A0"/>
                    </a:solidFill>
                  </a:rPr>
                  <a:t> </a:t>
                </a:r>
                <a:r>
                  <a:rPr lang="en-US" sz="1400" dirty="0"/>
                  <a:t>resistor.</a:t>
                </a:r>
                <a:endParaRPr lang="en-US" sz="1400" u="sn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0855D15-F717-9D10-7661-09C3A9D62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33" y="4287187"/>
                <a:ext cx="2256956" cy="1169551"/>
              </a:xfrm>
              <a:prstGeom prst="rect">
                <a:avLst/>
              </a:prstGeom>
              <a:blipFill>
                <a:blip r:embed="rId5"/>
                <a:stretch>
                  <a:fillRect l="-811" t="-521" r="-541"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1FBF767-3A69-6782-2EC7-20C95591AB86}"/>
              </a:ext>
            </a:extLst>
          </p:cNvPr>
          <p:cNvSpPr txBox="1"/>
          <p:nvPr/>
        </p:nvSpPr>
        <p:spPr>
          <a:xfrm rot="16200000">
            <a:off x="6404541" y="2273868"/>
            <a:ext cx="924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7030A0"/>
                </a:solidFill>
              </a:rPr>
              <a:t>Voltage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C276F4-313A-04D7-72A1-6B55998F6FCD}"/>
              </a:ext>
            </a:extLst>
          </p:cNvPr>
          <p:cNvSpPr txBox="1"/>
          <p:nvPr/>
        </p:nvSpPr>
        <p:spPr>
          <a:xfrm>
            <a:off x="6572832" y="1498404"/>
            <a:ext cx="199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B6C31A-0466-50EE-1362-1E19B765248C}"/>
              </a:ext>
            </a:extLst>
          </p:cNvPr>
          <p:cNvSpPr txBox="1"/>
          <p:nvPr/>
        </p:nvSpPr>
        <p:spPr>
          <a:xfrm>
            <a:off x="6572832" y="2910492"/>
            <a:ext cx="199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6F609A-BA61-64ED-F8E4-68782155465B}"/>
              </a:ext>
            </a:extLst>
          </p:cNvPr>
          <p:cNvSpPr txBox="1"/>
          <p:nvPr/>
        </p:nvSpPr>
        <p:spPr>
          <a:xfrm>
            <a:off x="8365448" y="3344568"/>
            <a:ext cx="583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GND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F0AE1E-B7A0-2613-E88D-856A0D86E9D0}"/>
                  </a:ext>
                </a:extLst>
              </p:cNvPr>
              <p:cNvSpPr txBox="1"/>
              <p:nvPr/>
            </p:nvSpPr>
            <p:spPr>
              <a:xfrm>
                <a:off x="254833" y="5568747"/>
                <a:ext cx="225695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At </a:t>
                </a:r>
                <a:r>
                  <a:rPr lang="en-US" sz="1400" i="1" dirty="0"/>
                  <a:t>resonance</a:t>
                </a:r>
                <a:r>
                  <a:rPr lang="en-US" sz="1400" dirty="0"/>
                  <a:t>, via Ohm's Law, the </a:t>
                </a:r>
                <a:r>
                  <a:rPr lang="en-US" sz="1400" b="1" dirty="0"/>
                  <a:t>voltage</a:t>
                </a:r>
                <a:r>
                  <a:rPr lang="en-US" sz="1400" dirty="0"/>
                  <a:t> across that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l-GR" sz="1400" b="0" i="1" smtClean="0">
                        <a:ln>
                          <a:solidFill>
                            <a:srgbClr val="7030A0"/>
                          </a:solidFill>
                        </a:ln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1400" dirty="0">
                    <a:solidFill>
                      <a:srgbClr val="7030A0"/>
                    </a:solidFill>
                  </a:rPr>
                  <a:t> </a:t>
                </a:r>
                <a:r>
                  <a:rPr lang="en-US" sz="1400" dirty="0"/>
                  <a:t>resistor will be at its </a:t>
                </a:r>
                <a:r>
                  <a:rPr lang="en-US" sz="1400" u="sng" dirty="0"/>
                  <a:t>maximum</a:t>
                </a:r>
                <a:r>
                  <a:rPr lang="en-US" sz="1400" dirty="0"/>
                  <a:t> possible value.</a:t>
                </a:r>
                <a:endParaRPr lang="en-US" sz="1400" u="sng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F0AE1E-B7A0-2613-E88D-856A0D86E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33" y="5568747"/>
                <a:ext cx="2256956" cy="954107"/>
              </a:xfrm>
              <a:prstGeom prst="rect">
                <a:avLst/>
              </a:prstGeom>
              <a:blipFill>
                <a:blip r:embed="rId6"/>
                <a:stretch>
                  <a:fillRect l="-811" t="-1282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4010106-1FE7-02E8-E59C-1244F6019D99}"/>
              </a:ext>
            </a:extLst>
          </p:cNvPr>
          <p:cNvCxnSpPr/>
          <p:nvPr/>
        </p:nvCxnSpPr>
        <p:spPr>
          <a:xfrm>
            <a:off x="7397646" y="1675575"/>
            <a:ext cx="86193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7964E6-02D8-2160-7966-5F1113DFE312}"/>
              </a:ext>
            </a:extLst>
          </p:cNvPr>
          <p:cNvCxnSpPr>
            <a:cxnSpLocks/>
          </p:cNvCxnSpPr>
          <p:nvPr/>
        </p:nvCxnSpPr>
        <p:spPr>
          <a:xfrm>
            <a:off x="8417883" y="1965403"/>
            <a:ext cx="0" cy="530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844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1AE54BF-A447-5EDC-9210-B073ADDEF75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4216" y="1479124"/>
            <a:ext cx="3235434" cy="4939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8144DD-3537-6147-07A1-3C72D807BEC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50" y="1485652"/>
            <a:ext cx="3235435" cy="50072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1C4F46-5A8E-2A80-8E93-71B682C3D75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50" y="1492073"/>
            <a:ext cx="3235434" cy="50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87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3EE9FDC3-9CCA-677C-B612-C0EB180D3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000" y="1742910"/>
            <a:ext cx="6200000" cy="453333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F6D7BF-C259-D4E6-736D-9112C34A1832}"/>
              </a:ext>
            </a:extLst>
          </p:cNvPr>
          <p:cNvGrpSpPr/>
          <p:nvPr/>
        </p:nvGrpSpPr>
        <p:grpSpPr>
          <a:xfrm>
            <a:off x="3781866" y="1711898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BD2F0DD-B511-05A7-60EF-A182B90EB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41B85B-8175-A4B7-4B5F-9830FF58C95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A6DF61-31D5-4345-4C92-E79A01DAB826}"/>
              </a:ext>
            </a:extLst>
          </p:cNvPr>
          <p:cNvGrpSpPr/>
          <p:nvPr/>
        </p:nvGrpSpPr>
        <p:grpSpPr>
          <a:xfrm>
            <a:off x="6083272" y="2470306"/>
            <a:ext cx="1076632" cy="369332"/>
            <a:chOff x="4704120" y="2356972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F037146-D1BA-0A1B-B19E-937B0BFA8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42B0BD2-DC1D-707F-6D41-B5D53FCFFAD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7238CE2-DF3B-4643-E937-658BA6D3BEF2}"/>
              </a:ext>
            </a:extLst>
          </p:cNvPr>
          <p:cNvGrpSpPr/>
          <p:nvPr/>
        </p:nvGrpSpPr>
        <p:grpSpPr>
          <a:xfrm>
            <a:off x="2693810" y="4558341"/>
            <a:ext cx="1068643" cy="369332"/>
            <a:chOff x="3647644" y="4910075"/>
            <a:chExt cx="1068643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4A70E0-CB9E-B7F7-4F01-1AC4E24753D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7CD992D-0549-6057-F11E-8D202564C9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59CB6FE-8594-38A6-CF0C-63DE3A6B001C}"/>
              </a:ext>
            </a:extLst>
          </p:cNvPr>
          <p:cNvGrpSpPr/>
          <p:nvPr/>
        </p:nvGrpSpPr>
        <p:grpSpPr>
          <a:xfrm>
            <a:off x="4777630" y="5906911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12B9459-31B1-27B4-D913-763AD422BB05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429C48F-5B1A-CB13-D4E4-409BCF6388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3283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CD88B794-21C2-7F32-C38F-1B0BD0ECE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000" y="1755807"/>
            <a:ext cx="6200000" cy="430476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CF6D7BF-C259-D4E6-736D-9112C34A1832}"/>
              </a:ext>
            </a:extLst>
          </p:cNvPr>
          <p:cNvGrpSpPr/>
          <p:nvPr/>
        </p:nvGrpSpPr>
        <p:grpSpPr>
          <a:xfrm>
            <a:off x="3191322" y="1723196"/>
            <a:ext cx="1076632" cy="369332"/>
            <a:chOff x="4968362" y="2079211"/>
            <a:chExt cx="1076632" cy="36933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BD2F0DD-B511-05A7-60EF-A182B90EBF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41B85B-8175-A4B7-4B5F-9830FF58C95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BA8198-D582-5A33-D956-9C81FB4331C4}"/>
              </a:ext>
            </a:extLst>
          </p:cNvPr>
          <p:cNvGrpSpPr/>
          <p:nvPr/>
        </p:nvGrpSpPr>
        <p:grpSpPr>
          <a:xfrm>
            <a:off x="2551403" y="2485267"/>
            <a:ext cx="1076632" cy="369332"/>
            <a:chOff x="4704120" y="2356972"/>
            <a:chExt cx="1076632" cy="369332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177A0A2-C28A-68E5-BED2-6B2F6E9E39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3D56443-B1F9-9391-518C-C529892CAC5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9C57251-53D2-3055-874F-3863739A3A93}"/>
              </a:ext>
            </a:extLst>
          </p:cNvPr>
          <p:cNvGrpSpPr/>
          <p:nvPr/>
        </p:nvGrpSpPr>
        <p:grpSpPr>
          <a:xfrm>
            <a:off x="3683826" y="4015721"/>
            <a:ext cx="1068643" cy="369332"/>
            <a:chOff x="3647644" y="4910075"/>
            <a:chExt cx="106864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37140D-1402-7106-8015-5BBD4853F0D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43CC304-E9AE-B848-80D4-205736DF8A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DE82FA3-B670-F80B-3BEA-EA0CCD171424}"/>
              </a:ext>
            </a:extLst>
          </p:cNvPr>
          <p:cNvGrpSpPr/>
          <p:nvPr/>
        </p:nvGrpSpPr>
        <p:grpSpPr>
          <a:xfrm>
            <a:off x="4715932" y="4347896"/>
            <a:ext cx="1064340" cy="369332"/>
            <a:chOff x="3647644" y="5421073"/>
            <a:chExt cx="1064340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D0C445-8F12-0B6E-8902-BFC24B9EDB09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00BC791-EA82-BA24-BF72-E9A25D9097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15F7F95-2CFD-A4D9-486C-5C3CC851EFC2}"/>
              </a:ext>
            </a:extLst>
          </p:cNvPr>
          <p:cNvGrpSpPr/>
          <p:nvPr/>
        </p:nvGrpSpPr>
        <p:grpSpPr>
          <a:xfrm>
            <a:off x="3607931" y="4593127"/>
            <a:ext cx="1068643" cy="369332"/>
            <a:chOff x="3647644" y="5359159"/>
            <a:chExt cx="1068643" cy="369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D99465B-0F96-2E4A-93D7-4484A969D23D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9FEBA2B-4E5C-10E2-E0A9-11A59471EB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BE21A05-93D7-3484-E362-D3EFB883EAE2}"/>
              </a:ext>
            </a:extLst>
          </p:cNvPr>
          <p:cNvGrpSpPr/>
          <p:nvPr/>
        </p:nvGrpSpPr>
        <p:grpSpPr>
          <a:xfrm>
            <a:off x="4180213" y="5344934"/>
            <a:ext cx="1076632" cy="369332"/>
            <a:chOff x="2157212" y="5356391"/>
            <a:chExt cx="1076632" cy="36933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0A51A7-0438-C5D5-FF79-A9915EA9A00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1F29728-F93C-C009-F933-D9F8C5463F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259C982-BCC7-4BDB-0612-1BE102D7E5EA}"/>
              </a:ext>
            </a:extLst>
          </p:cNvPr>
          <p:cNvGrpSpPr/>
          <p:nvPr/>
        </p:nvGrpSpPr>
        <p:grpSpPr>
          <a:xfrm>
            <a:off x="5254358" y="5723149"/>
            <a:ext cx="1076632" cy="369332"/>
            <a:chOff x="2157212" y="5356391"/>
            <a:chExt cx="1076632" cy="369332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6E8EB0C-D579-ECB7-34EA-2BC2A9934563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3CC9A2A-EA1F-F5B4-7712-2CF76170A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E24040C-40A0-5CD0-57CD-0E91EFFA7793}"/>
              </a:ext>
            </a:extLst>
          </p:cNvPr>
          <p:cNvGrpSpPr/>
          <p:nvPr/>
        </p:nvGrpSpPr>
        <p:grpSpPr>
          <a:xfrm>
            <a:off x="4171400" y="5164438"/>
            <a:ext cx="1076632" cy="369332"/>
            <a:chOff x="2157212" y="5356391"/>
            <a:chExt cx="1076632" cy="36933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56781EF-C59B-390E-15D8-B707AD4A063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0D610413-7DCA-5AC7-9A72-77F4E672E5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F70FA0D-670D-136F-0C39-AD52678E58DB}"/>
              </a:ext>
            </a:extLst>
          </p:cNvPr>
          <p:cNvSpPr txBox="1"/>
          <p:nvPr/>
        </p:nvSpPr>
        <p:spPr>
          <a:xfrm>
            <a:off x="6424617" y="3875865"/>
            <a:ext cx="2303680" cy="1477328"/>
          </a:xfrm>
          <a:prstGeom prst="rect">
            <a:avLst/>
          </a:prstGeom>
          <a:solidFill>
            <a:schemeClr val="bg1"/>
          </a:solidFill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The AD9833 </a:t>
            </a:r>
            <a:r>
              <a:rPr lang="en-US" b="1" dirty="0">
                <a:solidFill>
                  <a:srgbClr val="7030A0"/>
                </a:solidFill>
              </a:rPr>
              <a:t>CircuitPython library </a:t>
            </a:r>
            <a:r>
              <a:rPr lang="en-US" dirty="0">
                <a:solidFill>
                  <a:srgbClr val="7030A0"/>
                </a:solidFill>
              </a:rPr>
              <a:t>handles all the communication over the </a:t>
            </a:r>
            <a:r>
              <a:rPr lang="en-US" b="1" dirty="0">
                <a:solidFill>
                  <a:srgbClr val="7030A0"/>
                </a:solidFill>
              </a:rPr>
              <a:t>SPI</a:t>
            </a:r>
            <a:r>
              <a:rPr lang="en-US" dirty="0">
                <a:solidFill>
                  <a:srgbClr val="7030A0"/>
                </a:solidFill>
              </a:rPr>
              <a:t> bus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5BBA430-623B-E208-A475-7DEAB13AAF3C}"/>
                  </a:ext>
                </a:extLst>
              </p:cNvPr>
              <p:cNvSpPr txBox="1"/>
              <p:nvPr/>
            </p:nvSpPr>
            <p:spPr>
              <a:xfrm>
                <a:off x="4543429" y="2982135"/>
                <a:ext cx="28082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500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×10=5000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𝐻𝑧</m:t>
                      </m:r>
                      <m:r>
                        <a:rPr lang="en-US" b="0" i="1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max</m:t>
                      </m:r>
                      <m:r>
                        <a:rPr lang="en-US" b="0" i="0" smtClean="0">
                          <a:ln>
                            <a:solidFill>
                              <a:srgbClr val="0070C0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5BBA430-623B-E208-A475-7DEAB13AA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429" y="2982135"/>
                <a:ext cx="2808205" cy="276999"/>
              </a:xfrm>
              <a:prstGeom prst="rect">
                <a:avLst/>
              </a:prstGeom>
              <a:blipFill>
                <a:blip r:embed="rId3"/>
                <a:stretch>
                  <a:fillRect l="-1085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F11CA6A-F014-905A-FF32-1C9CBDA23289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2488367" y="2683755"/>
            <a:ext cx="2055062" cy="43688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4F06A7C-E514-DD70-B58A-97C60E67C34A}"/>
              </a:ext>
            </a:extLst>
          </p:cNvPr>
          <p:cNvCxnSpPr>
            <a:cxnSpLocks/>
          </p:cNvCxnSpPr>
          <p:nvPr/>
        </p:nvCxnSpPr>
        <p:spPr>
          <a:xfrm flipV="1">
            <a:off x="3628035" y="3278120"/>
            <a:ext cx="1685978" cy="84305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415FFCF-31EF-EB29-78FE-06FA3071E41E}"/>
              </a:ext>
            </a:extLst>
          </p:cNvPr>
          <p:cNvSpPr txBox="1"/>
          <p:nvPr/>
        </p:nvSpPr>
        <p:spPr>
          <a:xfrm>
            <a:off x="4572000" y="2644268"/>
            <a:ext cx="2675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We will sweep from 0 to 5 kHz</a:t>
            </a:r>
          </a:p>
        </p:txBody>
      </p:sp>
    </p:spTree>
    <p:extLst>
      <p:ext uri="{BB962C8B-B14F-4D97-AF65-F5344CB8AC3E}">
        <p14:creationId xmlns:p14="http://schemas.microsoft.com/office/powerpoint/2010/main" val="2999643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60CC6F-96F3-FD12-B762-A10EC3D15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180" y="1814570"/>
            <a:ext cx="6405640" cy="4820488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173F847-5618-85F9-9688-CA196850B9BC}"/>
              </a:ext>
            </a:extLst>
          </p:cNvPr>
          <p:cNvGrpSpPr/>
          <p:nvPr/>
        </p:nvGrpSpPr>
        <p:grpSpPr>
          <a:xfrm>
            <a:off x="2783716" y="1771045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FAB2A2C-39FC-2B7E-CFA6-14252AFBAB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380D3A-EBDA-53AE-7558-377DF4A1B8E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19BFC2-20BA-4D8F-68BD-6B6BCD0E7BC3}"/>
              </a:ext>
            </a:extLst>
          </p:cNvPr>
          <p:cNvGrpSpPr/>
          <p:nvPr/>
        </p:nvGrpSpPr>
        <p:grpSpPr>
          <a:xfrm>
            <a:off x="5826720" y="4532305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E291B4B-EFB6-E0BC-D661-EEEC56833A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A89BDF-F34F-E2E7-3C4D-FA87AFAC19DF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D7E1E9-E3C0-C55C-3AE6-111A3DED2818}"/>
              </a:ext>
            </a:extLst>
          </p:cNvPr>
          <p:cNvGrpSpPr/>
          <p:nvPr/>
        </p:nvGrpSpPr>
        <p:grpSpPr>
          <a:xfrm>
            <a:off x="5985572" y="5821884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2B5B5FA-AE11-3262-DABB-7434C782B38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E24DF27-930B-A202-0974-94293CABAB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BE74F4-2A6F-F6E4-4332-1532DB9C6FE1}"/>
              </a:ext>
            </a:extLst>
          </p:cNvPr>
          <p:cNvGrpSpPr/>
          <p:nvPr/>
        </p:nvGrpSpPr>
        <p:grpSpPr>
          <a:xfrm>
            <a:off x="5470544" y="6315703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A65596-874C-3D79-C2D2-0D2378E201C1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0DFC685-EAED-1616-47FA-9CCDD7EECD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920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7F35AC-5E42-EE6A-7D6E-A7211093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180" y="1807190"/>
            <a:ext cx="6412974" cy="41993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73F847-5618-85F9-9688-CA196850B9BC}"/>
              </a:ext>
            </a:extLst>
          </p:cNvPr>
          <p:cNvGrpSpPr/>
          <p:nvPr/>
        </p:nvGrpSpPr>
        <p:grpSpPr>
          <a:xfrm>
            <a:off x="4125336" y="1747282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FAB2A2C-39FC-2B7E-CFA6-14252AFBAB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380D3A-EBDA-53AE-7558-377DF4A1B8E0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19BFC2-20BA-4D8F-68BD-6B6BCD0E7BC3}"/>
              </a:ext>
            </a:extLst>
          </p:cNvPr>
          <p:cNvGrpSpPr/>
          <p:nvPr/>
        </p:nvGrpSpPr>
        <p:grpSpPr>
          <a:xfrm>
            <a:off x="3203442" y="2253800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E291B4B-EFB6-E0BC-D661-EEEC56833A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2A89BDF-F34F-E2E7-3C4D-FA87AFAC19DF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9D7E1E9-E3C0-C55C-3AE6-111A3DED2818}"/>
              </a:ext>
            </a:extLst>
          </p:cNvPr>
          <p:cNvGrpSpPr/>
          <p:nvPr/>
        </p:nvGrpSpPr>
        <p:grpSpPr>
          <a:xfrm>
            <a:off x="4308869" y="2733910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2B5B5FA-AE11-3262-DABB-7434C782B382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E24DF27-930B-A202-0974-94293CABAB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BE74F4-2A6F-F6E4-4332-1532DB9C6FE1}"/>
              </a:ext>
            </a:extLst>
          </p:cNvPr>
          <p:cNvGrpSpPr/>
          <p:nvPr/>
        </p:nvGrpSpPr>
        <p:grpSpPr>
          <a:xfrm>
            <a:off x="5260682" y="3720538"/>
            <a:ext cx="1064340" cy="369332"/>
            <a:chOff x="3647644" y="5421073"/>
            <a:chExt cx="1064340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A65596-874C-3D79-C2D2-0D2378E201C1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0DFC685-EAED-1616-47FA-9CCDD7EECD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A4294D4-4BAA-700A-4AE7-C2458E678489}"/>
              </a:ext>
            </a:extLst>
          </p:cNvPr>
          <p:cNvGrpSpPr/>
          <p:nvPr/>
        </p:nvGrpSpPr>
        <p:grpSpPr>
          <a:xfrm>
            <a:off x="6457950" y="4205679"/>
            <a:ext cx="1068643" cy="369332"/>
            <a:chOff x="3647644" y="5359159"/>
            <a:chExt cx="1068643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08EB55-204E-EFC7-0A6B-574DE2DFB0E3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C5C201E1-0B54-B05D-AF65-AE9CBB9ACC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5E6FD66-1D76-0B33-5C31-7F2D2AF5FFB5}"/>
              </a:ext>
            </a:extLst>
          </p:cNvPr>
          <p:cNvGrpSpPr/>
          <p:nvPr/>
        </p:nvGrpSpPr>
        <p:grpSpPr>
          <a:xfrm>
            <a:off x="4662406" y="4514887"/>
            <a:ext cx="1076632" cy="369332"/>
            <a:chOff x="2157212" y="5356391"/>
            <a:chExt cx="1076632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13F94D-1A18-D724-5608-6CF8CAD066A9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6A63671-6ED5-5386-7537-D930000F64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EE78C20-C7A0-DE44-3651-860781C30568}"/>
              </a:ext>
            </a:extLst>
          </p:cNvPr>
          <p:cNvGrpSpPr/>
          <p:nvPr/>
        </p:nvGrpSpPr>
        <p:grpSpPr>
          <a:xfrm>
            <a:off x="2948608" y="5456967"/>
            <a:ext cx="1076632" cy="369332"/>
            <a:chOff x="2157212" y="5356391"/>
            <a:chExt cx="1076632" cy="369332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D329C65-2F7C-83A3-1D39-CB2ED280BFC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FF3E824-A8C9-20A7-BC54-F618650A1E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1752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Our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12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5F2B23-10C8-FBE8-D723-EE83B1CD8C91}"/>
              </a:ext>
            </a:extLst>
          </p:cNvPr>
          <p:cNvGrpSpPr/>
          <p:nvPr/>
        </p:nvGrpSpPr>
        <p:grpSpPr>
          <a:xfrm>
            <a:off x="67459" y="1298705"/>
            <a:ext cx="4646950" cy="3908137"/>
            <a:chOff x="37475" y="1690689"/>
            <a:chExt cx="4646950" cy="390813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07483A-7EA3-747D-D019-538CBBC0D9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475" y="1881266"/>
              <a:ext cx="4646950" cy="3717560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CD0148-1A5A-AFB1-942B-F1AACD2A11C7}"/>
                </a:ext>
              </a:extLst>
            </p:cNvPr>
            <p:cNvSpPr txBox="1"/>
            <p:nvPr/>
          </p:nvSpPr>
          <p:spPr>
            <a:xfrm>
              <a:off x="1439055" y="1690689"/>
              <a:ext cx="18437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Simulated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3B8B71-6A8D-AA55-EE46-4788D7E155D8}"/>
              </a:ext>
            </a:extLst>
          </p:cNvPr>
          <p:cNvGrpSpPr/>
          <p:nvPr/>
        </p:nvGrpSpPr>
        <p:grpSpPr>
          <a:xfrm>
            <a:off x="4429592" y="1310380"/>
            <a:ext cx="4646949" cy="3898705"/>
            <a:chOff x="4429592" y="1700120"/>
            <a:chExt cx="4646949" cy="389870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50FA114-52DE-461C-5B90-0EDB198E6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29592" y="1881266"/>
              <a:ext cx="4646949" cy="3717559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945D2E-C6C6-1470-6A48-2A781FCE15FA}"/>
                </a:ext>
              </a:extLst>
            </p:cNvPr>
            <p:cNvSpPr txBox="1"/>
            <p:nvPr/>
          </p:nvSpPr>
          <p:spPr>
            <a:xfrm>
              <a:off x="5831171" y="1700120"/>
              <a:ext cx="18437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Actual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0F5E20E-BE3C-24B7-275B-1AA10E07E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959" y="5187866"/>
            <a:ext cx="2580952" cy="3714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6B29AF-C4CD-27E5-600D-CF57E73B3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066" y="5187866"/>
            <a:ext cx="2600000" cy="37142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F3AEA9A-863F-0AB7-9CB8-C47F898B5A81}"/>
              </a:ext>
            </a:extLst>
          </p:cNvPr>
          <p:cNvSpPr txBox="1"/>
          <p:nvPr/>
        </p:nvSpPr>
        <p:spPr>
          <a:xfrm>
            <a:off x="2059956" y="5952705"/>
            <a:ext cx="50240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70C0"/>
                </a:solidFill>
              </a:rPr>
              <a:t>Engineers must contend with the real world where nothing is exact or consistent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E3B362-FC28-B4C5-4F80-A6C8314B1605}"/>
              </a:ext>
            </a:extLst>
          </p:cNvPr>
          <p:cNvSpPr/>
          <p:nvPr/>
        </p:nvSpPr>
        <p:spPr>
          <a:xfrm>
            <a:off x="2585803" y="5343376"/>
            <a:ext cx="562210" cy="1828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34BA41-7509-0093-AB85-BD4E2840177E}"/>
              </a:ext>
            </a:extLst>
          </p:cNvPr>
          <p:cNvSpPr/>
          <p:nvPr/>
        </p:nvSpPr>
        <p:spPr>
          <a:xfrm>
            <a:off x="6947004" y="5351095"/>
            <a:ext cx="562210" cy="1828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2245277-8968-7448-8B67-EE2A26417480}"/>
              </a:ext>
            </a:extLst>
          </p:cNvPr>
          <p:cNvCxnSpPr>
            <a:stCxn id="19" idx="2"/>
            <a:endCxn id="20" idx="2"/>
          </p:cNvCxnSpPr>
          <p:nvPr/>
        </p:nvCxnSpPr>
        <p:spPr>
          <a:xfrm rot="16200000" flipH="1">
            <a:off x="5043649" y="3349440"/>
            <a:ext cx="7719" cy="4361201"/>
          </a:xfrm>
          <a:prstGeom prst="bentConnector3">
            <a:avLst>
              <a:gd name="adj1" fmla="val 3061524"/>
            </a:avLst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E4FAFC-714B-FADB-CBBD-5E8A7EB38BE4}"/>
              </a:ext>
            </a:extLst>
          </p:cNvPr>
          <p:cNvCxnSpPr>
            <a:cxnSpLocks/>
          </p:cNvCxnSpPr>
          <p:nvPr/>
        </p:nvCxnSpPr>
        <p:spPr>
          <a:xfrm>
            <a:off x="5831171" y="3429000"/>
            <a:ext cx="1030805" cy="0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2BBBA8-2BE3-6D8B-2C71-25B22275A120}"/>
              </a:ext>
            </a:extLst>
          </p:cNvPr>
          <p:cNvCxnSpPr>
            <a:cxnSpLocks/>
          </p:cNvCxnSpPr>
          <p:nvPr/>
        </p:nvCxnSpPr>
        <p:spPr>
          <a:xfrm flipV="1">
            <a:off x="1713723" y="3429000"/>
            <a:ext cx="346233" cy="3313"/>
          </a:xfrm>
          <a:prstGeom prst="straightConnector1">
            <a:avLst/>
          </a:prstGeom>
          <a:ln w="38100">
            <a:solidFill>
              <a:srgbClr val="0070C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0F427A98-ADEB-8FA0-7412-5DF3E986EB37}"/>
              </a:ext>
            </a:extLst>
          </p:cNvPr>
          <p:cNvSpPr/>
          <p:nvPr/>
        </p:nvSpPr>
        <p:spPr>
          <a:xfrm>
            <a:off x="2215027" y="3052161"/>
            <a:ext cx="1518699" cy="37142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High Q Factor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4CFF17-60B3-686D-71EF-089D3489B8B3}"/>
              </a:ext>
            </a:extLst>
          </p:cNvPr>
          <p:cNvSpPr/>
          <p:nvPr/>
        </p:nvSpPr>
        <p:spPr>
          <a:xfrm>
            <a:off x="6987323" y="3052160"/>
            <a:ext cx="1518699" cy="371429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rgbClr val="0070C0"/>
                  </a:solidFill>
                </a:ln>
                <a:solidFill>
                  <a:srgbClr val="0070C0"/>
                </a:solidFill>
              </a:rPr>
              <a:t>Low Q Factor</a:t>
            </a:r>
          </a:p>
        </p:txBody>
      </p:sp>
    </p:spTree>
    <p:extLst>
      <p:ext uri="{BB962C8B-B14F-4D97-AF65-F5344CB8AC3E}">
        <p14:creationId xmlns:p14="http://schemas.microsoft.com/office/powerpoint/2010/main" val="3732712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+mn-lt"/>
              </a:rPr>
              <a:t>Team </a:t>
            </a:r>
            <a:r>
              <a:rPr lang="en-US" sz="3200" b="1" dirty="0">
                <a:latin typeface="+mn-lt"/>
              </a:rPr>
              <a:t>09</a:t>
            </a:r>
            <a:r>
              <a:rPr lang="en-US" sz="3200" dirty="0">
                <a:latin typeface="+mn-lt"/>
              </a:rPr>
              <a:t> – What We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2E0DF-EA1E-2B29-FBAA-C77F1DA8F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is possible to determine the </a:t>
            </a:r>
            <a:r>
              <a:rPr lang="en-US" sz="2400" b="1" dirty="0"/>
              <a:t>resonant frequency </a:t>
            </a:r>
            <a:r>
              <a:rPr lang="en-US" sz="2400" dirty="0"/>
              <a:t>of an RLC circuit using an inexpensive microcontroller, at least for </a:t>
            </a:r>
            <a:r>
              <a:rPr lang="en-US" sz="2400" u="sng" dirty="0"/>
              <a:t>low</a:t>
            </a:r>
            <a:r>
              <a:rPr lang="en-US" sz="2400" dirty="0"/>
              <a:t> frequencies with a low </a:t>
            </a:r>
            <a:r>
              <a:rPr lang="en-US" sz="2400" u="sng" dirty="0"/>
              <a:t>selectivity</a:t>
            </a:r>
            <a:r>
              <a:rPr lang="en-US" sz="2400" dirty="0"/>
              <a:t> (Q factor)</a:t>
            </a:r>
          </a:p>
          <a:p>
            <a:r>
              <a:rPr lang="en-US" sz="2400" dirty="0"/>
              <a:t>Our experimental results agreed reasonably with the theoretical exact answer </a:t>
            </a:r>
            <a:r>
              <a:rPr lang="en-US" sz="2400" b="1" dirty="0"/>
              <a:t>(~2% relative error)</a:t>
            </a:r>
            <a:r>
              <a:rPr lang="en-US" sz="2400" dirty="0"/>
              <a:t> – our job as engineers is to understand the root causes for the deviations and to design improved circuits</a:t>
            </a:r>
          </a:p>
          <a:p>
            <a:r>
              <a:rPr lang="en-US" sz="2400" dirty="0"/>
              <a:t>The 12-bit </a:t>
            </a:r>
            <a:r>
              <a:rPr lang="en-US" sz="2400" b="1" dirty="0"/>
              <a:t>ADC</a:t>
            </a:r>
            <a:r>
              <a:rPr lang="en-US" sz="2400" dirty="0"/>
              <a:t> built into the RP2040 is fast but less precise than the high-resolution 16-bit ADC breakout board. However, we could not use the 16-bit ADC because the KB2040 could not simultaneously use both its </a:t>
            </a:r>
            <a:r>
              <a:rPr lang="en-US" sz="2400" b="1" dirty="0"/>
              <a:t>I2C</a:t>
            </a:r>
            <a:r>
              <a:rPr lang="en-US" sz="2400" dirty="0"/>
              <a:t> bus to talk to the 16-bit ADC and the </a:t>
            </a:r>
            <a:r>
              <a:rPr lang="en-US" sz="2400" b="1" dirty="0"/>
              <a:t>SPI</a:t>
            </a:r>
            <a:r>
              <a:rPr lang="en-US" sz="2400" dirty="0"/>
              <a:t> bus to talk to the signal generator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37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10807</TotalTime>
  <Words>486</Words>
  <Application>Microsoft Office PowerPoint</Application>
  <PresentationFormat>On-screen Show (4:3)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Our Challenge: Build a Spectrum Analyzer</vt:lpstr>
      <vt:lpstr>Finding a Circuit's Resonant Frequency</vt:lpstr>
      <vt:lpstr>Team 08 Results</vt:lpstr>
      <vt:lpstr>Our Approach</vt:lpstr>
      <vt:lpstr>Our Approach</vt:lpstr>
      <vt:lpstr>Our Approach</vt:lpstr>
      <vt:lpstr>Our Solution</vt:lpstr>
      <vt:lpstr>Our Solution</vt:lpstr>
      <vt:lpstr>Our Solution</vt:lpstr>
      <vt:lpstr>Our Solution</vt:lpstr>
      <vt:lpstr>Our Results</vt:lpstr>
      <vt:lpstr>Team 09 – What We Learned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Biersach, David</cp:lastModifiedBy>
  <cp:revision>1084</cp:revision>
  <cp:lastPrinted>2015-06-01T00:45:11Z</cp:lastPrinted>
  <dcterms:created xsi:type="dcterms:W3CDTF">2014-09-21T17:58:26Z</dcterms:created>
  <dcterms:modified xsi:type="dcterms:W3CDTF">2023-12-18T23:15:34Z</dcterms:modified>
</cp:coreProperties>
</file>