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1244" r:id="rId2"/>
    <p:sldId id="296" r:id="rId3"/>
    <p:sldId id="415" r:id="rId4"/>
    <p:sldId id="1043" r:id="rId5"/>
    <p:sldId id="1247" r:id="rId6"/>
    <p:sldId id="1249" r:id="rId7"/>
    <p:sldId id="1248" r:id="rId8"/>
  </p:sldIdLst>
  <p:sldSz cx="9144000" cy="6858000" type="screen4x3"/>
  <p:notesSz cx="7077075" cy="9363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2C1E"/>
    <a:srgbClr val="277A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31E7D9-E8FD-4908-95BB-3604F3CA9764}" v="1" dt="2020-05-29T19:25:52.3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98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5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ersach, David" userId="14a9feb0-85a7-4da4-be8a-c1e22b637acc" providerId="ADAL" clId="{6231E7D9-E8FD-4908-95BB-3604F3CA9764}"/>
    <pc:docChg chg="custSel delSld modSld">
      <pc:chgData name="Biersach, David" userId="14a9feb0-85a7-4da4-be8a-c1e22b637acc" providerId="ADAL" clId="{6231E7D9-E8FD-4908-95BB-3604F3CA9764}" dt="2020-05-29T19:25:56.584" v="2" actId="2696"/>
      <pc:docMkLst>
        <pc:docMk/>
      </pc:docMkLst>
      <pc:sldChg chg="del">
        <pc:chgData name="Biersach, David" userId="14a9feb0-85a7-4da4-be8a-c1e22b637acc" providerId="ADAL" clId="{6231E7D9-E8FD-4908-95BB-3604F3CA9764}" dt="2020-05-29T19:25:56.584" v="2" actId="2696"/>
        <pc:sldMkLst>
          <pc:docMk/>
          <pc:sldMk cId="1150352350" sldId="278"/>
        </pc:sldMkLst>
      </pc:sldChg>
      <pc:sldChg chg="modSp">
        <pc:chgData name="Biersach, David" userId="14a9feb0-85a7-4da4-be8a-c1e22b637acc" providerId="ADAL" clId="{6231E7D9-E8FD-4908-95BB-3604F3CA9764}" dt="2020-05-29T19:25:52.552" v="0" actId="27636"/>
        <pc:sldMkLst>
          <pc:docMk/>
          <pc:sldMk cId="206124625" sldId="464"/>
        </pc:sldMkLst>
        <pc:spChg chg="mod">
          <ac:chgData name="Biersach, David" userId="14a9feb0-85a7-4da4-be8a-c1e22b637acc" providerId="ADAL" clId="{6231E7D9-E8FD-4908-95BB-3604F3CA9764}" dt="2020-05-29T19:25:52.552" v="0" actId="27636"/>
          <ac:spMkLst>
            <pc:docMk/>
            <pc:sldMk cId="206124625" sldId="464"/>
            <ac:spMk id="3" creationId="{00000000-0000-0000-0000-000000000000}"/>
          </ac:spMkLst>
        </pc:spChg>
      </pc:sldChg>
      <pc:sldChg chg="modSp">
        <pc:chgData name="Biersach, David" userId="14a9feb0-85a7-4da4-be8a-c1e22b637acc" providerId="ADAL" clId="{6231E7D9-E8FD-4908-95BB-3604F3CA9764}" dt="2020-05-29T19:25:52.649" v="1" actId="27636"/>
        <pc:sldMkLst>
          <pc:docMk/>
          <pc:sldMk cId="320308749" sldId="465"/>
        </pc:sldMkLst>
        <pc:spChg chg="mod">
          <ac:chgData name="Biersach, David" userId="14a9feb0-85a7-4da4-be8a-c1e22b637acc" providerId="ADAL" clId="{6231E7D9-E8FD-4908-95BB-3604F3CA9764}" dt="2020-05-29T19:25:52.649" v="1" actId="27636"/>
          <ac:spMkLst>
            <pc:docMk/>
            <pc:sldMk cId="320308749" sldId="465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A241AC98-512A-4A35-865E-757B6C1F07A2}" type="datetimeFigureOut">
              <a:rPr lang="en-US" smtClean="0"/>
              <a:t>1/8/2023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825528D0-251A-41BC-8967-C65EDA3BF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95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3854CEE7-15DE-41D9-8CA2-D1E137B1D850}" type="datetimeFigureOut">
              <a:rPr lang="en-US" smtClean="0"/>
              <a:t>1/8/2023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69988"/>
            <a:ext cx="4213225" cy="3160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638" tIns="46319" rIns="92638" bIns="4631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7708" y="4505662"/>
            <a:ext cx="5661660" cy="3687031"/>
          </a:xfrm>
          <a:prstGeom prst="rect">
            <a:avLst/>
          </a:prstGeom>
        </p:spPr>
        <p:txBody>
          <a:bodyPr vert="horz" lIns="92638" tIns="46319" rIns="92638" bIns="4631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76317BBA-0BC6-419B-B826-088209688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92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872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2610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130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EB2C-244D-4423-AD97-018ED6478B87}" type="datetime1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06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F632E-48CB-4EEB-A6B6-DEC7AD7CC976}" type="datetime1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6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E52C-3A57-458E-95F6-96B2FA9D1DD4}" type="datetime1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5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FC747-A48A-4FF2-8EE4-3E95ECD1C2A8}" type="datetime1">
              <a:rPr lang="en-US" smtClean="0"/>
              <a:t>1/8/2023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2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758-AB7F-463D-B638-E1729B95E126}" type="datetime1">
              <a:rPr lang="en-US" smtClean="0"/>
              <a:t>1/8/2023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3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8C77-7DD0-4738-BF52-D0EC9F78A76E}" type="datetime1">
              <a:rPr lang="en-US" smtClean="0"/>
              <a:t>1/8/2023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1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70CF-13D9-4E1D-A74F-2CFE4953FCDB}" type="datetime1">
              <a:rPr lang="en-US" smtClean="0"/>
              <a:t>1/8/2023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27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C49B9-4E1C-4967-B9CF-0BF9FECBE837}" type="datetime1">
              <a:rPr lang="en-US" smtClean="0"/>
              <a:t>1/8/2023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69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38CBB-1F06-4333-9BBF-66628B15E581}" type="datetime1">
              <a:rPr lang="en-US" smtClean="0"/>
              <a:t>1/8/2023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8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1D1F-7576-4C60-B4EB-5115BC56CF40}" type="datetime1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9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D1398-4D56-44F9-BA35-34ACF3159A64}" type="datetime1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32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EC883-F03C-4CA3-AF62-BEF30EEA4F65}" type="datetime1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6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0.png"/><Relationship Id="rId7" Type="http://schemas.openxmlformats.org/officeDocument/2006/relationships/image" Target="../media/image110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0.png"/><Relationship Id="rId5" Type="http://schemas.openxmlformats.org/officeDocument/2006/relationships/image" Target="../media/image2.png"/><Relationship Id="rId4" Type="http://schemas.openxmlformats.org/officeDocument/2006/relationships/image" Target="../media/image86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cikit-learn.org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13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0.png"/><Relationship Id="rId5" Type="http://schemas.openxmlformats.org/officeDocument/2006/relationships/image" Target="../media/image930.png"/><Relationship Id="rId4" Type="http://schemas.openxmlformats.org/officeDocument/2006/relationships/image" Target="../media/image9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5F40B8-3E4E-D5C7-9F34-32B17F946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8190" y="1715220"/>
            <a:ext cx="5807619" cy="240783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CEF732A-1703-9458-DBE1-4B4D5794F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6595"/>
            <a:ext cx="7886700" cy="1325563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Ideal Gas Law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A3EC362-8001-15C0-01D5-A47D92DF37E6}"/>
                  </a:ext>
                </a:extLst>
              </p:cNvPr>
              <p:cNvSpPr txBox="1"/>
              <p:nvPr/>
            </p:nvSpPr>
            <p:spPr>
              <a:xfrm>
                <a:off x="5659398" y="4635004"/>
                <a:ext cx="1597104" cy="6992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𝑛𝑅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den>
                          </m:f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A3EC362-8001-15C0-01D5-A47D92DF37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9398" y="4635004"/>
                <a:ext cx="1597104" cy="6992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F10BB9-E7DD-023A-1786-E7E363BAF298}"/>
                  </a:ext>
                </a:extLst>
              </p:cNvPr>
              <p:cNvSpPr txBox="1"/>
              <p:nvPr/>
            </p:nvSpPr>
            <p:spPr>
              <a:xfrm>
                <a:off x="2414235" y="4450338"/>
                <a:ext cx="1423338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F10BB9-E7DD-023A-1786-E7E363BAF2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4235" y="4450338"/>
                <a:ext cx="1423338" cy="369332"/>
              </a:xfrm>
              <a:prstGeom prst="rect">
                <a:avLst/>
              </a:prstGeom>
              <a:blipFill>
                <a:blip r:embed="rId4"/>
                <a:stretch>
                  <a:fillRect l="-4274" r="-4274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0FE4232A-1B98-A13A-02D5-A86B8DDA88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4235" y="4912252"/>
            <a:ext cx="1972976" cy="156551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0827455-2217-8D60-2B09-69C5FC7E6F8C}"/>
                  </a:ext>
                </a:extLst>
              </p:cNvPr>
              <p:cNvSpPr txBox="1"/>
              <p:nvPr/>
            </p:nvSpPr>
            <p:spPr>
              <a:xfrm>
                <a:off x="5659398" y="5745757"/>
                <a:ext cx="137948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0827455-2217-8D60-2B09-69C5FC7E6F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9398" y="5745757"/>
                <a:ext cx="1379480" cy="369332"/>
              </a:xfrm>
              <a:prstGeom prst="rect">
                <a:avLst/>
              </a:prstGeom>
              <a:blipFill>
                <a:blip r:embed="rId6"/>
                <a:stretch>
                  <a:fillRect l="-4405" r="-4405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FAA85CA-FA13-D02F-18B7-CEF3F1663900}"/>
                  </a:ext>
                </a:extLst>
              </p:cNvPr>
              <p:cNvSpPr txBox="1"/>
              <p:nvPr/>
            </p:nvSpPr>
            <p:spPr>
              <a:xfrm>
                <a:off x="7179352" y="5386538"/>
                <a:ext cx="81246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𝑚𝑥</m:t>
                      </m:r>
                    </m:oMath>
                  </m:oMathPara>
                </a14:m>
                <a:endParaRPr lang="en-US" dirty="0">
                  <a:ln>
                    <a:solidFill>
                      <a:srgbClr val="7030A0"/>
                    </a:solidFill>
                  </a:ln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FAA85CA-FA13-D02F-18B7-CEF3F16639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9352" y="5386538"/>
                <a:ext cx="812467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>
            <a:extLst>
              <a:ext uri="{FF2B5EF4-FFF2-40B4-BE49-F238E27FC236}">
                <a16:creationId xmlns:a16="http://schemas.microsoft.com/office/drawing/2014/main" id="{06F72A97-D005-E4B6-17FB-C61AC0E63692}"/>
              </a:ext>
            </a:extLst>
          </p:cNvPr>
          <p:cNvSpPr/>
          <p:nvPr/>
        </p:nvSpPr>
        <p:spPr>
          <a:xfrm>
            <a:off x="4212236" y="1761344"/>
            <a:ext cx="464695" cy="29230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E77D3E5-A696-FD02-48B7-2FA1CAD4C98B}"/>
              </a:ext>
            </a:extLst>
          </p:cNvPr>
          <p:cNvSpPr/>
          <p:nvPr/>
        </p:nvSpPr>
        <p:spPr>
          <a:xfrm>
            <a:off x="2483371" y="2802960"/>
            <a:ext cx="2778177" cy="29230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6825661-5F91-70AD-1CDB-90337D0A9D2E}"/>
              </a:ext>
            </a:extLst>
          </p:cNvPr>
          <p:cNvSpPr/>
          <p:nvPr/>
        </p:nvSpPr>
        <p:spPr>
          <a:xfrm>
            <a:off x="5737174" y="1863710"/>
            <a:ext cx="661246" cy="18463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59A6FD-07D6-8E56-D5EF-1FA91AD227F3}"/>
              </a:ext>
            </a:extLst>
          </p:cNvPr>
          <p:cNvSpPr/>
          <p:nvPr/>
        </p:nvSpPr>
        <p:spPr>
          <a:xfrm>
            <a:off x="6888956" y="1863710"/>
            <a:ext cx="552450" cy="18463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AF57709-7788-4715-F8AA-1F0709B84154}"/>
              </a:ext>
            </a:extLst>
          </p:cNvPr>
          <p:cNvSpPr/>
          <p:nvPr/>
        </p:nvSpPr>
        <p:spPr>
          <a:xfrm>
            <a:off x="4999220" y="3560164"/>
            <a:ext cx="547141" cy="292309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AE5F8AD-9A7F-638B-9CD2-50C1F0EDA98B}"/>
              </a:ext>
            </a:extLst>
          </p:cNvPr>
          <p:cNvSpPr/>
          <p:nvPr/>
        </p:nvSpPr>
        <p:spPr>
          <a:xfrm>
            <a:off x="1668190" y="3830742"/>
            <a:ext cx="1015049" cy="292309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7D9008-8B63-F640-0081-6C0E9DD15360}"/>
              </a:ext>
            </a:extLst>
          </p:cNvPr>
          <p:cNvSpPr txBox="1"/>
          <p:nvPr/>
        </p:nvSpPr>
        <p:spPr>
          <a:xfrm>
            <a:off x="1546577" y="4909701"/>
            <a:ext cx="8844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constant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C6C0AE-B256-242C-248A-FE2B2DF972A6}"/>
              </a:ext>
            </a:extLst>
          </p:cNvPr>
          <p:cNvSpPr txBox="1"/>
          <p:nvPr/>
        </p:nvSpPr>
        <p:spPr>
          <a:xfrm>
            <a:off x="1546577" y="5525037"/>
            <a:ext cx="8844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constant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AEAE79-0996-7430-1170-8B9F9403E370}"/>
              </a:ext>
            </a:extLst>
          </p:cNvPr>
          <p:cNvSpPr txBox="1"/>
          <p:nvPr/>
        </p:nvSpPr>
        <p:spPr>
          <a:xfrm>
            <a:off x="1556212" y="5807312"/>
            <a:ext cx="8844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constant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011203C-D5D1-201D-C3EE-A5A2B6C5C745}"/>
              </a:ext>
            </a:extLst>
          </p:cNvPr>
          <p:cNvGrpSpPr/>
          <p:nvPr/>
        </p:nvGrpSpPr>
        <p:grpSpPr>
          <a:xfrm>
            <a:off x="6090166" y="6053304"/>
            <a:ext cx="884419" cy="537992"/>
            <a:chOff x="6090166" y="6053304"/>
            <a:chExt cx="884419" cy="53799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C9C7C2B-A89F-0FA3-0209-ACF15FFDF10B}"/>
                </a:ext>
              </a:extLst>
            </p:cNvPr>
            <p:cNvSpPr txBox="1"/>
            <p:nvPr/>
          </p:nvSpPr>
          <p:spPr>
            <a:xfrm>
              <a:off x="6090166" y="6283519"/>
              <a:ext cx="8844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solidFill>
                    <a:srgbClr val="FF0000"/>
                  </a:solidFill>
                </a:rPr>
                <a:t>constant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FDB38C8-3DC5-8ECD-7EDB-313735ADE3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38874" y="6053304"/>
              <a:ext cx="0" cy="32923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590127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Method of Least Squares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791110" y="1357086"/>
                <a:ext cx="5561779" cy="1008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𝑀𝑖𝑛𝑖𝑚𝑖𝑧𝑒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sSubSup>
                                        <m:sSubSup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1110" y="1357086"/>
                <a:ext cx="5561779" cy="10082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441288" y="2705702"/>
                <a:ext cx="4261423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𝑎𝑥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𝑎𝑥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𝑏𝑥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1288" y="2705702"/>
                <a:ext cx="4261423" cy="307777"/>
              </a:xfrm>
              <a:prstGeom prst="rect">
                <a:avLst/>
              </a:prstGeom>
              <a:blipFill>
                <a:blip r:embed="rId3"/>
                <a:stretch>
                  <a:fillRect t="-4000"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1029" y="5258578"/>
                <a:ext cx="8501943" cy="307777"/>
              </a:xfrm>
              <a:prstGeom prst="rect">
                <a:avLst/>
              </a:prstGeom>
              <a:noFill/>
              <a:ln w="12700"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𝑏𝑥𝑦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𝑐𝑦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𝑎𝑏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𝑎𝑐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𝑏𝑐𝑥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029" y="5258578"/>
                <a:ext cx="8501943" cy="307777"/>
              </a:xfrm>
              <a:prstGeom prst="rect">
                <a:avLst/>
              </a:prstGeom>
              <a:blipFill>
                <a:blip r:embed="rId4"/>
                <a:stretch>
                  <a:fillRect l="-215" t="-1923" b="-30769"/>
                </a:stretch>
              </a:blipFill>
              <a:ln w="12700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/>
          <p:cNvGrpSpPr/>
          <p:nvPr/>
        </p:nvGrpSpPr>
        <p:grpSpPr>
          <a:xfrm>
            <a:off x="765351" y="3178277"/>
            <a:ext cx="7613297" cy="1740310"/>
            <a:chOff x="628650" y="3406877"/>
            <a:chExt cx="7613297" cy="1740310"/>
          </a:xfrm>
        </p:grpSpPr>
        <p:grpSp>
          <p:nvGrpSpPr>
            <p:cNvPr id="8" name="Group 7"/>
            <p:cNvGrpSpPr/>
            <p:nvPr/>
          </p:nvGrpSpPr>
          <p:grpSpPr>
            <a:xfrm>
              <a:off x="902053" y="3492099"/>
              <a:ext cx="7339894" cy="1560015"/>
              <a:chOff x="781664" y="3492099"/>
              <a:chExt cx="7339894" cy="156001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TextBox 6"/>
                  <p:cNvSpPr txBox="1"/>
                  <p:nvPr/>
                </p:nvSpPr>
                <p:spPr>
                  <a:xfrm>
                    <a:off x="781664" y="3492099"/>
                    <a:ext cx="2510752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𝑏𝑥𝑦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𝑐𝑦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7" name="TextBox 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1664" y="3492099"/>
                    <a:ext cx="2510752" cy="307777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3641" t="-1961" r="-243" b="-3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/>
                  <p:cNvSpPr txBox="1"/>
                  <p:nvPr/>
                </p:nvSpPr>
                <p:spPr>
                  <a:xfrm>
                    <a:off x="781664" y="3909512"/>
                    <a:ext cx="5166094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    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                         +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𝑎𝑏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𝑎𝑐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2" name="TextBox 1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1664" y="3909512"/>
                    <a:ext cx="5166094" cy="307777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18" t="-4000" b="-26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/>
                  <p:cNvSpPr txBox="1"/>
                  <p:nvPr/>
                </p:nvSpPr>
                <p:spPr>
                  <a:xfrm>
                    <a:off x="781664" y="4326925"/>
                    <a:ext cx="6787051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                    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𝑏𝑥𝑦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                           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𝑎𝑏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               +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𝑏𝑐𝑥</m:t>
                          </m:r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3" name="TextBox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1664" y="4326925"/>
                    <a:ext cx="6787051" cy="30777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90" t="-1961" b="-3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/>
                  <p:cNvSpPr txBox="1"/>
                  <p:nvPr/>
                </p:nvSpPr>
                <p:spPr>
                  <a:xfrm>
                    <a:off x="781664" y="4744337"/>
                    <a:ext cx="7339894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sz="200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                                 −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𝑐𝑦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                                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𝑎𝑐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               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𝑏𝑐𝑥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4" name="TextBox 1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1664" y="4744337"/>
                    <a:ext cx="7339894" cy="307777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83" t="-4000" b="-26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6" name="Rectangle 15"/>
            <p:cNvSpPr/>
            <p:nvPr/>
          </p:nvSpPr>
          <p:spPr>
            <a:xfrm>
              <a:off x="628650" y="3406877"/>
              <a:ext cx="7608324" cy="174031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A186E39-1014-40A2-81A2-6419FCFF570C}"/>
              </a:ext>
            </a:extLst>
          </p:cNvPr>
          <p:cNvSpPr txBox="1"/>
          <p:nvPr/>
        </p:nvSpPr>
        <p:spPr>
          <a:xfrm>
            <a:off x="1795616" y="6001419"/>
            <a:ext cx="5552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Note: we will set aside the summation operator for now…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C6CD770-FDB7-C20D-25E9-3ABC5A37A8AF}"/>
              </a:ext>
            </a:extLst>
          </p:cNvPr>
          <p:cNvGrpSpPr/>
          <p:nvPr/>
        </p:nvGrpSpPr>
        <p:grpSpPr>
          <a:xfrm>
            <a:off x="271052" y="714716"/>
            <a:ext cx="1200473" cy="1979497"/>
            <a:chOff x="271052" y="714716"/>
            <a:chExt cx="1200473" cy="197949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59EF4B8-7B4F-BADA-C84E-A2218919C31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96040" y="714716"/>
              <a:ext cx="1150496" cy="1307707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C4766A7-DAA9-673B-9702-2C3EAE9DF8D3}"/>
                </a:ext>
              </a:extLst>
            </p:cNvPr>
            <p:cNvSpPr txBox="1"/>
            <p:nvPr/>
          </p:nvSpPr>
          <p:spPr>
            <a:xfrm>
              <a:off x="271052" y="2047882"/>
              <a:ext cx="120047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0" i="0" dirty="0">
                  <a:solidFill>
                    <a:srgbClr val="000000"/>
                  </a:solidFill>
                  <a:effectLst/>
                  <a:latin typeface="Linux Libertine"/>
                </a:rPr>
                <a:t>Carl Friedrich </a:t>
              </a:r>
              <a:r>
                <a:rPr lang="en-US" sz="1200" b="1" i="0" dirty="0">
                  <a:solidFill>
                    <a:srgbClr val="000000"/>
                  </a:solidFill>
                  <a:effectLst/>
                  <a:latin typeface="Linux Libertine"/>
                </a:rPr>
                <a:t>Gauss</a:t>
              </a:r>
            </a:p>
            <a:p>
              <a:pPr algn="ctr"/>
              <a:r>
                <a:rPr lang="en-US" sz="1200" b="0" i="0" dirty="0">
                  <a:solidFill>
                    <a:srgbClr val="000000"/>
                  </a:solidFill>
                  <a:effectLst/>
                  <a:latin typeface="Linux Libertine"/>
                </a:rPr>
                <a:t>(1977-1855)</a:t>
              </a:r>
              <a:endParaRPr lang="en-US" sz="1200" dirty="0"/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1F962C6-5DD5-7B83-B4B0-C1F3E7B436DF}"/>
              </a:ext>
            </a:extLst>
          </p:cNvPr>
          <p:cNvCxnSpPr/>
          <p:nvPr/>
        </p:nvCxnSpPr>
        <p:spPr>
          <a:xfrm>
            <a:off x="4399613" y="1124262"/>
            <a:ext cx="794479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0797BAE8-FC09-CAAE-2885-DB00D3873C02}"/>
              </a:ext>
            </a:extLst>
          </p:cNvPr>
          <p:cNvSpPr/>
          <p:nvPr/>
        </p:nvSpPr>
        <p:spPr>
          <a:xfrm>
            <a:off x="1866275" y="1701384"/>
            <a:ext cx="1281659" cy="3210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7A3C0AC-7715-FB2F-7B97-D13C8F5C7460}"/>
              </a:ext>
            </a:extLst>
          </p:cNvPr>
          <p:cNvCxnSpPr>
            <a:cxnSpLocks/>
          </p:cNvCxnSpPr>
          <p:nvPr/>
        </p:nvCxnSpPr>
        <p:spPr>
          <a:xfrm>
            <a:off x="5346492" y="1126760"/>
            <a:ext cx="124168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1FF3D17C-D76F-CB7F-F64A-A9FFD959EA8A}"/>
              </a:ext>
            </a:extLst>
          </p:cNvPr>
          <p:cNvSpPr/>
          <p:nvPr/>
        </p:nvSpPr>
        <p:spPr>
          <a:xfrm>
            <a:off x="7148514" y="1595437"/>
            <a:ext cx="129212" cy="18811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6DAEC38-0CA8-7940-AF83-3E6024ACE7C0}"/>
              </a:ext>
            </a:extLst>
          </p:cNvPr>
          <p:cNvSpPr/>
          <p:nvPr/>
        </p:nvSpPr>
        <p:spPr>
          <a:xfrm>
            <a:off x="4360887" y="714716"/>
            <a:ext cx="882626" cy="435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8AAF950-2F3B-09E8-C27A-CA628041F632}"/>
              </a:ext>
            </a:extLst>
          </p:cNvPr>
          <p:cNvSpPr/>
          <p:nvPr/>
        </p:nvSpPr>
        <p:spPr>
          <a:xfrm>
            <a:off x="5297070" y="714716"/>
            <a:ext cx="1358523" cy="435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3DCC8917-7E89-96A2-9E48-05C515D2040E}"/>
              </a:ext>
            </a:extLst>
          </p:cNvPr>
          <p:cNvCxnSpPr>
            <a:stCxn id="24" idx="2"/>
            <a:endCxn id="20" idx="0"/>
          </p:cNvCxnSpPr>
          <p:nvPr/>
        </p:nvCxnSpPr>
        <p:spPr>
          <a:xfrm rot="5400000">
            <a:off x="3379208" y="278391"/>
            <a:ext cx="550891" cy="2295095"/>
          </a:xfrm>
          <a:prstGeom prst="bentConnector3">
            <a:avLst>
              <a:gd name="adj1" fmla="val 25510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4D482A58-7741-2D50-75F8-CF3661EB812E}"/>
              </a:ext>
            </a:extLst>
          </p:cNvPr>
          <p:cNvCxnSpPr>
            <a:cxnSpLocks/>
            <a:stCxn id="25" idx="2"/>
            <a:endCxn id="23" idx="0"/>
          </p:cNvCxnSpPr>
          <p:nvPr/>
        </p:nvCxnSpPr>
        <p:spPr>
          <a:xfrm rot="16200000" flipH="1">
            <a:off x="6372254" y="754571"/>
            <a:ext cx="444944" cy="1236788"/>
          </a:xfrm>
          <a:prstGeom prst="bentConnector3">
            <a:avLst>
              <a:gd name="adj1" fmla="val 50000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03942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Method of Least Squares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791110" y="1357086"/>
                <a:ext cx="5561779" cy="1008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𝑀𝑖𝑛𝑖𝑚𝑖𝑧𝑒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  <m:sSubSup>
                                        <m:sSubSup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  <m:sSub>
                                        <m:sSub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1110" y="1357086"/>
                <a:ext cx="5561779" cy="10082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/>
          <p:cNvGrpSpPr/>
          <p:nvPr/>
        </p:nvGrpSpPr>
        <p:grpSpPr>
          <a:xfrm>
            <a:off x="1939323" y="3047299"/>
            <a:ext cx="5470280" cy="2760379"/>
            <a:chOff x="2477778" y="3010428"/>
            <a:chExt cx="5470280" cy="27603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2477779" y="3010428"/>
                  <a:ext cx="5329023" cy="73507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p>
                                </m:sSubSup>
                              </m:e>
                            </m:nary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bSup>
                              </m:e>
                            </m:nary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nary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 = 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7779" y="3010428"/>
                  <a:ext cx="5329023" cy="73507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2477778" y="4023081"/>
                  <a:ext cx="5470280" cy="73507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bSup>
                              </m:e>
                            </m:nary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nary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  =  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b>
                                  <m:sSubPr>
                                    <m:ctrlPr>
                                      <a:rPr 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7778" y="4023081"/>
                  <a:ext cx="5470280" cy="735073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2477778" y="5035734"/>
                  <a:ext cx="5362237" cy="73507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bSup>
                                  <m:sSubSup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e>
                            </m:nary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          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  =    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7778" y="5035734"/>
                  <a:ext cx="5362237" cy="73507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8EFFEEA3-0537-4AFE-AD68-1582E2B2B6B8}"/>
              </a:ext>
            </a:extLst>
          </p:cNvPr>
          <p:cNvSpPr/>
          <p:nvPr/>
        </p:nvSpPr>
        <p:spPr>
          <a:xfrm>
            <a:off x="1851644" y="2971800"/>
            <a:ext cx="3790336" cy="293492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ACDA6D9-FCB3-4AF3-A904-44CF105A399D}"/>
              </a:ext>
            </a:extLst>
          </p:cNvPr>
          <p:cNvSpPr/>
          <p:nvPr/>
        </p:nvSpPr>
        <p:spPr>
          <a:xfrm>
            <a:off x="6005159" y="2971799"/>
            <a:ext cx="1287197" cy="293492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5CBC81-9756-4291-BB5D-313A6243402D}"/>
              </a:ext>
            </a:extLst>
          </p:cNvPr>
          <p:cNvSpPr txBox="1"/>
          <p:nvPr/>
        </p:nvSpPr>
        <p:spPr>
          <a:xfrm>
            <a:off x="2522695" y="6085258"/>
            <a:ext cx="2448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Coefficient Matrix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0279D3-E16C-4F4C-A1FD-9778BAA8962D}"/>
              </a:ext>
            </a:extLst>
          </p:cNvPr>
          <p:cNvSpPr txBox="1"/>
          <p:nvPr/>
        </p:nvSpPr>
        <p:spPr>
          <a:xfrm>
            <a:off x="5867250" y="6085258"/>
            <a:ext cx="1401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B050"/>
                </a:solidFill>
              </a:rPr>
              <a:t>Value Vector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78D8CE-C33F-1A6D-AD07-5C3E68DA77CB}"/>
              </a:ext>
            </a:extLst>
          </p:cNvPr>
          <p:cNvSpPr txBox="1"/>
          <p:nvPr/>
        </p:nvSpPr>
        <p:spPr>
          <a:xfrm>
            <a:off x="1175263" y="2442836"/>
            <a:ext cx="6793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This is just a system of 3 linear equations and 3 unknowns!</a:t>
            </a:r>
          </a:p>
        </p:txBody>
      </p:sp>
    </p:spTree>
    <p:extLst>
      <p:ext uri="{BB962C8B-B14F-4D97-AF65-F5344CB8AC3E}">
        <p14:creationId xmlns:p14="http://schemas.microsoft.com/office/powerpoint/2010/main" val="3835887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Machine Learning in Python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18434C-1CE3-497D-8BF8-DE3E9F060AE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5485" y="1920730"/>
            <a:ext cx="8373030" cy="42072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5429BF-13D6-4722-A21B-14CC29AE9189}"/>
              </a:ext>
            </a:extLst>
          </p:cNvPr>
          <p:cNvSpPr txBox="1"/>
          <p:nvPr/>
        </p:nvSpPr>
        <p:spPr>
          <a:xfrm>
            <a:off x="3196713" y="1349477"/>
            <a:ext cx="27505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https://scikit-learn.org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7833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1EB057-020A-A348-9563-2B3FCD1D3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734" y="1369536"/>
            <a:ext cx="4064971" cy="22326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</a:t>
            </a:fld>
            <a:endParaRPr lang="en-US" dirty="0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68ACE673-FBBE-F82C-05A8-83100693B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identify_element.py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20758A2-A763-39D4-04A0-585FC6E5C947}"/>
                  </a:ext>
                </a:extLst>
              </p:cNvPr>
              <p:cNvSpPr txBox="1"/>
              <p:nvPr/>
            </p:nvSpPr>
            <p:spPr>
              <a:xfrm>
                <a:off x="5619649" y="2784764"/>
                <a:ext cx="3314027" cy="6167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𝑛𝑅</m:t>
                              </m:r>
                            </m:num>
                            <m:den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den>
                          </m:f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20758A2-A763-39D4-04A0-585FC6E5C9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9649" y="2784764"/>
                <a:ext cx="3314027" cy="6167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>
            <a:extLst>
              <a:ext uri="{FF2B5EF4-FFF2-40B4-BE49-F238E27FC236}">
                <a16:creationId xmlns:a16="http://schemas.microsoft.com/office/drawing/2014/main" id="{D7B79B72-8C2C-B6A1-FE1B-06500279449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74182" y="3927777"/>
            <a:ext cx="4795634" cy="275458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36E3EFA-6A10-3E2E-EF5B-A3DC0EF648D6}"/>
              </a:ext>
            </a:extLst>
          </p:cNvPr>
          <p:cNvSpPr txBox="1"/>
          <p:nvPr/>
        </p:nvSpPr>
        <p:spPr>
          <a:xfrm>
            <a:off x="5850870" y="1713552"/>
            <a:ext cx="22378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Converts a 1-D </a:t>
            </a:r>
            <a:r>
              <a:rPr lang="en-US" b="1" dirty="0">
                <a:solidFill>
                  <a:srgbClr val="7030A0"/>
                </a:solidFill>
              </a:rPr>
              <a:t>array</a:t>
            </a:r>
            <a:r>
              <a:rPr lang="en-US" dirty="0">
                <a:solidFill>
                  <a:srgbClr val="7030A0"/>
                </a:solidFill>
              </a:rPr>
              <a:t> to a 2-D </a:t>
            </a:r>
            <a:r>
              <a:rPr lang="en-US" b="1" dirty="0">
                <a:solidFill>
                  <a:srgbClr val="7030A0"/>
                </a:solidFill>
              </a:rPr>
              <a:t>array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8BE63E4-1B20-A3CF-F0E9-B1973441F064}"/>
              </a:ext>
            </a:extLst>
          </p:cNvPr>
          <p:cNvSpPr/>
          <p:nvPr/>
        </p:nvSpPr>
        <p:spPr>
          <a:xfrm>
            <a:off x="3402768" y="2838595"/>
            <a:ext cx="239842" cy="1798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582E7A0D-A333-7A16-9D9A-A2CB3A923D02}"/>
              </a:ext>
            </a:extLst>
          </p:cNvPr>
          <p:cNvCxnSpPr>
            <a:cxnSpLocks/>
            <a:stCxn id="14" idx="1"/>
            <a:endCxn id="15" idx="3"/>
          </p:cNvCxnSpPr>
          <p:nvPr/>
        </p:nvCxnSpPr>
        <p:spPr>
          <a:xfrm rot="10800000" flipV="1">
            <a:off x="3642610" y="2036718"/>
            <a:ext cx="2208260" cy="891818"/>
          </a:xfrm>
          <a:prstGeom prst="bentConnector3">
            <a:avLst>
              <a:gd name="adj1" fmla="val 22847"/>
            </a:avLst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33C70E68-F2D8-AB7F-1215-337B9FD8E5FE}"/>
              </a:ext>
            </a:extLst>
          </p:cNvPr>
          <p:cNvSpPr/>
          <p:nvPr/>
        </p:nvSpPr>
        <p:spPr>
          <a:xfrm>
            <a:off x="1323975" y="3214689"/>
            <a:ext cx="150019" cy="1762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FE01F15-DD2F-BE91-5E32-9AFB23B50A44}"/>
              </a:ext>
            </a:extLst>
          </p:cNvPr>
          <p:cNvSpPr/>
          <p:nvPr/>
        </p:nvSpPr>
        <p:spPr>
          <a:xfrm>
            <a:off x="8034371" y="3004690"/>
            <a:ext cx="260350" cy="2468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E253A680-57CE-95F4-687E-9B4458C0A915}"/>
              </a:ext>
            </a:extLst>
          </p:cNvPr>
          <p:cNvCxnSpPr>
            <a:cxnSpLocks/>
            <a:stCxn id="22" idx="1"/>
            <a:endCxn id="23" idx="2"/>
          </p:cNvCxnSpPr>
          <p:nvPr/>
        </p:nvCxnSpPr>
        <p:spPr>
          <a:xfrm rot="10800000" flipH="1">
            <a:off x="1323974" y="3251539"/>
            <a:ext cx="6840571" cy="51256"/>
          </a:xfrm>
          <a:prstGeom prst="bentConnector4">
            <a:avLst>
              <a:gd name="adj1" fmla="val -3342"/>
              <a:gd name="adj2" fmla="val -881103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16AA33DA-B656-0779-F2D4-9BAA112D7B53}"/>
              </a:ext>
            </a:extLst>
          </p:cNvPr>
          <p:cNvGrpSpPr/>
          <p:nvPr/>
        </p:nvGrpSpPr>
        <p:grpSpPr>
          <a:xfrm>
            <a:off x="4955302" y="2036068"/>
            <a:ext cx="1076632" cy="369332"/>
            <a:chOff x="4968362" y="2079211"/>
            <a:chExt cx="1076632" cy="369332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5152DE13-72FC-9255-1EB0-FBE7DC0130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5CD1851-5A96-147B-F01F-63B2531CE53C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030253A-E44E-0B9E-7211-DD3CF64CAA7D}"/>
              </a:ext>
            </a:extLst>
          </p:cNvPr>
          <p:cNvGrpSpPr/>
          <p:nvPr/>
        </p:nvGrpSpPr>
        <p:grpSpPr>
          <a:xfrm>
            <a:off x="3349568" y="2570722"/>
            <a:ext cx="1076632" cy="369332"/>
            <a:chOff x="4704120" y="2356972"/>
            <a:chExt cx="1076632" cy="369332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6E8C914-1FB9-0752-9AEF-0FA7E2C4D1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2200486-BF42-A5D8-5CE1-1F5444B059D7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F610073-9AF4-EACE-D7FB-8DEB9D16C215}"/>
              </a:ext>
            </a:extLst>
          </p:cNvPr>
          <p:cNvGrpSpPr/>
          <p:nvPr/>
        </p:nvGrpSpPr>
        <p:grpSpPr>
          <a:xfrm>
            <a:off x="4882479" y="2935382"/>
            <a:ext cx="1068643" cy="369332"/>
            <a:chOff x="3647644" y="4910075"/>
            <a:chExt cx="1068643" cy="369332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9E01237-E31D-C72E-70F5-581150EA4924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0F41E0E4-4AB6-8D27-066B-74B5AEA301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40291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182C9BA3-50CF-F8F7-53CE-39C0418D31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299" y="459356"/>
            <a:ext cx="5823781" cy="620377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6685" y="365124"/>
            <a:ext cx="2529301" cy="1103455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+mn-lt"/>
              </a:rPr>
              <a:t>View</a:t>
            </a:r>
            <a:br>
              <a:rPr lang="en-US" sz="2800" b="1" dirty="0">
                <a:solidFill>
                  <a:srgbClr val="0070C0"/>
                </a:solidFill>
                <a:latin typeface="+mn-lt"/>
              </a:rPr>
            </a:br>
            <a:r>
              <a:rPr lang="en-US" sz="2000" dirty="0">
                <a:latin typeface="+mn-lt"/>
              </a:rPr>
              <a:t>identify_element.py</a:t>
            </a:r>
            <a:endParaRPr lang="en-US" sz="280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6</a:t>
            </a:fld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D9D2006-BEE0-A16B-1BC3-AC5735B75D64}"/>
              </a:ext>
            </a:extLst>
          </p:cNvPr>
          <p:cNvGrpSpPr/>
          <p:nvPr/>
        </p:nvGrpSpPr>
        <p:grpSpPr>
          <a:xfrm>
            <a:off x="4893912" y="1227334"/>
            <a:ext cx="1076632" cy="369332"/>
            <a:chOff x="4968362" y="2079211"/>
            <a:chExt cx="1076632" cy="369332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5EBFDC99-340E-6B6C-47A1-0F0B22D407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3E3ECE7-5F57-06AE-466C-5BB0FE07BBD7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905DA2C-206C-3A3E-96D1-E724243765F1}"/>
              </a:ext>
            </a:extLst>
          </p:cNvPr>
          <p:cNvGrpSpPr/>
          <p:nvPr/>
        </p:nvGrpSpPr>
        <p:grpSpPr>
          <a:xfrm>
            <a:off x="4372050" y="1723305"/>
            <a:ext cx="1076632" cy="369332"/>
            <a:chOff x="4704120" y="2356972"/>
            <a:chExt cx="1076632" cy="3693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E715F638-DBC0-2778-2EEA-C2D951DB29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CDBEF75-BB48-5A71-283B-C1317E8EBD40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C605D367-BA72-B802-C01D-A2B8DE3AE9B4}"/>
              </a:ext>
            </a:extLst>
          </p:cNvPr>
          <p:cNvGrpSpPr/>
          <p:nvPr/>
        </p:nvGrpSpPr>
        <p:grpSpPr>
          <a:xfrm>
            <a:off x="5305600" y="2055411"/>
            <a:ext cx="1068643" cy="369332"/>
            <a:chOff x="3647644" y="4910075"/>
            <a:chExt cx="1068643" cy="369332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9CA8A25-E4E8-4E48-4D9D-DAD834B302E9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23E28B1-1AD9-A758-B75D-88F6DFEA943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7D1B28D-C672-11E7-4D15-AD12D0031962}"/>
              </a:ext>
            </a:extLst>
          </p:cNvPr>
          <p:cNvGrpSpPr/>
          <p:nvPr/>
        </p:nvGrpSpPr>
        <p:grpSpPr>
          <a:xfrm>
            <a:off x="5034118" y="2400157"/>
            <a:ext cx="1064340" cy="369332"/>
            <a:chOff x="3647644" y="5421073"/>
            <a:chExt cx="1064340" cy="3693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50EF20F-FFB7-5101-D299-1A04BB06C613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943644CE-FED1-7AEF-86D6-3DAAE8012C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8F316E9-69C5-2F9A-90E7-9F249B369A6C}"/>
              </a:ext>
            </a:extLst>
          </p:cNvPr>
          <p:cNvGrpSpPr/>
          <p:nvPr/>
        </p:nvGrpSpPr>
        <p:grpSpPr>
          <a:xfrm>
            <a:off x="3799197" y="2719125"/>
            <a:ext cx="1068643" cy="369332"/>
            <a:chOff x="3647644" y="5359159"/>
            <a:chExt cx="1068643" cy="369332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B8BBD065-FB15-A7E2-8673-AEDEEAB34FF9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9B3D9493-B703-1190-4904-B43418502C3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4CF62E8-BF8E-65C8-5C27-DC9997B42DB8}"/>
              </a:ext>
            </a:extLst>
          </p:cNvPr>
          <p:cNvGrpSpPr/>
          <p:nvPr/>
        </p:nvGrpSpPr>
        <p:grpSpPr>
          <a:xfrm>
            <a:off x="2254862" y="3369081"/>
            <a:ext cx="1076632" cy="369332"/>
            <a:chOff x="2157212" y="5356391"/>
            <a:chExt cx="1076632" cy="369332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DBCF9AE-A6E8-EBB2-F465-D92AED863995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13FBDEDC-D5F1-8364-B77C-C154412497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24FAA08-A3D3-36E7-DE65-4CBC1C721D4F}"/>
              </a:ext>
            </a:extLst>
          </p:cNvPr>
          <p:cNvGrpSpPr/>
          <p:nvPr/>
        </p:nvGrpSpPr>
        <p:grpSpPr>
          <a:xfrm>
            <a:off x="1894949" y="4525624"/>
            <a:ext cx="1076632" cy="369332"/>
            <a:chOff x="2157212" y="5356391"/>
            <a:chExt cx="1076632" cy="36933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3D52411-B843-9381-61B1-0CD178714447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CABEFAB8-1929-9C9D-53AD-3616324BFD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ED66EB9-BF75-EFD1-19E4-985A511DC545}"/>
              </a:ext>
            </a:extLst>
          </p:cNvPr>
          <p:cNvGrpSpPr/>
          <p:nvPr/>
        </p:nvGrpSpPr>
        <p:grpSpPr>
          <a:xfrm>
            <a:off x="5933193" y="4686927"/>
            <a:ext cx="1076632" cy="369332"/>
            <a:chOff x="2157212" y="5356391"/>
            <a:chExt cx="1076632" cy="369332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9C195A1-59F1-FD8D-8D5A-5A214AC0B784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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E5DB48C0-44A5-EE57-4C76-D428247DA61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65BFF5F-F5ED-B4AF-7D5A-2816754B9522}"/>
              </a:ext>
            </a:extLst>
          </p:cNvPr>
          <p:cNvGrpSpPr/>
          <p:nvPr/>
        </p:nvGrpSpPr>
        <p:grpSpPr>
          <a:xfrm>
            <a:off x="4893874" y="3336084"/>
            <a:ext cx="894430" cy="369332"/>
            <a:chOff x="2339414" y="5356391"/>
            <a:chExt cx="894430" cy="369332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58AE8B3-054A-630F-A5F0-9C41038F1B1E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C0367F35-31CA-6724-A133-EE8D299CAE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39414" y="5356391"/>
              <a:ext cx="510972" cy="18875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E7C6B37-EC96-9500-35A5-0C315C0BFCA2}"/>
              </a:ext>
            </a:extLst>
          </p:cNvPr>
          <p:cNvGrpSpPr/>
          <p:nvPr/>
        </p:nvGrpSpPr>
        <p:grpSpPr>
          <a:xfrm>
            <a:off x="3061786" y="5186666"/>
            <a:ext cx="1076632" cy="369332"/>
            <a:chOff x="2157212" y="5356391"/>
            <a:chExt cx="1076632" cy="369332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360261F-B840-6404-1D71-9F409B868AFF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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3B73A51C-BC67-9E00-D10A-9E68B03545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8E0E22B-4195-F14E-1C04-584E52B705A9}"/>
                  </a:ext>
                </a:extLst>
              </p:cNvPr>
              <p:cNvSpPr txBox="1"/>
              <p:nvPr/>
            </p:nvSpPr>
            <p:spPr>
              <a:xfrm>
                <a:off x="7167572" y="2558141"/>
                <a:ext cx="10382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8E0E22B-4195-F14E-1C04-584E52B705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7572" y="2558141"/>
                <a:ext cx="1038298" cy="276999"/>
              </a:xfrm>
              <a:prstGeom prst="rect">
                <a:avLst/>
              </a:prstGeom>
              <a:blipFill>
                <a:blip r:embed="rId4"/>
                <a:stretch>
                  <a:fillRect l="-5294" r="-4706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6F59A5A-A076-2006-54F3-7CB9E782530B}"/>
                  </a:ext>
                </a:extLst>
              </p:cNvPr>
              <p:cNvSpPr txBox="1"/>
              <p:nvPr/>
            </p:nvSpPr>
            <p:spPr>
              <a:xfrm>
                <a:off x="6595204" y="3050033"/>
                <a:ext cx="2183034" cy="51674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𝑛𝑅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6F59A5A-A076-2006-54F3-7CB9E78253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5204" y="3050033"/>
                <a:ext cx="2183034" cy="5167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9D2A17F-2D31-A5AE-E14D-6811A558981A}"/>
                  </a:ext>
                </a:extLst>
              </p:cNvPr>
              <p:cNvSpPr txBox="1"/>
              <p:nvPr/>
            </p:nvSpPr>
            <p:spPr>
              <a:xfrm>
                <a:off x="6932165" y="1628564"/>
                <a:ext cx="1509113" cy="6167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𝑛𝑅</m:t>
                              </m:r>
                            </m:num>
                            <m:den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den>
                          </m:f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B9D2A17F-2D31-A5AE-E14D-6811A55898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2165" y="1628564"/>
                <a:ext cx="1509113" cy="6167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Rectangle 51">
            <a:extLst>
              <a:ext uri="{FF2B5EF4-FFF2-40B4-BE49-F238E27FC236}">
                <a16:creationId xmlns:a16="http://schemas.microsoft.com/office/drawing/2014/main" id="{D0B8C594-44BC-C308-4684-0FEADEFEF7D4}"/>
              </a:ext>
            </a:extLst>
          </p:cNvPr>
          <p:cNvSpPr/>
          <p:nvPr/>
        </p:nvSpPr>
        <p:spPr>
          <a:xfrm>
            <a:off x="558690" y="2463197"/>
            <a:ext cx="439400" cy="1982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E99DA56-D1E4-C316-1871-C9F11BF24980}"/>
              </a:ext>
            </a:extLst>
          </p:cNvPr>
          <p:cNvSpPr/>
          <p:nvPr/>
        </p:nvSpPr>
        <p:spPr>
          <a:xfrm>
            <a:off x="1445497" y="3132339"/>
            <a:ext cx="428898" cy="1887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949A83-B154-7D7F-BDD3-E9474E716F3E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38418" y="5208703"/>
            <a:ext cx="1077416" cy="4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238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648E3A5-17E8-A478-FFA9-4AF3BAC7A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4857" y="1419246"/>
            <a:ext cx="6114286" cy="52000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7</a:t>
            </a:fld>
            <a:endParaRPr lang="en-US" dirty="0"/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68ACE673-FBBE-F82C-05A8-83100693B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identify_element.py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73AF40-9323-5DF4-D661-263378294444}"/>
              </a:ext>
            </a:extLst>
          </p:cNvPr>
          <p:cNvSpPr txBox="1"/>
          <p:nvPr/>
        </p:nvSpPr>
        <p:spPr>
          <a:xfrm>
            <a:off x="5154758" y="4201010"/>
            <a:ext cx="3606993" cy="175432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Argon is the third-most abundant gas in Earth's atmosphere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 </a:t>
            </a:r>
            <a:r>
              <a:rPr lang="en-US" b="1" dirty="0"/>
              <a:t>2x</a:t>
            </a:r>
            <a:r>
              <a:rPr lang="en-US" dirty="0"/>
              <a:t> more abundant than </a:t>
            </a:r>
            <a:r>
              <a:rPr lang="en-US" b="1" dirty="0">
                <a:solidFill>
                  <a:srgbClr val="0070C0"/>
                </a:solidFill>
              </a:rPr>
              <a:t>water vapor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It is </a:t>
            </a:r>
            <a:r>
              <a:rPr lang="en-US" b="1" dirty="0"/>
              <a:t>23x</a:t>
            </a:r>
            <a:r>
              <a:rPr lang="en-US" dirty="0"/>
              <a:t> more abundant than </a:t>
            </a:r>
            <a:r>
              <a:rPr lang="en-US" b="1" dirty="0">
                <a:solidFill>
                  <a:srgbClr val="00B050"/>
                </a:solidFill>
              </a:rPr>
              <a:t>carbon dioxide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7D841D7-160A-4189-2CFE-A92C2703621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40725" y="3302256"/>
            <a:ext cx="1254753" cy="125475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58C9E1B-C429-C5EB-1386-2B0045B6E6C7}"/>
              </a:ext>
            </a:extLst>
          </p:cNvPr>
          <p:cNvSpPr/>
          <p:nvPr/>
        </p:nvSpPr>
        <p:spPr>
          <a:xfrm>
            <a:off x="3064348" y="3367068"/>
            <a:ext cx="377526" cy="1538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5DB3D64-6E0C-006C-1142-8782A67CD0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0599" y="2724999"/>
            <a:ext cx="3028571" cy="39047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42DA411-3B51-0030-7F81-04CF44363475}"/>
              </a:ext>
            </a:extLst>
          </p:cNvPr>
          <p:cNvSpPr/>
          <p:nvPr/>
        </p:nvSpPr>
        <p:spPr>
          <a:xfrm>
            <a:off x="4736623" y="2754444"/>
            <a:ext cx="635221" cy="1538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296A6824-A7CB-586A-CF0E-80B6BFDDD32E}"/>
              </a:ext>
            </a:extLst>
          </p:cNvPr>
          <p:cNvCxnSpPr>
            <a:cxnSpLocks/>
            <a:stCxn id="15" idx="2"/>
            <a:endCxn id="14" idx="3"/>
          </p:cNvCxnSpPr>
          <p:nvPr/>
        </p:nvCxnSpPr>
        <p:spPr>
          <a:xfrm rot="5400000">
            <a:off x="3980203" y="2369959"/>
            <a:ext cx="535702" cy="1612360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1227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500"/>
                            </p:stCondLst>
                            <p:childTnLst>
                              <p:par>
                                <p:cTn id="2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 animBg="1"/>
      <p:bldP spid="1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7825</TotalTime>
  <Words>292</Words>
  <Application>Microsoft Office PowerPoint</Application>
  <PresentationFormat>On-screen Show (4:3)</PresentationFormat>
  <Paragraphs>64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Linux Libertine</vt:lpstr>
      <vt:lpstr>Office Theme</vt:lpstr>
      <vt:lpstr>Ideal Gas Law</vt:lpstr>
      <vt:lpstr>Method of Least Squares</vt:lpstr>
      <vt:lpstr>Method of Least Squares</vt:lpstr>
      <vt:lpstr>Machine Learning in Python</vt:lpstr>
      <vt:lpstr>Open identify_element.py</vt:lpstr>
      <vt:lpstr>View identify_element.py</vt:lpstr>
      <vt:lpstr>Run identify_element.py</vt:lpstr>
    </vt:vector>
  </TitlesOfParts>
  <Company>Personal 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MSN Biersach</dc:creator>
  <cp:lastModifiedBy>David MSN Biersach</cp:lastModifiedBy>
  <cp:revision>953</cp:revision>
  <cp:lastPrinted>2015-06-01T00:45:11Z</cp:lastPrinted>
  <dcterms:created xsi:type="dcterms:W3CDTF">2014-09-21T17:58:26Z</dcterms:created>
  <dcterms:modified xsi:type="dcterms:W3CDTF">2023-01-08T07:40:16Z</dcterms:modified>
</cp:coreProperties>
</file>