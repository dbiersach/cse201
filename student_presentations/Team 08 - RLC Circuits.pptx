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1460" r:id="rId2"/>
    <p:sldId id="1351" r:id="rId3"/>
    <p:sldId id="1413" r:id="rId4"/>
    <p:sldId id="1182" r:id="rId5"/>
    <p:sldId id="1301" r:id="rId6"/>
    <p:sldId id="1447" r:id="rId7"/>
    <p:sldId id="1448" r:id="rId8"/>
    <p:sldId id="1403" r:id="rId9"/>
    <p:sldId id="1407" r:id="rId10"/>
    <p:sldId id="1411" r:id="rId11"/>
    <p:sldId id="1397" r:id="rId12"/>
    <p:sldId id="1401" r:id="rId13"/>
    <p:sldId id="1420" r:id="rId14"/>
    <p:sldId id="1409" r:id="rId15"/>
    <p:sldId id="1424" r:id="rId16"/>
    <p:sldId id="1461" r:id="rId17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23E"/>
    <a:srgbClr val="4993C7"/>
    <a:srgbClr val="3280A4"/>
    <a:srgbClr val="5D80B4"/>
    <a:srgbClr val="E6E6E6"/>
    <a:srgbClr val="8C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862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365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521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1.png"/><Relationship Id="rId4" Type="http://schemas.openxmlformats.org/officeDocument/2006/relationships/image" Target="../media/image2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0.png"/><Relationship Id="rId18" Type="http://schemas.openxmlformats.org/officeDocument/2006/relationships/image" Target="../media/image270.png"/><Relationship Id="rId3" Type="http://schemas.openxmlformats.org/officeDocument/2006/relationships/image" Target="../media/image62.png"/><Relationship Id="rId7" Type="http://schemas.openxmlformats.org/officeDocument/2006/relationships/image" Target="../media/image100.png"/><Relationship Id="rId12" Type="http://schemas.openxmlformats.org/officeDocument/2006/relationships/image" Target="../media/image150.png"/><Relationship Id="rId17" Type="http://schemas.openxmlformats.org/officeDocument/2006/relationships/image" Target="../media/image200.png"/><Relationship Id="rId2" Type="http://schemas.openxmlformats.org/officeDocument/2006/relationships/image" Target="../media/image250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40.png"/><Relationship Id="rId5" Type="http://schemas.openxmlformats.org/officeDocument/2006/relationships/image" Target="../media/image21.png"/><Relationship Id="rId15" Type="http://schemas.openxmlformats.org/officeDocument/2006/relationships/image" Target="../media/image180.png"/><Relationship Id="rId10" Type="http://schemas.openxmlformats.org/officeDocument/2006/relationships/image" Target="../media/image130.png"/><Relationship Id="rId19" Type="http://schemas.openxmlformats.org/officeDocument/2006/relationships/image" Target="../media/image2200.png"/><Relationship Id="rId4" Type="http://schemas.openxmlformats.org/officeDocument/2006/relationships/image" Target="../media/image71.png"/><Relationship Id="rId9" Type="http://schemas.openxmlformats.org/officeDocument/2006/relationships/image" Target="../media/image120.png"/><Relationship Id="rId14" Type="http://schemas.openxmlformats.org/officeDocument/2006/relationships/image" Target="../media/image1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 dirty="0"/>
                <a:t>Student #3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08</a:t>
              </a:r>
            </a:p>
            <a:p>
              <a:pPr algn="ctr"/>
              <a:r>
                <a:rPr lang="en-US" dirty="0"/>
                <a:t>RLC Resonance</a:t>
              </a:r>
            </a:p>
            <a:p>
              <a:pPr algn="ctr"/>
              <a:r>
                <a:rPr lang="en-US" dirty="0"/>
                <a:t>Inductors &amp; Impedance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488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Model an Inductor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AE2AF-C7C3-7A4E-B450-4A0CF0AC7CFE}"/>
              </a:ext>
            </a:extLst>
          </p:cNvPr>
          <p:cNvSpPr txBox="1"/>
          <p:nvPr/>
        </p:nvSpPr>
        <p:spPr>
          <a:xfrm>
            <a:off x="664123" y="1591991"/>
            <a:ext cx="781575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 inductor is a passive two-terminal electrical component that </a:t>
            </a:r>
            <a:r>
              <a:rPr lang="en-US" sz="2000" b="1" dirty="0">
                <a:solidFill>
                  <a:srgbClr val="FF0000"/>
                </a:solidFill>
              </a:rPr>
              <a:t>stores energy in a magnetic field</a:t>
            </a:r>
            <a:r>
              <a:rPr lang="en-US" sz="2000" dirty="0"/>
              <a:t> when electric current flows through it. An inductor typically consists of an insulated wire wound into a coil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the current flowing through the coil changes, the time-varying magnetic field induces a voltage which opposes the change in current that created it. As a result, </a:t>
            </a:r>
            <a:r>
              <a:rPr lang="en-US" sz="2000" b="1" dirty="0">
                <a:solidFill>
                  <a:srgbClr val="0070C0"/>
                </a:solidFill>
              </a:rPr>
              <a:t>inductors oppose any changes </a:t>
            </a:r>
            <a:r>
              <a:rPr lang="en-US" sz="2000" dirty="0"/>
              <a:t>in current passing through them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D432F4-E075-AC62-F540-9065587D81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4071" y="4549568"/>
            <a:ext cx="3436883" cy="1697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492C69-F9B4-3EBB-39F1-DF68563932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900000">
            <a:off x="5879213" y="4096477"/>
            <a:ext cx="1689294" cy="1689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2460B2-AA26-F575-498F-9C2DCBDDE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740445" y="5207242"/>
            <a:ext cx="672837" cy="140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6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An Analog to Simple Harmonic Motion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71298-D4DA-2115-A60A-F8E8445C8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28" y="1885007"/>
            <a:ext cx="4175084" cy="3241630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7C0D8D-A1E4-1787-398B-1419A68A1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010" y="1885007"/>
            <a:ext cx="4160562" cy="3241630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EA7074-EAB9-EE39-DD20-8990F1AF5438}"/>
              </a:ext>
            </a:extLst>
          </p:cNvPr>
          <p:cNvSpPr txBox="1"/>
          <p:nvPr/>
        </p:nvSpPr>
        <p:spPr>
          <a:xfrm>
            <a:off x="1099548" y="5471286"/>
            <a:ext cx="69449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An inductor can store electrical energy in its </a:t>
            </a:r>
            <a:r>
              <a:rPr lang="en-US" sz="2000" b="1" u="sng" dirty="0">
                <a:solidFill>
                  <a:srgbClr val="7030A0"/>
                </a:solidFill>
              </a:rPr>
              <a:t>magnetic</a:t>
            </a:r>
            <a:r>
              <a:rPr lang="en-US" sz="2000" b="1" dirty="0">
                <a:solidFill>
                  <a:srgbClr val="7030A0"/>
                </a:solidFill>
              </a:rPr>
              <a:t> field, so when the circuit needs power, an inductor can draw energy from its stored magnetic field to </a:t>
            </a:r>
            <a:r>
              <a:rPr lang="en-US" sz="2000" b="1" i="1" dirty="0">
                <a:solidFill>
                  <a:srgbClr val="7030A0"/>
                </a:solidFill>
              </a:rPr>
              <a:t>quickly</a:t>
            </a:r>
            <a:r>
              <a:rPr lang="en-US" sz="2000" b="1" dirty="0">
                <a:solidFill>
                  <a:srgbClr val="7030A0"/>
                </a:solidFill>
              </a:rPr>
              <a:t> resupply the circuit</a:t>
            </a:r>
          </a:p>
        </p:txBody>
      </p:sp>
    </p:spTree>
    <p:extLst>
      <p:ext uri="{BB962C8B-B14F-4D97-AF65-F5344CB8AC3E}">
        <p14:creationId xmlns:p14="http://schemas.microsoft.com/office/powerpoint/2010/main" val="302726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Modeling an </a:t>
            </a:r>
            <a:r>
              <a:rPr lang="en-US" sz="3200" b="1" dirty="0">
                <a:latin typeface="+mn-lt"/>
              </a:rPr>
              <a:t>RLC</a:t>
            </a:r>
            <a:r>
              <a:rPr lang="en-US" sz="3200" dirty="0">
                <a:latin typeface="+mn-lt"/>
              </a:rPr>
              <a:t>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5037632" cy="4667249"/>
          </a:xfrm>
        </p:spPr>
        <p:txBody>
          <a:bodyPr>
            <a:normAutofit/>
          </a:bodyPr>
          <a:lstStyle/>
          <a:p>
            <a:r>
              <a:rPr lang="en-US" sz="2400" dirty="0"/>
              <a:t>Our challenge was to plot the </a:t>
            </a:r>
            <a:r>
              <a:rPr lang="en-US" sz="2400" b="1" dirty="0"/>
              <a:t>current over time </a:t>
            </a:r>
            <a:r>
              <a:rPr lang="en-US" sz="2400" dirty="0"/>
              <a:t>flowing through an RLC circuit that maintains a </a:t>
            </a:r>
            <a:r>
              <a:rPr lang="en-US" sz="2400" i="1" dirty="0"/>
              <a:t>constant</a:t>
            </a:r>
            <a:r>
              <a:rPr lang="en-US" sz="2400" dirty="0"/>
              <a:t> DC voltage</a:t>
            </a:r>
          </a:p>
          <a:p>
            <a:r>
              <a:rPr lang="en-US" sz="2400" dirty="0"/>
              <a:t>We used the </a:t>
            </a:r>
            <a:r>
              <a:rPr lang="en-US" sz="2400" b="1" dirty="0">
                <a:solidFill>
                  <a:srgbClr val="00B050"/>
                </a:solidFill>
              </a:rPr>
              <a:t>Euler-Cromer</a:t>
            </a:r>
            <a:r>
              <a:rPr lang="en-US" sz="2400" dirty="0"/>
              <a:t> method to estimate this 2</a:t>
            </a:r>
            <a:r>
              <a:rPr lang="en-US" sz="2400" baseline="30000" dirty="0"/>
              <a:t>nd</a:t>
            </a:r>
            <a:r>
              <a:rPr lang="en-US" sz="2400" dirty="0"/>
              <a:t>-order homogenous ODE </a:t>
            </a:r>
            <a:r>
              <a:rPr lang="en-US" sz="2400" b="1" dirty="0">
                <a:solidFill>
                  <a:srgbClr val="4993C7"/>
                </a:solidFill>
              </a:rPr>
              <a:t>for one second</a:t>
            </a:r>
            <a:r>
              <a:rPr lang="en-US" sz="2400" dirty="0"/>
              <a:t> using the given component values</a:t>
            </a:r>
          </a:p>
          <a:p>
            <a:r>
              <a:rPr lang="en-US" sz="2400" dirty="0"/>
              <a:t>The circuit started with </a:t>
            </a:r>
            <a:r>
              <a:rPr lang="en-US" sz="2400" b="1" dirty="0"/>
              <a:t>one</a:t>
            </a:r>
            <a:r>
              <a:rPr lang="en-US" sz="2400" dirty="0"/>
              <a:t> </a:t>
            </a:r>
            <a:r>
              <a:rPr lang="en-US" sz="2400" b="1" dirty="0"/>
              <a:t>amp</a:t>
            </a:r>
            <a:r>
              <a:rPr lang="en-US" sz="2400" dirty="0"/>
              <a:t> of current, but </a:t>
            </a:r>
            <a:r>
              <a:rPr lang="en-US" sz="2400" b="1" dirty="0">
                <a:solidFill>
                  <a:srgbClr val="FF0000"/>
                </a:solidFill>
              </a:rPr>
              <a:t>due to heat loss </a:t>
            </a:r>
            <a:r>
              <a:rPr lang="en-US" sz="2400" dirty="0"/>
              <a:t>in the resistor, the energy in the circuit </a:t>
            </a:r>
            <a:r>
              <a:rPr lang="en-US" sz="2400" u="sng" dirty="0"/>
              <a:t>decayed</a:t>
            </a:r>
            <a:r>
              <a:rPr lang="en-US" sz="2400" dirty="0"/>
              <a:t> from its initial maximum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5635C-100D-8609-90C1-2BFAD82F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1690689"/>
            <a:ext cx="1185327" cy="16416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0362DD-6927-0FBF-1A06-DE7A60F433B1}"/>
                  </a:ext>
                </a:extLst>
              </p:cNvPr>
              <p:cNvSpPr txBox="1"/>
              <p:nvPr/>
            </p:nvSpPr>
            <p:spPr>
              <a:xfrm>
                <a:off x="6046272" y="3434965"/>
                <a:ext cx="2008682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0362DD-6927-0FBF-1A06-DE7A60F4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272" y="3434965"/>
                <a:ext cx="2008682" cy="586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AB117CF-7DA1-3DB8-1D81-7B8BB7D65B3D}"/>
              </a:ext>
            </a:extLst>
          </p:cNvPr>
          <p:cNvSpPr txBox="1"/>
          <p:nvPr/>
        </p:nvSpPr>
        <p:spPr>
          <a:xfrm>
            <a:off x="6346075" y="4294682"/>
            <a:ext cx="1708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0.1 Ohms</a:t>
            </a:r>
          </a:p>
          <a:p>
            <a:r>
              <a:rPr lang="en-US" dirty="0"/>
              <a:t>L = 0.01 Henries</a:t>
            </a:r>
          </a:p>
          <a:p>
            <a:r>
              <a:rPr lang="en-US" dirty="0"/>
              <a:t>C = 0.01 Farads</a:t>
            </a:r>
          </a:p>
          <a:p>
            <a:r>
              <a:rPr lang="en-US" dirty="0"/>
              <a:t>Initial I = 1 Amp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87806-DF49-A56E-D0FB-FB30AD079832}"/>
              </a:ext>
            </a:extLst>
          </p:cNvPr>
          <p:cNvSpPr/>
          <p:nvPr/>
        </p:nvSpPr>
        <p:spPr>
          <a:xfrm>
            <a:off x="5997555" y="3429000"/>
            <a:ext cx="2057400" cy="659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4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D7B5FB5-73D0-A2FC-ABCE-3D9AF07B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49" y="1775394"/>
            <a:ext cx="7349836" cy="48324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C9C372-0D5F-6B44-537E-937CF8A68286}"/>
              </a:ext>
            </a:extLst>
          </p:cNvPr>
          <p:cNvGrpSpPr/>
          <p:nvPr/>
        </p:nvGrpSpPr>
        <p:grpSpPr>
          <a:xfrm>
            <a:off x="3860247" y="2801052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9118DB-C0EB-D2D0-168C-761232D2A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32BD1D-5E4E-D4AF-4200-0A0616D28D8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FB0F31-217C-6B7F-382C-D0D50C8CFB4D}"/>
              </a:ext>
            </a:extLst>
          </p:cNvPr>
          <p:cNvGrpSpPr/>
          <p:nvPr/>
        </p:nvGrpSpPr>
        <p:grpSpPr>
          <a:xfrm>
            <a:off x="3318769" y="3671086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73162A-755A-3ADD-E911-04EA0EC8F0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A363B9-9646-8AC3-45DA-2C86BEBADBF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514BB8-62B7-963F-09C4-5C979E3C5DD6}"/>
              </a:ext>
            </a:extLst>
          </p:cNvPr>
          <p:cNvGrpSpPr/>
          <p:nvPr/>
        </p:nvGrpSpPr>
        <p:grpSpPr>
          <a:xfrm>
            <a:off x="4257207" y="3852347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F4FF04-35CB-7518-5EF8-3260354B418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F4D5399-6F71-7BDE-7D6B-2D851D556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87212-4A8F-C222-1536-72DA906A34DD}"/>
              </a:ext>
            </a:extLst>
          </p:cNvPr>
          <p:cNvGrpSpPr/>
          <p:nvPr/>
        </p:nvGrpSpPr>
        <p:grpSpPr>
          <a:xfrm>
            <a:off x="3314858" y="4390366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BFCAC3-0E9B-8C8C-B434-25B30FA260F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5DD98CB-5134-91A8-752C-FB5C3831A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CF036F-1172-7BA9-B87B-FFA9CCA377BC}"/>
              </a:ext>
            </a:extLst>
          </p:cNvPr>
          <p:cNvGrpSpPr/>
          <p:nvPr/>
        </p:nvGrpSpPr>
        <p:grpSpPr>
          <a:xfrm>
            <a:off x="2129119" y="4557894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1617A7-DF77-FECF-A2DF-5BD538D9A4C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8AD9D5C-49D1-21FC-7EC8-E347B5708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1B3782-6D9A-30B0-DED2-6323D7E366D3}"/>
              </a:ext>
            </a:extLst>
          </p:cNvPr>
          <p:cNvGrpSpPr/>
          <p:nvPr/>
        </p:nvGrpSpPr>
        <p:grpSpPr>
          <a:xfrm>
            <a:off x="3534911" y="5080071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815678-76FF-E5A1-E48D-8F5D2BA36BB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D3D16F0-5857-9148-09C0-87CE49AEA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F9B5E7-74DA-3EBD-B631-1180AD376FC4}"/>
              </a:ext>
            </a:extLst>
          </p:cNvPr>
          <p:cNvGrpSpPr/>
          <p:nvPr/>
        </p:nvGrpSpPr>
        <p:grpSpPr>
          <a:xfrm>
            <a:off x="3419949" y="6300883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F796D8-D9EE-70E1-E69A-832A1B2B36A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0F17B3B-918F-1E45-612E-718CE8B79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7F753A42-0269-73AC-E07A-8D37DAD44031}"/>
              </a:ext>
            </a:extLst>
          </p:cNvPr>
          <p:cNvSpPr/>
          <p:nvPr/>
        </p:nvSpPr>
        <p:spPr>
          <a:xfrm>
            <a:off x="4301534" y="6036470"/>
            <a:ext cx="1206297" cy="22316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603669A-6C88-9B4B-F184-920411130062}"/>
                  </a:ext>
                </a:extLst>
              </p:cNvPr>
              <p:cNvSpPr txBox="1"/>
              <p:nvPr/>
            </p:nvSpPr>
            <p:spPr>
              <a:xfrm>
                <a:off x="5544184" y="3725840"/>
                <a:ext cx="2230162" cy="5375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𝑑𝐼</m:t>
                              </m:r>
                            </m:e>
                          </m:d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603669A-6C88-9B4B-F184-920411130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184" y="3725840"/>
                <a:ext cx="2230162" cy="5375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C292B2-5ABD-F774-1342-5D388FAAB2A5}"/>
                  </a:ext>
                </a:extLst>
              </p:cNvPr>
              <p:cNvSpPr txBox="1"/>
              <p:nvPr/>
            </p:nvSpPr>
            <p:spPr>
              <a:xfrm>
                <a:off x="5877658" y="4447241"/>
                <a:ext cx="812851" cy="5259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C292B2-5ABD-F774-1342-5D388FAAB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658" y="4447241"/>
                <a:ext cx="812851" cy="525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CD4D63D-7C41-7025-98A1-E6D50823CB0F}"/>
              </a:ext>
            </a:extLst>
          </p:cNvPr>
          <p:cNvSpPr/>
          <p:nvPr/>
        </p:nvSpPr>
        <p:spPr>
          <a:xfrm>
            <a:off x="5395193" y="3640858"/>
            <a:ext cx="2559620" cy="140898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F230D1-8205-C1CD-5180-62DE5D61974A}"/>
              </a:ext>
            </a:extLst>
          </p:cNvPr>
          <p:cNvSpPr txBox="1"/>
          <p:nvPr/>
        </p:nvSpPr>
        <p:spPr>
          <a:xfrm>
            <a:off x="5395194" y="5049843"/>
            <a:ext cx="2559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Rewrite 2</a:t>
            </a:r>
            <a:r>
              <a:rPr lang="en-US" sz="1600" b="1" baseline="30000" dirty="0">
                <a:solidFill>
                  <a:srgbClr val="7030A0"/>
                </a:solidFill>
              </a:rPr>
              <a:t>nd</a:t>
            </a:r>
            <a:r>
              <a:rPr lang="en-US" sz="1600" b="1" dirty="0">
                <a:solidFill>
                  <a:srgbClr val="7030A0"/>
                </a:solidFill>
              </a:rPr>
              <a:t>-order ODE as two linked 1</a:t>
            </a:r>
            <a:r>
              <a:rPr lang="en-US" sz="1600" b="1" baseline="30000" dirty="0">
                <a:solidFill>
                  <a:srgbClr val="7030A0"/>
                </a:solidFill>
              </a:rPr>
              <a:t>st</a:t>
            </a:r>
            <a:r>
              <a:rPr lang="en-US" sz="1600" b="1" dirty="0">
                <a:solidFill>
                  <a:srgbClr val="7030A0"/>
                </a:solidFill>
              </a:rPr>
              <a:t>-order ODEs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0321EA-33DF-A0A8-4F86-6A7CE38116C0}"/>
              </a:ext>
            </a:extLst>
          </p:cNvPr>
          <p:cNvGrpSpPr/>
          <p:nvPr/>
        </p:nvGrpSpPr>
        <p:grpSpPr>
          <a:xfrm>
            <a:off x="5395193" y="2585614"/>
            <a:ext cx="2559620" cy="784819"/>
            <a:chOff x="5615063" y="2585614"/>
            <a:chExt cx="2559620" cy="7848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4781A15-0B8B-6357-12DC-D4C27B25FEB8}"/>
                    </a:ext>
                  </a:extLst>
                </p:cNvPr>
                <p:cNvSpPr txBox="1"/>
                <p:nvPr/>
              </p:nvSpPr>
              <p:spPr>
                <a:xfrm>
                  <a:off x="5615063" y="2653960"/>
                  <a:ext cx="2559620" cy="6481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𝑑𝐼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4781A15-0B8B-6357-12DC-D4C27B25F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5063" y="2653960"/>
                  <a:ext cx="2559620" cy="6481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426CCF9-9218-8A21-0BAA-3960D8D7179B}"/>
                </a:ext>
              </a:extLst>
            </p:cNvPr>
            <p:cNvSpPr/>
            <p:nvPr/>
          </p:nvSpPr>
          <p:spPr>
            <a:xfrm>
              <a:off x="5808735" y="2585614"/>
              <a:ext cx="2172276" cy="784819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791413D-1478-92D4-94B5-7BBA8D047511}"/>
              </a:ext>
            </a:extLst>
          </p:cNvPr>
          <p:cNvCxnSpPr>
            <a:stCxn id="23" idx="3"/>
            <a:endCxn id="6" idx="3"/>
          </p:cNvCxnSpPr>
          <p:nvPr/>
        </p:nvCxnSpPr>
        <p:spPr>
          <a:xfrm>
            <a:off x="7761141" y="2978024"/>
            <a:ext cx="193672" cy="1367327"/>
          </a:xfrm>
          <a:prstGeom prst="bentConnector3">
            <a:avLst>
              <a:gd name="adj1" fmla="val 401428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548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3BD9D0-6E93-D365-DE61-B7D75D987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16" y="1535554"/>
            <a:ext cx="7349836" cy="48324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C9C372-0D5F-6B44-537E-937CF8A68286}"/>
              </a:ext>
            </a:extLst>
          </p:cNvPr>
          <p:cNvGrpSpPr/>
          <p:nvPr/>
        </p:nvGrpSpPr>
        <p:grpSpPr>
          <a:xfrm>
            <a:off x="4197527" y="2021959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19118DB-C0EB-D2D0-168C-761232D2A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32BD1D-5E4E-D4AF-4200-0A0616D28D8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FB0F31-217C-6B7F-382C-D0D50C8CFB4D}"/>
              </a:ext>
            </a:extLst>
          </p:cNvPr>
          <p:cNvGrpSpPr/>
          <p:nvPr/>
        </p:nvGrpSpPr>
        <p:grpSpPr>
          <a:xfrm>
            <a:off x="2250366" y="2189651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73162A-755A-3ADD-E911-04EA0EC8F0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A363B9-9646-8AC3-45DA-2C86BEBADBF3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514BB8-62B7-963F-09C4-5C979E3C5DD6}"/>
              </a:ext>
            </a:extLst>
          </p:cNvPr>
          <p:cNvGrpSpPr/>
          <p:nvPr/>
        </p:nvGrpSpPr>
        <p:grpSpPr>
          <a:xfrm>
            <a:off x="3286517" y="2541159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F4FF04-35CB-7518-5EF8-3260354B418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F4D5399-6F71-7BDE-7D6B-2D851D556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87212-4A8F-C222-1536-72DA906A34DD}"/>
              </a:ext>
            </a:extLst>
          </p:cNvPr>
          <p:cNvGrpSpPr/>
          <p:nvPr/>
        </p:nvGrpSpPr>
        <p:grpSpPr>
          <a:xfrm>
            <a:off x="3419949" y="3019358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BFCAC3-0E9B-8C8C-B434-25B30FA260F6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5DD98CB-5134-91A8-752C-FB5C3831A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CF036F-1172-7BA9-B87B-FFA9CCA377BC}"/>
              </a:ext>
            </a:extLst>
          </p:cNvPr>
          <p:cNvGrpSpPr/>
          <p:nvPr/>
        </p:nvGrpSpPr>
        <p:grpSpPr>
          <a:xfrm>
            <a:off x="1836811" y="3609218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1617A7-DF77-FECF-A2DF-5BD538D9A4C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8AD9D5C-49D1-21FC-7EC8-E347B5708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1B3782-6D9A-30B0-DED2-6323D7E366D3}"/>
              </a:ext>
            </a:extLst>
          </p:cNvPr>
          <p:cNvGrpSpPr/>
          <p:nvPr/>
        </p:nvGrpSpPr>
        <p:grpSpPr>
          <a:xfrm>
            <a:off x="6615390" y="4203149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815678-76FF-E5A1-E48D-8F5D2BA36BB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D3D16F0-5857-9148-09C0-87CE49AEA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F9B5E7-74DA-3EBD-B631-1180AD376FC4}"/>
              </a:ext>
            </a:extLst>
          </p:cNvPr>
          <p:cNvGrpSpPr/>
          <p:nvPr/>
        </p:nvGrpSpPr>
        <p:grpSpPr>
          <a:xfrm>
            <a:off x="4722178" y="5701494"/>
            <a:ext cx="1076632" cy="369332"/>
            <a:chOff x="2157212" y="5356391"/>
            <a:chExt cx="1076632" cy="36933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F796D8-D9EE-70E1-E69A-832A1B2B36A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0F17B3B-918F-1E45-612E-718CE8B79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7F753A42-0269-73AC-E07A-8D37DAD44031}"/>
              </a:ext>
            </a:extLst>
          </p:cNvPr>
          <p:cNvSpPr/>
          <p:nvPr/>
        </p:nvSpPr>
        <p:spPr>
          <a:xfrm>
            <a:off x="4791076" y="4203149"/>
            <a:ext cx="566738" cy="19572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67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B5E0579-FA27-9A02-B0C4-3E3307E37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57" y="1447330"/>
            <a:ext cx="6114286" cy="51523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635B62-48D6-0D54-F37A-55CEA2AE96DB}"/>
              </a:ext>
            </a:extLst>
          </p:cNvPr>
          <p:cNvSpPr txBox="1"/>
          <p:nvPr/>
        </p:nvSpPr>
        <p:spPr>
          <a:xfrm>
            <a:off x="4879298" y="4777558"/>
            <a:ext cx="3904255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Lacking additional energy, the circuit's power </a:t>
            </a:r>
            <a:r>
              <a:rPr lang="en-US" i="1" dirty="0">
                <a:solidFill>
                  <a:srgbClr val="7030A0"/>
                </a:solidFill>
              </a:rPr>
              <a:t>drains</a:t>
            </a:r>
            <a:r>
              <a:rPr lang="en-US" dirty="0">
                <a:solidFill>
                  <a:srgbClr val="7030A0"/>
                </a:solidFill>
              </a:rPr>
              <a:t> away as it transforms into </a:t>
            </a:r>
            <a:r>
              <a:rPr lang="en-US" b="1" dirty="0">
                <a:solidFill>
                  <a:srgbClr val="FF0000"/>
                </a:solidFill>
              </a:rPr>
              <a:t>heat</a:t>
            </a:r>
            <a:r>
              <a:rPr lang="en-US" dirty="0">
                <a:solidFill>
                  <a:srgbClr val="7030A0"/>
                </a:solidFill>
              </a:rPr>
              <a:t> within the resistor.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6633294-E1F4-8E27-4EA9-5C42DF7A8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261" y="2049291"/>
            <a:ext cx="1188823" cy="164606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5D7B037-19B7-C0DD-0200-420EF4415DF7}"/>
              </a:ext>
            </a:extLst>
          </p:cNvPr>
          <p:cNvSpPr/>
          <p:nvPr/>
        </p:nvSpPr>
        <p:spPr>
          <a:xfrm>
            <a:off x="1560101" y="3773851"/>
            <a:ext cx="199643" cy="10914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81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4E2372-ED00-ACFF-1450-5C6169888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7" y="1447330"/>
            <a:ext cx="6114286" cy="51523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Results</a:t>
            </a:r>
            <a:endParaRPr lang="en-US" sz="3200" b="1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E06C9-8C6A-7996-0BFD-374CE0B0652B}"/>
              </a:ext>
            </a:extLst>
          </p:cNvPr>
          <p:cNvSpPr txBox="1"/>
          <p:nvPr/>
        </p:nvSpPr>
        <p:spPr>
          <a:xfrm>
            <a:off x="6064458" y="2459273"/>
            <a:ext cx="2450892" cy="1754326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Every RLC circuit has a specific fixed </a:t>
            </a:r>
            <a:r>
              <a:rPr lang="en-US" u="sng" dirty="0">
                <a:solidFill>
                  <a:srgbClr val="7030A0"/>
                </a:solidFill>
              </a:rPr>
              <a:t>fundamental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frequency</a:t>
            </a:r>
            <a:r>
              <a:rPr lang="en-US" dirty="0">
                <a:solidFill>
                  <a:srgbClr val="7030A0"/>
                </a:solidFill>
              </a:rPr>
              <a:t> in which it </a:t>
            </a:r>
            <a:r>
              <a:rPr lang="en-US" i="1" dirty="0">
                <a:solidFill>
                  <a:srgbClr val="7030A0"/>
                </a:solidFill>
              </a:rPr>
              <a:t>oscillates</a:t>
            </a:r>
            <a:r>
              <a:rPr lang="en-US" dirty="0">
                <a:solidFill>
                  <a:srgbClr val="7030A0"/>
                </a:solidFill>
              </a:rPr>
              <a:t> based on its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L</a:t>
            </a:r>
            <a:r>
              <a:rPr lang="en-US" dirty="0">
                <a:solidFill>
                  <a:srgbClr val="7030A0"/>
                </a:solidFill>
              </a:rPr>
              <a:t> and </a:t>
            </a:r>
            <a:r>
              <a:rPr lang="en-US" b="1" dirty="0">
                <a:solidFill>
                  <a:srgbClr val="7030A0"/>
                </a:solidFill>
              </a:rPr>
              <a:t>C</a:t>
            </a:r>
            <a:r>
              <a:rPr lang="en-US" dirty="0">
                <a:solidFill>
                  <a:srgbClr val="7030A0"/>
                </a:solidFill>
              </a:rPr>
              <a:t> values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92575A-5250-A523-1C9B-3C858DB507FA}"/>
              </a:ext>
            </a:extLst>
          </p:cNvPr>
          <p:cNvGrpSpPr/>
          <p:nvPr/>
        </p:nvGrpSpPr>
        <p:grpSpPr>
          <a:xfrm>
            <a:off x="2623634" y="2690734"/>
            <a:ext cx="2928076" cy="3234548"/>
            <a:chOff x="2623634" y="2690734"/>
            <a:chExt cx="2928076" cy="323454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AAB377-B512-9E34-A107-AB0C86DE9295}"/>
                </a:ext>
              </a:extLst>
            </p:cNvPr>
            <p:cNvCxnSpPr>
              <a:cxnSpLocks/>
            </p:cNvCxnSpPr>
            <p:nvPr/>
          </p:nvCxnSpPr>
          <p:spPr>
            <a:xfrm>
              <a:off x="2623634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6B39F99-905A-288A-DD50-C7251AED2079}"/>
                </a:ext>
              </a:extLst>
            </p:cNvPr>
            <p:cNvCxnSpPr>
              <a:cxnSpLocks/>
            </p:cNvCxnSpPr>
            <p:nvPr/>
          </p:nvCxnSpPr>
          <p:spPr>
            <a:xfrm>
              <a:off x="2895955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3C51B6B-42AD-8B57-EC00-40B6F32E34A0}"/>
                </a:ext>
              </a:extLst>
            </p:cNvPr>
            <p:cNvCxnSpPr>
              <a:cxnSpLocks/>
            </p:cNvCxnSpPr>
            <p:nvPr/>
          </p:nvCxnSpPr>
          <p:spPr>
            <a:xfrm>
              <a:off x="3160781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52E3FC2-E079-0212-1369-0653964D1B61}"/>
                </a:ext>
              </a:extLst>
            </p:cNvPr>
            <p:cNvCxnSpPr>
              <a:cxnSpLocks/>
            </p:cNvCxnSpPr>
            <p:nvPr/>
          </p:nvCxnSpPr>
          <p:spPr>
            <a:xfrm>
              <a:off x="3425607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F74923-F2EA-631E-C3E3-5B7E921A6D17}"/>
                </a:ext>
              </a:extLst>
            </p:cNvPr>
            <p:cNvCxnSpPr>
              <a:cxnSpLocks/>
            </p:cNvCxnSpPr>
            <p:nvPr/>
          </p:nvCxnSpPr>
          <p:spPr>
            <a:xfrm>
              <a:off x="3690433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E675162-2CCF-824C-EEB3-DB71D3D1257B}"/>
                </a:ext>
              </a:extLst>
            </p:cNvPr>
            <p:cNvCxnSpPr>
              <a:cxnSpLocks/>
            </p:cNvCxnSpPr>
            <p:nvPr/>
          </p:nvCxnSpPr>
          <p:spPr>
            <a:xfrm>
              <a:off x="3955259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DA8679B-52FF-6AA1-61A4-A709E22BE6CC}"/>
                </a:ext>
              </a:extLst>
            </p:cNvPr>
            <p:cNvCxnSpPr>
              <a:cxnSpLocks/>
            </p:cNvCxnSpPr>
            <p:nvPr/>
          </p:nvCxnSpPr>
          <p:spPr>
            <a:xfrm>
              <a:off x="4220085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613571-7139-0390-9B95-B94CA568A6C8}"/>
                </a:ext>
              </a:extLst>
            </p:cNvPr>
            <p:cNvCxnSpPr>
              <a:cxnSpLocks/>
            </p:cNvCxnSpPr>
            <p:nvPr/>
          </p:nvCxnSpPr>
          <p:spPr>
            <a:xfrm>
              <a:off x="4492406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4633A9-4073-C3F5-1A39-22CCF7D988F0}"/>
                </a:ext>
              </a:extLst>
            </p:cNvPr>
            <p:cNvCxnSpPr>
              <a:cxnSpLocks/>
            </p:cNvCxnSpPr>
            <p:nvPr/>
          </p:nvCxnSpPr>
          <p:spPr>
            <a:xfrm>
              <a:off x="4757232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4B2424-D613-CA5A-99BD-FFEF5D5635B7}"/>
                </a:ext>
              </a:extLst>
            </p:cNvPr>
            <p:cNvCxnSpPr>
              <a:cxnSpLocks/>
            </p:cNvCxnSpPr>
            <p:nvPr/>
          </p:nvCxnSpPr>
          <p:spPr>
            <a:xfrm>
              <a:off x="5022058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7A48B66-7D90-253E-4E46-1481EB5A734C}"/>
                </a:ext>
              </a:extLst>
            </p:cNvPr>
            <p:cNvCxnSpPr>
              <a:cxnSpLocks/>
            </p:cNvCxnSpPr>
            <p:nvPr/>
          </p:nvCxnSpPr>
          <p:spPr>
            <a:xfrm>
              <a:off x="5286884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5BEEB3-A8B5-33B4-7E51-0171EAC8CBBF}"/>
                </a:ext>
              </a:extLst>
            </p:cNvPr>
            <p:cNvCxnSpPr>
              <a:cxnSpLocks/>
            </p:cNvCxnSpPr>
            <p:nvPr/>
          </p:nvCxnSpPr>
          <p:spPr>
            <a:xfrm>
              <a:off x="5551710" y="2690734"/>
              <a:ext cx="0" cy="323454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766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Driven</a:t>
            </a:r>
            <a:r>
              <a:rPr lang="en-US" sz="3200" dirty="0">
                <a:latin typeface="+mn-lt"/>
              </a:rPr>
              <a:t> </a:t>
            </a:r>
            <a:r>
              <a:rPr lang="en-US" sz="3200" u="sng" dirty="0">
                <a:latin typeface="+mn-lt"/>
              </a:rPr>
              <a:t>Physical</a:t>
            </a:r>
            <a:r>
              <a:rPr lang="en-US" sz="3200" dirty="0">
                <a:latin typeface="+mn-lt"/>
              </a:rPr>
              <a:t> Oscillators - </a:t>
            </a:r>
            <a:r>
              <a:rPr lang="en-US" sz="3200" b="1" dirty="0">
                <a:latin typeface="+mn-lt"/>
              </a:rPr>
              <a:t>Resonance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8F97C-905D-0C51-6CC4-B2D125D6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98" y="1616054"/>
            <a:ext cx="5843603" cy="506303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74E219-A47B-5382-7ED4-172FAF9E845E}"/>
              </a:ext>
            </a:extLst>
          </p:cNvPr>
          <p:cNvCxnSpPr/>
          <p:nvPr/>
        </p:nvCxnSpPr>
        <p:spPr>
          <a:xfrm>
            <a:off x="2698230" y="4294682"/>
            <a:ext cx="584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054522B-5578-AAC5-5FD9-9CB5D02DA146}"/>
              </a:ext>
            </a:extLst>
          </p:cNvPr>
          <p:cNvSpPr/>
          <p:nvPr/>
        </p:nvSpPr>
        <p:spPr>
          <a:xfrm>
            <a:off x="3282847" y="4182254"/>
            <a:ext cx="801974" cy="2023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C49163-AB24-16F8-B7C2-0E6A7556C4AD}"/>
              </a:ext>
            </a:extLst>
          </p:cNvPr>
          <p:cNvCxnSpPr>
            <a:cxnSpLocks/>
          </p:cNvCxnSpPr>
          <p:nvPr/>
        </p:nvCxnSpPr>
        <p:spPr>
          <a:xfrm>
            <a:off x="1269168" y="1883764"/>
            <a:ext cx="584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1AADBF-FFB7-5029-824C-62312B880725}"/>
              </a:ext>
            </a:extLst>
          </p:cNvPr>
          <p:cNvCxnSpPr>
            <a:cxnSpLocks/>
          </p:cNvCxnSpPr>
          <p:nvPr/>
        </p:nvCxnSpPr>
        <p:spPr>
          <a:xfrm>
            <a:off x="3987384" y="1861279"/>
            <a:ext cx="5846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98F2B7-CEA0-B5BC-1EB6-37C3FF4EF1D9}"/>
              </a:ext>
            </a:extLst>
          </p:cNvPr>
          <p:cNvCxnSpPr>
            <a:cxnSpLocks/>
          </p:cNvCxnSpPr>
          <p:nvPr/>
        </p:nvCxnSpPr>
        <p:spPr>
          <a:xfrm>
            <a:off x="5876145" y="3597640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8203C6-155B-2768-6F0E-4C78621A6F85}"/>
              </a:ext>
            </a:extLst>
          </p:cNvPr>
          <p:cNvCxnSpPr>
            <a:cxnSpLocks/>
          </p:cNvCxnSpPr>
          <p:nvPr/>
        </p:nvCxnSpPr>
        <p:spPr>
          <a:xfrm>
            <a:off x="5876145" y="3854971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E750FD-ED08-AF13-B840-6103F7DE6768}"/>
              </a:ext>
            </a:extLst>
          </p:cNvPr>
          <p:cNvCxnSpPr/>
          <p:nvPr/>
        </p:nvCxnSpPr>
        <p:spPr>
          <a:xfrm flipV="1">
            <a:off x="7329488" y="3605135"/>
            <a:ext cx="0" cy="242341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7B340A-119E-8DA1-45FD-ABECCFB6E106}"/>
              </a:ext>
            </a:extLst>
          </p:cNvPr>
          <p:cNvCxnSpPr>
            <a:cxnSpLocks/>
          </p:cNvCxnSpPr>
          <p:nvPr/>
        </p:nvCxnSpPr>
        <p:spPr>
          <a:xfrm>
            <a:off x="4304677" y="5698764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C5BA89-DCBE-6101-DEC7-B2AC4D48BED1}"/>
              </a:ext>
            </a:extLst>
          </p:cNvPr>
          <p:cNvCxnSpPr>
            <a:cxnSpLocks/>
          </p:cNvCxnSpPr>
          <p:nvPr/>
        </p:nvCxnSpPr>
        <p:spPr>
          <a:xfrm>
            <a:off x="4304677" y="6570685"/>
            <a:ext cx="1506511" cy="0"/>
          </a:xfrm>
          <a:prstGeom prst="straightConnector1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FB5071-1F6E-A348-A74A-95A5993370A3}"/>
              </a:ext>
            </a:extLst>
          </p:cNvPr>
          <p:cNvCxnSpPr>
            <a:cxnSpLocks/>
          </p:cNvCxnSpPr>
          <p:nvPr/>
        </p:nvCxnSpPr>
        <p:spPr>
          <a:xfrm flipV="1">
            <a:off x="5758020" y="5706259"/>
            <a:ext cx="0" cy="856931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829834B-2FE5-365B-7FF7-7E6089C33233}"/>
              </a:ext>
            </a:extLst>
          </p:cNvPr>
          <p:cNvSpPr/>
          <p:nvPr/>
        </p:nvSpPr>
        <p:spPr>
          <a:xfrm>
            <a:off x="7265194" y="3605135"/>
            <a:ext cx="117462" cy="24234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3958EC-16DF-65AE-81AE-F183E89483F3}"/>
              </a:ext>
            </a:extLst>
          </p:cNvPr>
          <p:cNvSpPr/>
          <p:nvPr/>
        </p:nvSpPr>
        <p:spPr>
          <a:xfrm>
            <a:off x="5700793" y="5695386"/>
            <a:ext cx="117462" cy="86780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AF5C39A-E3B0-9DA1-9FEF-AAB2C8E5FC0B}"/>
              </a:ext>
            </a:extLst>
          </p:cNvPr>
          <p:cNvCxnSpPr>
            <a:stCxn id="27" idx="3"/>
            <a:endCxn id="28" idx="3"/>
          </p:cNvCxnSpPr>
          <p:nvPr/>
        </p:nvCxnSpPr>
        <p:spPr>
          <a:xfrm flipH="1">
            <a:off x="5818255" y="3726305"/>
            <a:ext cx="1564401" cy="2402983"/>
          </a:xfrm>
          <a:prstGeom prst="bentConnector3">
            <a:avLst>
              <a:gd name="adj1" fmla="val -1461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698E84-7308-D9F8-1AF9-71CCCBBAF8F2}"/>
              </a:ext>
            </a:extLst>
          </p:cNvPr>
          <p:cNvSpPr txBox="1"/>
          <p:nvPr/>
        </p:nvSpPr>
        <p:spPr>
          <a:xfrm>
            <a:off x="6738712" y="4499943"/>
            <a:ext cx="1745102" cy="95410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system driven at its resonant frequency will experience </a:t>
            </a:r>
            <a:r>
              <a:rPr lang="en-US" sz="1400" b="1" dirty="0"/>
              <a:t>maximum</a:t>
            </a:r>
            <a:r>
              <a:rPr lang="en-US" sz="1400" dirty="0"/>
              <a:t> </a:t>
            </a:r>
            <a:r>
              <a:rPr lang="en-US" sz="1400" i="1" dirty="0"/>
              <a:t>amplitude</a:t>
            </a:r>
          </a:p>
        </p:txBody>
      </p:sp>
    </p:spTree>
    <p:extLst>
      <p:ext uri="{BB962C8B-B14F-4D97-AF65-F5344CB8AC3E}">
        <p14:creationId xmlns:p14="http://schemas.microsoft.com/office/powerpoint/2010/main" val="842268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Driven</a:t>
            </a:r>
            <a:r>
              <a:rPr lang="en-US" sz="3200" dirty="0">
                <a:latin typeface="+mn-lt"/>
              </a:rPr>
              <a:t> </a:t>
            </a:r>
            <a:r>
              <a:rPr lang="en-US" sz="3200" u="sng" dirty="0">
                <a:latin typeface="+mn-lt"/>
              </a:rPr>
              <a:t>Electrical</a:t>
            </a:r>
            <a:r>
              <a:rPr lang="en-US" sz="3200" dirty="0">
                <a:latin typeface="+mn-lt"/>
              </a:rPr>
              <a:t> Oscillators - </a:t>
            </a:r>
            <a:r>
              <a:rPr lang="en-US" sz="3200" b="1" dirty="0">
                <a:latin typeface="+mn-lt"/>
              </a:rPr>
              <a:t>Resonance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2FAB57-7D1E-52DC-3EE6-1C8568332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6" y="2922777"/>
            <a:ext cx="5830811" cy="3433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C7D14D-B8F0-6BA9-DA53-D5229C123716}"/>
              </a:ext>
            </a:extLst>
          </p:cNvPr>
          <p:cNvSpPr txBox="1"/>
          <p:nvPr/>
        </p:nvSpPr>
        <p:spPr>
          <a:xfrm>
            <a:off x="1978700" y="1490419"/>
            <a:ext cx="51865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 the </a:t>
            </a:r>
            <a:r>
              <a:rPr lang="en-US" b="1" i="1" dirty="0">
                <a:solidFill>
                  <a:srgbClr val="7030A0"/>
                </a:solidFill>
              </a:rPr>
              <a:t>resonant</a:t>
            </a:r>
            <a:r>
              <a:rPr lang="en-US" dirty="0"/>
              <a:t> frequency, the </a:t>
            </a:r>
            <a:r>
              <a:rPr lang="en-US" b="1" dirty="0">
                <a:solidFill>
                  <a:srgbClr val="00B050"/>
                </a:solidFill>
              </a:rPr>
              <a:t>capacitive</a:t>
            </a:r>
            <a:r>
              <a:rPr lang="en-US" dirty="0"/>
              <a:t> </a:t>
            </a:r>
            <a:r>
              <a:rPr lang="en-US" b="1" dirty="0"/>
              <a:t>reactance</a:t>
            </a:r>
            <a:r>
              <a:rPr lang="en-US" dirty="0"/>
              <a:t> in the LC components equals the </a:t>
            </a:r>
            <a:r>
              <a:rPr lang="en-US" dirty="0">
                <a:solidFill>
                  <a:srgbClr val="0070C0"/>
                </a:solidFill>
              </a:rPr>
              <a:t>inductive</a:t>
            </a:r>
            <a:r>
              <a:rPr lang="en-US" dirty="0"/>
              <a:t> </a:t>
            </a:r>
            <a:r>
              <a:rPr lang="en-US" b="1" dirty="0"/>
              <a:t>reactance</a:t>
            </a:r>
            <a:r>
              <a:rPr lang="en-US" dirty="0"/>
              <a:t>, and therefore their impedance drops to zero – all that remains is the </a:t>
            </a:r>
            <a:r>
              <a:rPr lang="en-US" b="1" dirty="0">
                <a:solidFill>
                  <a:srgbClr val="FF0000"/>
                </a:solidFill>
              </a:rPr>
              <a:t>resistance</a:t>
            </a:r>
            <a:r>
              <a:rPr lang="en-US" dirty="0"/>
              <a:t> of the R, L, C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DCD445-DFEB-88DF-A6BD-DBCB789741E7}"/>
                  </a:ext>
                </a:extLst>
              </p:cNvPr>
              <p:cNvSpPr txBox="1"/>
              <p:nvPr/>
            </p:nvSpPr>
            <p:spPr>
              <a:xfrm>
                <a:off x="4021744" y="6123542"/>
                <a:ext cx="11154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DCD445-DFEB-88DF-A6BD-DBCB7897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744" y="6123542"/>
                <a:ext cx="1115498" cy="369332"/>
              </a:xfrm>
              <a:prstGeom prst="rect">
                <a:avLst/>
              </a:prstGeom>
              <a:blipFill>
                <a:blip r:embed="rId3"/>
                <a:stretch>
                  <a:fillRect l="-6557" r="-1093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63F9D6-F8F5-C882-1D40-E95C62C94DEE}"/>
                  </a:ext>
                </a:extLst>
              </p:cNvPr>
              <p:cNvSpPr txBox="1"/>
              <p:nvPr/>
            </p:nvSpPr>
            <p:spPr>
              <a:xfrm>
                <a:off x="6232994" y="4788850"/>
                <a:ext cx="2282356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63F9D6-F8F5-C882-1D40-E95C62C94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994" y="4788850"/>
                <a:ext cx="2282356" cy="335413"/>
              </a:xfrm>
              <a:prstGeom prst="rect">
                <a:avLst/>
              </a:prstGeom>
              <a:blipFill>
                <a:blip r:embed="rId4"/>
                <a:stretch>
                  <a:fillRect l="-1867" r="-800"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508C3A-ADBC-E574-8B87-7BEC38A41457}"/>
                  </a:ext>
                </a:extLst>
              </p:cNvPr>
              <p:cNvSpPr txBox="1"/>
              <p:nvPr/>
            </p:nvSpPr>
            <p:spPr>
              <a:xfrm>
                <a:off x="6232994" y="5237187"/>
                <a:ext cx="6503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508C3A-ADBC-E574-8B87-7BEC38A41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994" y="5237187"/>
                <a:ext cx="650370" cy="276999"/>
              </a:xfrm>
              <a:prstGeom prst="rect">
                <a:avLst/>
              </a:prstGeom>
              <a:blipFill>
                <a:blip r:embed="rId5"/>
                <a:stretch>
                  <a:fillRect l="-7477" r="-747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DDC3A3-2CBC-FBE7-E524-1B4BAB82EF66}"/>
              </a:ext>
            </a:extLst>
          </p:cNvPr>
          <p:cNvSpPr/>
          <p:nvPr/>
        </p:nvSpPr>
        <p:spPr>
          <a:xfrm>
            <a:off x="2510852" y="3357797"/>
            <a:ext cx="2068643" cy="2219638"/>
          </a:xfrm>
          <a:custGeom>
            <a:avLst/>
            <a:gdLst>
              <a:gd name="connsiteX0" fmla="*/ 0 w 2068643"/>
              <a:gd name="connsiteY0" fmla="*/ 0 h 2219638"/>
              <a:gd name="connsiteX1" fmla="*/ 74951 w 2068643"/>
              <a:gd name="connsiteY1" fmla="*/ 247337 h 2219638"/>
              <a:gd name="connsiteX2" fmla="*/ 194873 w 2068643"/>
              <a:gd name="connsiteY2" fmla="*/ 569626 h 2219638"/>
              <a:gd name="connsiteX3" fmla="*/ 329784 w 2068643"/>
              <a:gd name="connsiteY3" fmla="*/ 936885 h 2219638"/>
              <a:gd name="connsiteX4" fmla="*/ 487181 w 2068643"/>
              <a:gd name="connsiteY4" fmla="*/ 1191718 h 2219638"/>
              <a:gd name="connsiteX5" fmla="*/ 607102 w 2068643"/>
              <a:gd name="connsiteY5" fmla="*/ 1364105 h 2219638"/>
              <a:gd name="connsiteX6" fmla="*/ 794479 w 2068643"/>
              <a:gd name="connsiteY6" fmla="*/ 1611442 h 2219638"/>
              <a:gd name="connsiteX7" fmla="*/ 1049312 w 2068643"/>
              <a:gd name="connsiteY7" fmla="*/ 1843790 h 2219638"/>
              <a:gd name="connsiteX8" fmla="*/ 1356610 w 2068643"/>
              <a:gd name="connsiteY8" fmla="*/ 2053652 h 2219638"/>
              <a:gd name="connsiteX9" fmla="*/ 1686394 w 2068643"/>
              <a:gd name="connsiteY9" fmla="*/ 2166078 h 2219638"/>
              <a:gd name="connsiteX10" fmla="*/ 2068643 w 2068643"/>
              <a:gd name="connsiteY10" fmla="*/ 2218544 h 221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68643" h="2219638">
                <a:moveTo>
                  <a:pt x="0" y="0"/>
                </a:moveTo>
                <a:cubicBezTo>
                  <a:pt x="21236" y="76199"/>
                  <a:pt x="42472" y="152399"/>
                  <a:pt x="74951" y="247337"/>
                </a:cubicBezTo>
                <a:cubicBezTo>
                  <a:pt x="107430" y="342275"/>
                  <a:pt x="152401" y="454701"/>
                  <a:pt x="194873" y="569626"/>
                </a:cubicBezTo>
                <a:cubicBezTo>
                  <a:pt x="237345" y="684551"/>
                  <a:pt x="281066" y="833203"/>
                  <a:pt x="329784" y="936885"/>
                </a:cubicBezTo>
                <a:cubicBezTo>
                  <a:pt x="378502" y="1040567"/>
                  <a:pt x="440961" y="1120515"/>
                  <a:pt x="487181" y="1191718"/>
                </a:cubicBezTo>
                <a:cubicBezTo>
                  <a:pt x="533401" y="1262921"/>
                  <a:pt x="555886" y="1294151"/>
                  <a:pt x="607102" y="1364105"/>
                </a:cubicBezTo>
                <a:cubicBezTo>
                  <a:pt x="658318" y="1434059"/>
                  <a:pt x="720777" y="1531495"/>
                  <a:pt x="794479" y="1611442"/>
                </a:cubicBezTo>
                <a:cubicBezTo>
                  <a:pt x="868181" y="1691389"/>
                  <a:pt x="955624" y="1770088"/>
                  <a:pt x="1049312" y="1843790"/>
                </a:cubicBezTo>
                <a:cubicBezTo>
                  <a:pt x="1143000" y="1917492"/>
                  <a:pt x="1250430" y="1999937"/>
                  <a:pt x="1356610" y="2053652"/>
                </a:cubicBezTo>
                <a:cubicBezTo>
                  <a:pt x="1462790" y="2107367"/>
                  <a:pt x="1567722" y="2138596"/>
                  <a:pt x="1686394" y="2166078"/>
                </a:cubicBezTo>
                <a:cubicBezTo>
                  <a:pt x="1805066" y="2193560"/>
                  <a:pt x="1968709" y="2226039"/>
                  <a:pt x="2068643" y="2218544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none" w="med" len="med"/>
            <a:tailEnd type="triangl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6CD0DBA-65C0-932F-37FF-328E3A288A3E}"/>
              </a:ext>
            </a:extLst>
          </p:cNvPr>
          <p:cNvSpPr/>
          <p:nvPr/>
        </p:nvSpPr>
        <p:spPr>
          <a:xfrm>
            <a:off x="4624388" y="3357563"/>
            <a:ext cx="2009775" cy="2228850"/>
          </a:xfrm>
          <a:custGeom>
            <a:avLst/>
            <a:gdLst>
              <a:gd name="connsiteX0" fmla="*/ 2009775 w 2009775"/>
              <a:gd name="connsiteY0" fmla="*/ 0 h 2228850"/>
              <a:gd name="connsiteX1" fmla="*/ 1952625 w 2009775"/>
              <a:gd name="connsiteY1" fmla="*/ 180975 h 2228850"/>
              <a:gd name="connsiteX2" fmla="*/ 1895475 w 2009775"/>
              <a:gd name="connsiteY2" fmla="*/ 309562 h 2228850"/>
              <a:gd name="connsiteX3" fmla="*/ 1862137 w 2009775"/>
              <a:gd name="connsiteY3" fmla="*/ 423862 h 2228850"/>
              <a:gd name="connsiteX4" fmla="*/ 1814512 w 2009775"/>
              <a:gd name="connsiteY4" fmla="*/ 585787 h 2228850"/>
              <a:gd name="connsiteX5" fmla="*/ 1757362 w 2009775"/>
              <a:gd name="connsiteY5" fmla="*/ 742950 h 2228850"/>
              <a:gd name="connsiteX6" fmla="*/ 1671637 w 2009775"/>
              <a:gd name="connsiteY6" fmla="*/ 957262 h 2228850"/>
              <a:gd name="connsiteX7" fmla="*/ 1562100 w 2009775"/>
              <a:gd name="connsiteY7" fmla="*/ 1181100 h 2228850"/>
              <a:gd name="connsiteX8" fmla="*/ 1438275 w 2009775"/>
              <a:gd name="connsiteY8" fmla="*/ 1376362 h 2228850"/>
              <a:gd name="connsiteX9" fmla="*/ 1257300 w 2009775"/>
              <a:gd name="connsiteY9" fmla="*/ 1590675 h 2228850"/>
              <a:gd name="connsiteX10" fmla="*/ 1095375 w 2009775"/>
              <a:gd name="connsiteY10" fmla="*/ 1733550 h 2228850"/>
              <a:gd name="connsiteX11" fmla="*/ 947737 w 2009775"/>
              <a:gd name="connsiteY11" fmla="*/ 1852612 h 2228850"/>
              <a:gd name="connsiteX12" fmla="*/ 762000 w 2009775"/>
              <a:gd name="connsiteY12" fmla="*/ 1995487 h 2228850"/>
              <a:gd name="connsiteX13" fmla="*/ 609600 w 2009775"/>
              <a:gd name="connsiteY13" fmla="*/ 2066925 h 2228850"/>
              <a:gd name="connsiteX14" fmla="*/ 414337 w 2009775"/>
              <a:gd name="connsiteY14" fmla="*/ 2147887 h 2228850"/>
              <a:gd name="connsiteX15" fmla="*/ 233362 w 2009775"/>
              <a:gd name="connsiteY15" fmla="*/ 2205037 h 2228850"/>
              <a:gd name="connsiteX16" fmla="*/ 0 w 2009775"/>
              <a:gd name="connsiteY16" fmla="*/ 2228850 h 222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09775" h="2228850">
                <a:moveTo>
                  <a:pt x="2009775" y="0"/>
                </a:moveTo>
                <a:cubicBezTo>
                  <a:pt x="1990725" y="64690"/>
                  <a:pt x="1971675" y="129381"/>
                  <a:pt x="1952625" y="180975"/>
                </a:cubicBezTo>
                <a:cubicBezTo>
                  <a:pt x="1933575" y="232569"/>
                  <a:pt x="1910556" y="269081"/>
                  <a:pt x="1895475" y="309562"/>
                </a:cubicBezTo>
                <a:cubicBezTo>
                  <a:pt x="1880394" y="350043"/>
                  <a:pt x="1875631" y="377825"/>
                  <a:pt x="1862137" y="423862"/>
                </a:cubicBezTo>
                <a:cubicBezTo>
                  <a:pt x="1848643" y="469899"/>
                  <a:pt x="1831975" y="532606"/>
                  <a:pt x="1814512" y="585787"/>
                </a:cubicBezTo>
                <a:cubicBezTo>
                  <a:pt x="1797049" y="638968"/>
                  <a:pt x="1781174" y="681038"/>
                  <a:pt x="1757362" y="742950"/>
                </a:cubicBezTo>
                <a:cubicBezTo>
                  <a:pt x="1733550" y="804862"/>
                  <a:pt x="1704181" y="884237"/>
                  <a:pt x="1671637" y="957262"/>
                </a:cubicBezTo>
                <a:cubicBezTo>
                  <a:pt x="1639093" y="1030287"/>
                  <a:pt x="1600994" y="1111250"/>
                  <a:pt x="1562100" y="1181100"/>
                </a:cubicBezTo>
                <a:cubicBezTo>
                  <a:pt x="1523206" y="1250950"/>
                  <a:pt x="1489075" y="1308100"/>
                  <a:pt x="1438275" y="1376362"/>
                </a:cubicBezTo>
                <a:cubicBezTo>
                  <a:pt x="1387475" y="1444625"/>
                  <a:pt x="1314450" y="1531144"/>
                  <a:pt x="1257300" y="1590675"/>
                </a:cubicBezTo>
                <a:cubicBezTo>
                  <a:pt x="1200150" y="1650206"/>
                  <a:pt x="1146969" y="1689894"/>
                  <a:pt x="1095375" y="1733550"/>
                </a:cubicBezTo>
                <a:cubicBezTo>
                  <a:pt x="1043781" y="1777206"/>
                  <a:pt x="1003299" y="1808956"/>
                  <a:pt x="947737" y="1852612"/>
                </a:cubicBezTo>
                <a:cubicBezTo>
                  <a:pt x="892175" y="1896268"/>
                  <a:pt x="818356" y="1959768"/>
                  <a:pt x="762000" y="1995487"/>
                </a:cubicBezTo>
                <a:cubicBezTo>
                  <a:pt x="705644" y="2031206"/>
                  <a:pt x="667544" y="2041525"/>
                  <a:pt x="609600" y="2066925"/>
                </a:cubicBezTo>
                <a:cubicBezTo>
                  <a:pt x="551656" y="2092325"/>
                  <a:pt x="477043" y="2124868"/>
                  <a:pt x="414337" y="2147887"/>
                </a:cubicBezTo>
                <a:cubicBezTo>
                  <a:pt x="351631" y="2170906"/>
                  <a:pt x="302418" y="2191543"/>
                  <a:pt x="233362" y="2205037"/>
                </a:cubicBezTo>
                <a:cubicBezTo>
                  <a:pt x="164306" y="2218531"/>
                  <a:pt x="82153" y="2223690"/>
                  <a:pt x="0" y="222885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triangl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020366-10C7-27FC-31DE-E7F81A6F3225}"/>
              </a:ext>
            </a:extLst>
          </p:cNvPr>
          <p:cNvGrpSpPr/>
          <p:nvPr/>
        </p:nvGrpSpPr>
        <p:grpSpPr>
          <a:xfrm>
            <a:off x="7420014" y="4501963"/>
            <a:ext cx="1182649" cy="667769"/>
            <a:chOff x="7420014" y="4501963"/>
            <a:chExt cx="1182649" cy="66776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AB79B93-A820-959E-9329-2D7F0A8747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0014" y="4718404"/>
              <a:ext cx="936639" cy="4513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FDCE52-BD08-DD29-4608-D7D34C6010A6}"/>
                </a:ext>
              </a:extLst>
            </p:cNvPr>
            <p:cNvSpPr txBox="1"/>
            <p:nvPr/>
          </p:nvSpPr>
          <p:spPr>
            <a:xfrm>
              <a:off x="8269340" y="4501963"/>
              <a:ext cx="333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120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Modeling a </a:t>
            </a:r>
            <a:r>
              <a:rPr lang="en-US" sz="3200" b="1" dirty="0">
                <a:latin typeface="+mn-lt"/>
              </a:rPr>
              <a:t>Driven</a:t>
            </a:r>
            <a:r>
              <a:rPr lang="en-US" sz="3200" dirty="0">
                <a:latin typeface="+mn-lt"/>
              </a:rPr>
              <a:t> RLC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295C4E-BA55-35DD-C473-936F66E01B92}"/>
                  </a:ext>
                </a:extLst>
              </p:cNvPr>
              <p:cNvSpPr txBox="1"/>
              <p:nvPr/>
            </p:nvSpPr>
            <p:spPr>
              <a:xfrm>
                <a:off x="451874" y="1488873"/>
                <a:ext cx="21767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𝐸𝑀𝐹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=+1.21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295C4E-BA55-35DD-C473-936F66E0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74" y="1488873"/>
                <a:ext cx="2176726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CB54A5-5DC3-AC3A-C09B-7E5FD46BB6EF}"/>
                  </a:ext>
                </a:extLst>
              </p:cNvPr>
              <p:cNvSpPr txBox="1"/>
              <p:nvPr/>
            </p:nvSpPr>
            <p:spPr>
              <a:xfrm>
                <a:off x="685794" y="5051192"/>
                <a:ext cx="23984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Charge (in Coulombs)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CB54A5-5DC3-AC3A-C09B-7E5FD46BB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4" y="5051192"/>
                <a:ext cx="2398426" cy="338554"/>
              </a:xfrm>
              <a:prstGeom prst="rect">
                <a:avLst/>
              </a:prstGeom>
              <a:blipFill>
                <a:blip r:embed="rId3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C3A386-DF5F-81D6-810D-9F2534B9CFB2}"/>
                  </a:ext>
                </a:extLst>
              </p:cNvPr>
              <p:cNvSpPr txBox="1"/>
              <p:nvPr/>
            </p:nvSpPr>
            <p:spPr>
              <a:xfrm>
                <a:off x="738259" y="5417705"/>
                <a:ext cx="23984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Current (in Amps)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C3A386-DF5F-81D6-810D-9F2534B9C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59" y="5417705"/>
                <a:ext cx="2398426" cy="338554"/>
              </a:xfrm>
              <a:prstGeom prst="rect">
                <a:avLst/>
              </a:prstGeom>
              <a:blipFill>
                <a:blip r:embed="rId4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B33D3D7-38A7-C403-1EEF-5B26EFACD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74" y="1857288"/>
            <a:ext cx="2176726" cy="31919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913F658-54AB-7643-0FCF-75A6C54BAB24}"/>
              </a:ext>
            </a:extLst>
          </p:cNvPr>
          <p:cNvSpPr txBox="1"/>
          <p:nvPr/>
        </p:nvSpPr>
        <p:spPr>
          <a:xfrm>
            <a:off x="242016" y="3055919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F3396-B855-1F67-AB2A-7ED8B01B7BB2}"/>
              </a:ext>
            </a:extLst>
          </p:cNvPr>
          <p:cNvSpPr txBox="1"/>
          <p:nvPr/>
        </p:nvSpPr>
        <p:spPr>
          <a:xfrm>
            <a:off x="2443396" y="2293495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CB3A6B-1E92-77B2-32A7-032F9CFDA8A8}"/>
              </a:ext>
            </a:extLst>
          </p:cNvPr>
          <p:cNvSpPr txBox="1"/>
          <p:nvPr/>
        </p:nvSpPr>
        <p:spPr>
          <a:xfrm>
            <a:off x="2443396" y="3367790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CAA36-FE0E-7C6C-6497-1988B4B5D7C5}"/>
              </a:ext>
            </a:extLst>
          </p:cNvPr>
          <p:cNvSpPr txBox="1"/>
          <p:nvPr/>
        </p:nvSpPr>
        <p:spPr>
          <a:xfrm>
            <a:off x="2443396" y="4227439"/>
            <a:ext cx="36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3D9D513-C77C-D799-1CCB-6B94EB8665F2}"/>
              </a:ext>
            </a:extLst>
          </p:cNvPr>
          <p:cNvGrpSpPr/>
          <p:nvPr/>
        </p:nvGrpSpPr>
        <p:grpSpPr>
          <a:xfrm>
            <a:off x="3420907" y="1557807"/>
            <a:ext cx="3759181" cy="338554"/>
            <a:chOff x="3443593" y="1735893"/>
            <a:chExt cx="3759181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0B1F2D2-4A53-B13B-2CFC-F8DE22A6C295}"/>
                    </a:ext>
                  </a:extLst>
                </p:cNvPr>
                <p:cNvSpPr txBox="1"/>
                <p:nvPr/>
              </p:nvSpPr>
              <p:spPr>
                <a:xfrm>
                  <a:off x="3443593" y="1766671"/>
                  <a:ext cx="143783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0B1F2D2-4A53-B13B-2CFC-F8DE22A6C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1766671"/>
                  <a:ext cx="143783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390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EB8D70-456B-EAA0-B598-D550E9AF7DDF}"/>
                </a:ext>
              </a:extLst>
            </p:cNvPr>
            <p:cNvSpPr txBox="1"/>
            <p:nvPr/>
          </p:nvSpPr>
          <p:spPr>
            <a:xfrm>
              <a:off x="5486702" y="1735893"/>
              <a:ext cx="1716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AC Voltage Source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90C914-43F5-3CAC-0F24-FCE20BB8358A}"/>
              </a:ext>
            </a:extLst>
          </p:cNvPr>
          <p:cNvGrpSpPr/>
          <p:nvPr/>
        </p:nvGrpSpPr>
        <p:grpSpPr>
          <a:xfrm>
            <a:off x="3420907" y="1970625"/>
            <a:ext cx="3204545" cy="338554"/>
            <a:chOff x="3443593" y="2303421"/>
            <a:chExt cx="3204545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54F47A0-C2B4-0698-7CEC-4B5AD0FE14EB}"/>
                    </a:ext>
                  </a:extLst>
                </p:cNvPr>
                <p:cNvSpPr txBox="1"/>
                <p:nvPr/>
              </p:nvSpPr>
              <p:spPr>
                <a:xfrm>
                  <a:off x="3443593" y="2334199"/>
                  <a:ext cx="8354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54F47A0-C2B4-0698-7CEC-4B5AD0FE14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2334199"/>
                  <a:ext cx="83548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5839" r="-5839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8B1121-19B3-05FC-BEC9-C311F0C3780D}"/>
                </a:ext>
              </a:extLst>
            </p:cNvPr>
            <p:cNvSpPr txBox="1"/>
            <p:nvPr/>
          </p:nvSpPr>
          <p:spPr>
            <a:xfrm>
              <a:off x="5486702" y="2303421"/>
              <a:ext cx="11614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Ohm's Law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2CA346-3941-A8F4-A562-E3B9A04C5E47}"/>
              </a:ext>
            </a:extLst>
          </p:cNvPr>
          <p:cNvGrpSpPr/>
          <p:nvPr/>
        </p:nvGrpSpPr>
        <p:grpSpPr>
          <a:xfrm>
            <a:off x="3420907" y="2383443"/>
            <a:ext cx="3519338" cy="525913"/>
            <a:chOff x="3443593" y="2899325"/>
            <a:chExt cx="3519338" cy="525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3F39AF-2022-AAA2-37B4-A9D02CB2E2B7}"/>
                    </a:ext>
                  </a:extLst>
                </p:cNvPr>
                <p:cNvSpPr txBox="1"/>
                <p:nvPr/>
              </p:nvSpPr>
              <p:spPr>
                <a:xfrm>
                  <a:off x="3443593" y="2899325"/>
                  <a:ext cx="977319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D3F39AF-2022-AAA2-37B4-A9D02CB2E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2899325"/>
                  <a:ext cx="977319" cy="5259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7E1E733-8480-E68E-E15A-1A0B5DFACF2E}"/>
                </a:ext>
              </a:extLst>
            </p:cNvPr>
            <p:cNvSpPr txBox="1"/>
            <p:nvPr/>
          </p:nvSpPr>
          <p:spPr>
            <a:xfrm>
              <a:off x="5486702" y="2993004"/>
              <a:ext cx="14762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50"/>
                  </a:solidFill>
                </a:rPr>
                <a:t>Faraday's Law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56B6AF-C4C5-495B-1D77-7F2AA04E95E5}"/>
              </a:ext>
            </a:extLst>
          </p:cNvPr>
          <p:cNvGrpSpPr/>
          <p:nvPr/>
        </p:nvGrpSpPr>
        <p:grpSpPr>
          <a:xfrm>
            <a:off x="3420907" y="2983620"/>
            <a:ext cx="3519337" cy="520399"/>
            <a:chOff x="3443593" y="3713365"/>
            <a:chExt cx="3519337" cy="5203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A568975-16E4-7A50-02DF-9FB940146DDC}"/>
                    </a:ext>
                  </a:extLst>
                </p:cNvPr>
                <p:cNvSpPr txBox="1"/>
                <p:nvPr/>
              </p:nvSpPr>
              <p:spPr>
                <a:xfrm>
                  <a:off x="3443593" y="3713365"/>
                  <a:ext cx="749629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A568975-16E4-7A50-02DF-9FB940146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3713365"/>
                  <a:ext cx="749629" cy="5203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B6B7C5E-E57B-7578-BB09-F6AC67953CAA}"/>
                </a:ext>
              </a:extLst>
            </p:cNvPr>
            <p:cNvSpPr txBox="1"/>
            <p:nvPr/>
          </p:nvSpPr>
          <p:spPr>
            <a:xfrm>
              <a:off x="5486701" y="3804287"/>
              <a:ext cx="14762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</a:rPr>
                <a:t>Gauss's Law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EB0CC7-086B-DD99-1E57-E03E5A62DD93}"/>
              </a:ext>
            </a:extLst>
          </p:cNvPr>
          <p:cNvGrpSpPr/>
          <p:nvPr/>
        </p:nvGrpSpPr>
        <p:grpSpPr>
          <a:xfrm>
            <a:off x="3420907" y="3578283"/>
            <a:ext cx="4224902" cy="338554"/>
            <a:chOff x="3443593" y="4535216"/>
            <a:chExt cx="4224902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7334C95-A208-F31B-6254-E9577D30475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443593" y="4565994"/>
                  <a:ext cx="18271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7334C95-A208-F31B-6254-E9577D304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593" y="4565994"/>
                  <a:ext cx="182716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33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5ECF5A8-BB26-1495-C49D-C44F69B2EFE2}"/>
                </a:ext>
              </a:extLst>
            </p:cNvPr>
            <p:cNvSpPr txBox="1"/>
            <p:nvPr/>
          </p:nvSpPr>
          <p:spPr>
            <a:xfrm>
              <a:off x="5491769" y="4535216"/>
              <a:ext cx="21767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</a:rPr>
                <a:t>Kirchhoff's Voltage Law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E120B4-1B06-2FD0-9971-B92517A14873}"/>
                  </a:ext>
                </a:extLst>
              </p:cNvPr>
              <p:cNvSpPr txBox="1"/>
              <p:nvPr/>
            </p:nvSpPr>
            <p:spPr>
              <a:xfrm>
                <a:off x="3593292" y="4398594"/>
                <a:ext cx="189923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E120B4-1B06-2FD0-9971-B92517A14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92" y="4398594"/>
                <a:ext cx="1899238" cy="5259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306DC8-7BD2-6DC8-7919-299F87EE8962}"/>
                  </a:ext>
                </a:extLst>
              </p:cNvPr>
              <p:cNvSpPr txBox="1"/>
              <p:nvPr/>
            </p:nvSpPr>
            <p:spPr>
              <a:xfrm>
                <a:off x="797340" y="5836068"/>
                <a:ext cx="670119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C306DC8-7BD2-6DC8-7919-299F87EE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40" y="5836068"/>
                <a:ext cx="670119" cy="4675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E2D485-ABA2-B245-4DA7-B7D679E28990}"/>
                  </a:ext>
                </a:extLst>
              </p:cNvPr>
              <p:cNvSpPr txBox="1"/>
              <p:nvPr/>
            </p:nvSpPr>
            <p:spPr>
              <a:xfrm>
                <a:off x="1885007" y="5836068"/>
                <a:ext cx="655949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E2D485-ABA2-B245-4DA7-B7D679E28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007" y="5836068"/>
                <a:ext cx="655949" cy="467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12061C6-DC99-616E-1D6A-DC9618A9CD94}"/>
                  </a:ext>
                </a:extLst>
              </p:cNvPr>
              <p:cNvSpPr txBox="1"/>
              <p:nvPr/>
            </p:nvSpPr>
            <p:spPr>
              <a:xfrm>
                <a:off x="3593292" y="5154795"/>
                <a:ext cx="1763495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12061C6-DC99-616E-1D6A-DC9618A9C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92" y="5154795"/>
                <a:ext cx="1763495" cy="5203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7B59FA-B11D-9780-624D-35D777DCF6BB}"/>
                  </a:ext>
                </a:extLst>
              </p:cNvPr>
              <p:cNvSpPr txBox="1"/>
              <p:nvPr/>
            </p:nvSpPr>
            <p:spPr>
              <a:xfrm>
                <a:off x="3593292" y="5905481"/>
                <a:ext cx="2107436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7B59FA-B11D-9780-624D-35D777DCF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92" y="5905481"/>
                <a:ext cx="2107436" cy="5357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11A428-53AF-2FEA-FD35-DB53DDB93488}"/>
                  </a:ext>
                </a:extLst>
              </p:cNvPr>
              <p:cNvSpPr txBox="1"/>
              <p:nvPr/>
            </p:nvSpPr>
            <p:spPr>
              <a:xfrm>
                <a:off x="6292127" y="4708876"/>
                <a:ext cx="1860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11A428-53AF-2FEA-FD35-DB53DDB9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27" y="4708876"/>
                <a:ext cx="1860766" cy="276999"/>
              </a:xfrm>
              <a:prstGeom prst="rect">
                <a:avLst/>
              </a:prstGeom>
              <a:blipFill>
                <a:blip r:embed="rId16"/>
                <a:stretch>
                  <a:fillRect l="-3607" r="-2295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B0EC04-6817-E0B3-4DDA-A150A0F662E3}"/>
                  </a:ext>
                </a:extLst>
              </p:cNvPr>
              <p:cNvSpPr txBox="1"/>
              <p:nvPr/>
            </p:nvSpPr>
            <p:spPr>
              <a:xfrm>
                <a:off x="6292127" y="5156822"/>
                <a:ext cx="16624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B0EC04-6817-E0B3-4DDA-A150A0F66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27" y="5156822"/>
                <a:ext cx="1662442" cy="276999"/>
              </a:xfrm>
              <a:prstGeom prst="rect">
                <a:avLst/>
              </a:prstGeom>
              <a:blipFill>
                <a:blip r:embed="rId17"/>
                <a:stretch>
                  <a:fillRect l="-2564" r="-256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B201E80-648A-9F75-29D2-5AEA08BB7136}"/>
                  </a:ext>
                </a:extLst>
              </p:cNvPr>
              <p:cNvSpPr txBox="1"/>
              <p:nvPr/>
            </p:nvSpPr>
            <p:spPr>
              <a:xfrm>
                <a:off x="6292127" y="5651972"/>
                <a:ext cx="1538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B201E80-648A-9F75-29D2-5AEA08BB7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127" y="5651972"/>
                <a:ext cx="1538626" cy="276999"/>
              </a:xfrm>
              <a:prstGeom prst="rect">
                <a:avLst/>
              </a:prstGeom>
              <a:blipFill>
                <a:blip r:embed="rId18"/>
                <a:stretch>
                  <a:fillRect l="-3162" r="-237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2E782C50-D361-183D-C054-580B4FC41490}"/>
              </a:ext>
            </a:extLst>
          </p:cNvPr>
          <p:cNvSpPr txBox="1"/>
          <p:nvPr/>
        </p:nvSpPr>
        <p:spPr>
          <a:xfrm>
            <a:off x="1235772" y="2163599"/>
            <a:ext cx="92547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10.05</a:t>
            </a:r>
            <a:r>
              <a:rPr lang="el-GR" sz="1600" dirty="0"/>
              <a:t>Ω</a:t>
            </a:r>
            <a:r>
              <a:rPr lang="en-US" sz="1600" dirty="0"/>
              <a:t> 99.32</a:t>
            </a:r>
            <a:r>
              <a:rPr lang="el-GR" sz="1600" dirty="0"/>
              <a:t>Ω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84B85A-E8E1-9CB5-57F1-1DBD0286100A}"/>
                  </a:ext>
                </a:extLst>
              </p:cNvPr>
              <p:cNvSpPr txBox="1"/>
              <p:nvPr/>
            </p:nvSpPr>
            <p:spPr>
              <a:xfrm>
                <a:off x="6318033" y="6147122"/>
                <a:ext cx="15057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84B85A-E8E1-9CB5-57F1-1DBD02861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033" y="6147122"/>
                <a:ext cx="1505797" cy="276999"/>
              </a:xfrm>
              <a:prstGeom prst="rect">
                <a:avLst/>
              </a:prstGeom>
              <a:blipFill>
                <a:blip r:embed="rId19"/>
                <a:stretch>
                  <a:fillRect l="-2834" r="-283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E6E2F022-52F1-DB9D-1DE0-44E1CF4E31EF}"/>
              </a:ext>
            </a:extLst>
          </p:cNvPr>
          <p:cNvSpPr txBox="1"/>
          <p:nvPr/>
        </p:nvSpPr>
        <p:spPr>
          <a:xfrm>
            <a:off x="1342814" y="3343938"/>
            <a:ext cx="79545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100.8mH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3E66DE-C152-1202-E57C-52C282A4D8C0}"/>
              </a:ext>
            </a:extLst>
          </p:cNvPr>
          <p:cNvSpPr txBox="1"/>
          <p:nvPr/>
        </p:nvSpPr>
        <p:spPr>
          <a:xfrm>
            <a:off x="1365792" y="4157074"/>
            <a:ext cx="79545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91.2</a:t>
            </a:r>
          </a:p>
          <a:p>
            <a:pPr algn="ctr"/>
            <a:r>
              <a:rPr lang="en-US" sz="1600" dirty="0"/>
              <a:t>uF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CE8214-F308-62E6-03B5-1A99C78B63B6}"/>
              </a:ext>
            </a:extLst>
          </p:cNvPr>
          <p:cNvSpPr txBox="1"/>
          <p:nvPr/>
        </p:nvSpPr>
        <p:spPr>
          <a:xfrm>
            <a:off x="6279174" y="4256639"/>
            <a:ext cx="176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Euler's Method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3BA563C-D047-E092-1472-E86B8D69D231}"/>
              </a:ext>
            </a:extLst>
          </p:cNvPr>
          <p:cNvSpPr/>
          <p:nvPr/>
        </p:nvSpPr>
        <p:spPr>
          <a:xfrm>
            <a:off x="1849675" y="5805266"/>
            <a:ext cx="712549" cy="58640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77BC9C5-42E8-6B8C-C7FD-C9D7D668F794}"/>
              </a:ext>
            </a:extLst>
          </p:cNvPr>
          <p:cNvSpPr/>
          <p:nvPr/>
        </p:nvSpPr>
        <p:spPr>
          <a:xfrm>
            <a:off x="4751466" y="4390834"/>
            <a:ext cx="300219" cy="58640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A2D8EA1-8008-52DA-9F55-88FDF32899F7}"/>
              </a:ext>
            </a:extLst>
          </p:cNvPr>
          <p:cNvCxnSpPr>
            <a:stCxn id="56" idx="3"/>
            <a:endCxn id="57" idx="0"/>
          </p:cNvCxnSpPr>
          <p:nvPr/>
        </p:nvCxnSpPr>
        <p:spPr>
          <a:xfrm flipV="1">
            <a:off x="2562224" y="4390834"/>
            <a:ext cx="2339352" cy="1707633"/>
          </a:xfrm>
          <a:prstGeom prst="bentConnector4">
            <a:avLst>
              <a:gd name="adj1" fmla="val 31413"/>
              <a:gd name="adj2" fmla="val 113387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119D687-539D-C114-6366-536DDDCFC3F9}"/>
              </a:ext>
            </a:extLst>
          </p:cNvPr>
          <p:cNvSpPr/>
          <p:nvPr/>
        </p:nvSpPr>
        <p:spPr>
          <a:xfrm>
            <a:off x="4595813" y="5269415"/>
            <a:ext cx="319328" cy="36012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300C0BF-40F8-612E-2281-798017CAFC19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 rot="5400000">
            <a:off x="4682438" y="5050276"/>
            <a:ext cx="292179" cy="146099"/>
          </a:xfrm>
          <a:prstGeom prst="bentConnector3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row: Curved Up 63">
            <a:extLst>
              <a:ext uri="{FF2B5EF4-FFF2-40B4-BE49-F238E27FC236}">
                <a16:creationId xmlns:a16="http://schemas.microsoft.com/office/drawing/2014/main" id="{E79B14AD-D5B7-6B85-7E8D-2F45F54E56FC}"/>
              </a:ext>
            </a:extLst>
          </p:cNvPr>
          <p:cNvSpPr/>
          <p:nvPr/>
        </p:nvSpPr>
        <p:spPr>
          <a:xfrm>
            <a:off x="959370" y="6332859"/>
            <a:ext cx="547961" cy="15475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Arrow: Curved Up 64">
            <a:extLst>
              <a:ext uri="{FF2B5EF4-FFF2-40B4-BE49-F238E27FC236}">
                <a16:creationId xmlns:a16="http://schemas.microsoft.com/office/drawing/2014/main" id="{C318D7A3-159F-15FC-B03F-DD519AF440B2}"/>
              </a:ext>
            </a:extLst>
          </p:cNvPr>
          <p:cNvSpPr/>
          <p:nvPr/>
        </p:nvSpPr>
        <p:spPr>
          <a:xfrm>
            <a:off x="2014263" y="6314288"/>
            <a:ext cx="547961" cy="15475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FC1C303C-CB60-E09D-AE33-6F7E9CE9CA44}"/>
              </a:ext>
            </a:extLst>
          </p:cNvPr>
          <p:cNvSpPr/>
          <p:nvPr/>
        </p:nvSpPr>
        <p:spPr>
          <a:xfrm>
            <a:off x="6846147" y="1879625"/>
            <a:ext cx="1464414" cy="6446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Voltage across the </a:t>
            </a:r>
            <a:r>
              <a:rPr lang="en-US" sz="1600" b="1" dirty="0">
                <a:solidFill>
                  <a:srgbClr val="FFFF00"/>
                </a:solidFill>
              </a:rPr>
              <a:t>resistor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33766BE3-0F3F-6BE7-A6E4-4580AA03B2A4}"/>
              </a:ext>
            </a:extLst>
          </p:cNvPr>
          <p:cNvCxnSpPr>
            <a:stCxn id="48" idx="3"/>
            <a:endCxn id="3" idx="3"/>
          </p:cNvCxnSpPr>
          <p:nvPr/>
        </p:nvCxnSpPr>
        <p:spPr>
          <a:xfrm flipV="1">
            <a:off x="7830753" y="2201938"/>
            <a:ext cx="479808" cy="3588534"/>
          </a:xfrm>
          <a:prstGeom prst="bentConnector3">
            <a:avLst>
              <a:gd name="adj1" fmla="val 147644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107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344B027-919F-1134-D796-F5451A7E19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512"/>
          <a:stretch/>
        </p:blipFill>
        <p:spPr>
          <a:xfrm>
            <a:off x="2014857" y="1575901"/>
            <a:ext cx="5114286" cy="48857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Revised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258785-F383-1DB4-160A-FC26366F9B1F}"/>
              </a:ext>
            </a:extLst>
          </p:cNvPr>
          <p:cNvSpPr/>
          <p:nvPr/>
        </p:nvSpPr>
        <p:spPr>
          <a:xfrm>
            <a:off x="7286625" y="1547813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E365D2-3EB4-5A26-F07F-4834734DA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46" y="1233823"/>
            <a:ext cx="2126421" cy="2604491"/>
          </a:xfrm>
          <a:prstGeom prst="rect">
            <a:avLst/>
          </a:prstGeom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A4024A-9FEA-9E2C-7E18-3756B148C473}"/>
              </a:ext>
            </a:extLst>
          </p:cNvPr>
          <p:cNvSpPr/>
          <p:nvPr/>
        </p:nvSpPr>
        <p:spPr>
          <a:xfrm>
            <a:off x="3136848" y="2022537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5D7F14-A189-5042-8A1D-2000F70030D2}"/>
              </a:ext>
            </a:extLst>
          </p:cNvPr>
          <p:cNvSpPr/>
          <p:nvPr/>
        </p:nvSpPr>
        <p:spPr>
          <a:xfrm>
            <a:off x="7227094" y="1752600"/>
            <a:ext cx="537811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FBA6C9-C9AC-1119-7CDE-CD7C61324AB1}"/>
              </a:ext>
            </a:extLst>
          </p:cNvPr>
          <p:cNvSpPr/>
          <p:nvPr/>
        </p:nvSpPr>
        <p:spPr>
          <a:xfrm>
            <a:off x="3675411" y="2022537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1E7CC-404F-0E22-BBBF-E71DC63C6C3E}"/>
              </a:ext>
            </a:extLst>
          </p:cNvPr>
          <p:cNvSpPr/>
          <p:nvPr/>
        </p:nvSpPr>
        <p:spPr>
          <a:xfrm>
            <a:off x="6346159" y="2294858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382553-1D73-7075-CEA5-0AD19A0DE6C3}"/>
              </a:ext>
            </a:extLst>
          </p:cNvPr>
          <p:cNvSpPr/>
          <p:nvPr/>
        </p:nvSpPr>
        <p:spPr>
          <a:xfrm>
            <a:off x="4272519" y="5087461"/>
            <a:ext cx="387587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CC84F6-ABAE-F5C3-AB7B-0A28C85483BA}"/>
              </a:ext>
            </a:extLst>
          </p:cNvPr>
          <p:cNvSpPr/>
          <p:nvPr/>
        </p:nvSpPr>
        <p:spPr>
          <a:xfrm>
            <a:off x="7310765" y="2510435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FD6CD3-55EC-B75A-32D2-2E91ECDE0B1A}"/>
              </a:ext>
            </a:extLst>
          </p:cNvPr>
          <p:cNvSpPr/>
          <p:nvPr/>
        </p:nvSpPr>
        <p:spPr>
          <a:xfrm>
            <a:off x="7310765" y="3174761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4FEEDC-65D1-2923-56ED-D8D175A452D1}"/>
              </a:ext>
            </a:extLst>
          </p:cNvPr>
          <p:cNvSpPr/>
          <p:nvPr/>
        </p:nvSpPr>
        <p:spPr>
          <a:xfrm>
            <a:off x="2735673" y="2604358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CC9D69-CAF9-770D-51CE-FA6B43BC0879}"/>
              </a:ext>
            </a:extLst>
          </p:cNvPr>
          <p:cNvSpPr/>
          <p:nvPr/>
        </p:nvSpPr>
        <p:spPr>
          <a:xfrm>
            <a:off x="2735673" y="2805726"/>
            <a:ext cx="478280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C961C38-3E24-15B2-5D00-E08DF0FAB2FD}"/>
              </a:ext>
            </a:extLst>
          </p:cNvPr>
          <p:cNvCxnSpPr>
            <a:cxnSpLocks/>
            <a:stCxn id="8" idx="0"/>
            <a:endCxn id="11" idx="0"/>
          </p:cNvCxnSpPr>
          <p:nvPr/>
        </p:nvCxnSpPr>
        <p:spPr>
          <a:xfrm rot="16200000" flipH="1" flipV="1">
            <a:off x="5213515" y="-289714"/>
            <a:ext cx="474724" cy="4149777"/>
          </a:xfrm>
          <a:prstGeom prst="bentConnector3">
            <a:avLst>
              <a:gd name="adj1" fmla="val -2447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ABA18B7-CF72-2A52-C1DF-92E9989DBF30}"/>
              </a:ext>
            </a:extLst>
          </p:cNvPr>
          <p:cNvCxnSpPr>
            <a:cxnSpLocks/>
            <a:stCxn id="10" idx="1"/>
            <a:endCxn id="12" idx="0"/>
          </p:cNvCxnSpPr>
          <p:nvPr/>
        </p:nvCxnSpPr>
        <p:spPr>
          <a:xfrm rot="10800000" flipV="1">
            <a:off x="3914552" y="1824037"/>
            <a:ext cx="3312543" cy="198499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5283D39-A60B-30E2-B161-13CE9DC44BD5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rot="16200000" flipV="1">
            <a:off x="5149280" y="774136"/>
            <a:ext cx="226159" cy="4575092"/>
          </a:xfrm>
          <a:prstGeom prst="bentConnector3">
            <a:avLst>
              <a:gd name="adj1" fmla="val 4337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A007F51-B795-66AC-F10B-A224A126A65A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rot="16200000" flipH="1" flipV="1">
            <a:off x="5215397" y="269850"/>
            <a:ext cx="93923" cy="4575092"/>
          </a:xfrm>
          <a:prstGeom prst="bentConnector3">
            <a:avLst>
              <a:gd name="adj1" fmla="val -24339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4988C4A-BF8C-D798-6EBF-595137B83207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4459575" y="2366296"/>
            <a:ext cx="1886585" cy="2748092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1003B5B-2059-5F5F-1C0F-EC842AF4E2EE}"/>
              </a:ext>
            </a:extLst>
          </p:cNvPr>
          <p:cNvGrpSpPr/>
          <p:nvPr/>
        </p:nvGrpSpPr>
        <p:grpSpPr>
          <a:xfrm>
            <a:off x="1240956" y="1738116"/>
            <a:ext cx="1071795" cy="369332"/>
            <a:chOff x="411403" y="503894"/>
            <a:chExt cx="1071795" cy="369332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C4EDDAB-2BDB-4477-9FFC-6C9943F4F5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688560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9BAD59F-1E69-184A-299C-72ABF6057CE3}"/>
                </a:ext>
              </a:extLst>
            </p:cNvPr>
            <p:cNvSpPr txBox="1"/>
            <p:nvPr/>
          </p:nvSpPr>
          <p:spPr>
            <a:xfrm>
              <a:off x="411403" y="503894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5418A28-1ECA-B644-9067-7B919C7D1301}"/>
              </a:ext>
            </a:extLst>
          </p:cNvPr>
          <p:cNvGrpSpPr/>
          <p:nvPr/>
        </p:nvGrpSpPr>
        <p:grpSpPr>
          <a:xfrm>
            <a:off x="1240956" y="2124693"/>
            <a:ext cx="1071795" cy="369332"/>
            <a:chOff x="411403" y="1099557"/>
            <a:chExt cx="1071795" cy="369332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0748643-D5EB-27ED-7A61-656CA2830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1284223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EA0417-AF62-EF2B-EB3D-8BB900952729}"/>
                </a:ext>
              </a:extLst>
            </p:cNvPr>
            <p:cNvSpPr txBox="1"/>
            <p:nvPr/>
          </p:nvSpPr>
          <p:spPr>
            <a:xfrm>
              <a:off x="411403" y="1099557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02C8292-2D60-C976-F119-59D1570A7D83}"/>
              </a:ext>
            </a:extLst>
          </p:cNvPr>
          <p:cNvGrpSpPr/>
          <p:nvPr/>
        </p:nvGrpSpPr>
        <p:grpSpPr>
          <a:xfrm>
            <a:off x="1240956" y="3306850"/>
            <a:ext cx="1079784" cy="369332"/>
            <a:chOff x="403414" y="1695220"/>
            <a:chExt cx="1079784" cy="36933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FB2991-D766-0401-FD9B-2D80B45D5534}"/>
                </a:ext>
              </a:extLst>
            </p:cNvPr>
            <p:cNvSpPr txBox="1"/>
            <p:nvPr/>
          </p:nvSpPr>
          <p:spPr>
            <a:xfrm>
              <a:off x="403414" y="1695220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97D066A-5D57-6A7E-691B-E95B71791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187988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C0C04FF-44A7-9AA7-638F-1D6648115A16}"/>
              </a:ext>
            </a:extLst>
          </p:cNvPr>
          <p:cNvGrpSpPr/>
          <p:nvPr/>
        </p:nvGrpSpPr>
        <p:grpSpPr>
          <a:xfrm>
            <a:off x="1240956" y="4038640"/>
            <a:ext cx="1084087" cy="369332"/>
            <a:chOff x="399111" y="2290883"/>
            <a:chExt cx="1084087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645B4D-6FB8-4143-6BFD-215D12267C9D}"/>
                </a:ext>
              </a:extLst>
            </p:cNvPr>
            <p:cNvSpPr txBox="1"/>
            <p:nvPr/>
          </p:nvSpPr>
          <p:spPr>
            <a:xfrm>
              <a:off x="399111" y="229088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7759134-7DB1-2522-C060-2F0A813727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246424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5957A7C-9CF3-80C2-A896-3F14E7D3542E}"/>
              </a:ext>
            </a:extLst>
          </p:cNvPr>
          <p:cNvGrpSpPr/>
          <p:nvPr/>
        </p:nvGrpSpPr>
        <p:grpSpPr>
          <a:xfrm>
            <a:off x="1240956" y="4215201"/>
            <a:ext cx="1079784" cy="369332"/>
            <a:chOff x="403414" y="2886546"/>
            <a:chExt cx="1079784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F1CF48B-26DC-807E-3311-368262181D37}"/>
                </a:ext>
              </a:extLst>
            </p:cNvPr>
            <p:cNvSpPr txBox="1"/>
            <p:nvPr/>
          </p:nvSpPr>
          <p:spPr>
            <a:xfrm>
              <a:off x="403414" y="2886546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4F6AC854-742A-2DEE-A9DB-C21FC0BA54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3068444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40A296F-46E8-14CF-B21B-6E5714946E80}"/>
              </a:ext>
            </a:extLst>
          </p:cNvPr>
          <p:cNvGrpSpPr/>
          <p:nvPr/>
        </p:nvGrpSpPr>
        <p:grpSpPr>
          <a:xfrm>
            <a:off x="1240956" y="4787385"/>
            <a:ext cx="1071795" cy="369332"/>
            <a:chOff x="411403" y="4077872"/>
            <a:chExt cx="1071795" cy="36933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3B8D1AB-D742-52AD-4B04-3C09CE7E5C12}"/>
                </a:ext>
              </a:extLst>
            </p:cNvPr>
            <p:cNvSpPr txBox="1"/>
            <p:nvPr/>
          </p:nvSpPr>
          <p:spPr>
            <a:xfrm>
              <a:off x="411403" y="40778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9D8C0BD-C27F-55FF-DF64-BD0964B553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426662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C308326-8C99-3C09-3C3E-92C0C30D0DB7}"/>
              </a:ext>
            </a:extLst>
          </p:cNvPr>
          <p:cNvGrpSpPr/>
          <p:nvPr/>
        </p:nvGrpSpPr>
        <p:grpSpPr>
          <a:xfrm>
            <a:off x="1403749" y="5546345"/>
            <a:ext cx="1071795" cy="369332"/>
            <a:chOff x="411403" y="4673535"/>
            <a:chExt cx="1071795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50E718-05AC-F082-A594-8AD2A383BC43}"/>
                </a:ext>
              </a:extLst>
            </p:cNvPr>
            <p:cNvSpPr txBox="1"/>
            <p:nvPr/>
          </p:nvSpPr>
          <p:spPr>
            <a:xfrm>
              <a:off x="411403" y="467353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3A91F4-D5B1-FE74-B0CD-8612131363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4862290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5A9B776-EB77-E31C-D9B9-1832D666AA62}"/>
              </a:ext>
            </a:extLst>
          </p:cNvPr>
          <p:cNvGrpSpPr/>
          <p:nvPr/>
        </p:nvGrpSpPr>
        <p:grpSpPr>
          <a:xfrm>
            <a:off x="1403749" y="5737822"/>
            <a:ext cx="1071795" cy="369332"/>
            <a:chOff x="411403" y="5269198"/>
            <a:chExt cx="1071795" cy="3693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05E8275-DE93-0E55-3530-5A59D28A40C5}"/>
                </a:ext>
              </a:extLst>
            </p:cNvPr>
            <p:cNvSpPr txBox="1"/>
            <p:nvPr/>
          </p:nvSpPr>
          <p:spPr>
            <a:xfrm>
              <a:off x="411403" y="526919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2D9F47D-85F3-200A-2804-179FD788E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5457953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7C1191F-20E5-0126-C74D-5C0DE7653586}"/>
              </a:ext>
            </a:extLst>
          </p:cNvPr>
          <p:cNvGrpSpPr/>
          <p:nvPr/>
        </p:nvGrpSpPr>
        <p:grpSpPr>
          <a:xfrm>
            <a:off x="1240956" y="4407362"/>
            <a:ext cx="1071795" cy="369332"/>
            <a:chOff x="411403" y="3482209"/>
            <a:chExt cx="1071795" cy="36933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DC0A763-C133-48AC-8187-333F823D9F1D}"/>
                </a:ext>
              </a:extLst>
            </p:cNvPr>
            <p:cNvSpPr txBox="1"/>
            <p:nvPr/>
          </p:nvSpPr>
          <p:spPr>
            <a:xfrm>
              <a:off x="411403" y="348220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5698554-58FE-AFD8-FDB8-A82A58A255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3670964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F018ABB-0154-207E-4BF9-7F6DAE497A8A}"/>
              </a:ext>
            </a:extLst>
          </p:cNvPr>
          <p:cNvGrpSpPr/>
          <p:nvPr/>
        </p:nvGrpSpPr>
        <p:grpSpPr>
          <a:xfrm>
            <a:off x="1240956" y="6139710"/>
            <a:ext cx="1071795" cy="369332"/>
            <a:chOff x="411403" y="5864858"/>
            <a:chExt cx="1071795" cy="369332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04B9887-5FFB-3F27-F3CB-451A6B296E18}"/>
                </a:ext>
              </a:extLst>
            </p:cNvPr>
            <p:cNvSpPr txBox="1"/>
            <p:nvPr/>
          </p:nvSpPr>
          <p:spPr>
            <a:xfrm>
              <a:off x="411403" y="586485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C8E9AA0-3890-935E-BF94-8356ACCD40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024" y="6053613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73A5353-4702-4516-7C51-6D0D4C69BCEF}"/>
              </a:ext>
            </a:extLst>
          </p:cNvPr>
          <p:cNvSpPr/>
          <p:nvPr/>
        </p:nvSpPr>
        <p:spPr>
          <a:xfrm>
            <a:off x="3802856" y="5659573"/>
            <a:ext cx="269082" cy="142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685F21E-3187-D1CA-F921-C6418E7EE6D8}"/>
              </a:ext>
            </a:extLst>
          </p:cNvPr>
          <p:cNvCxnSpPr>
            <a:cxnSpLocks/>
            <a:stCxn id="3" idx="0"/>
            <a:endCxn id="8" idx="3"/>
          </p:cNvCxnSpPr>
          <p:nvPr/>
        </p:nvCxnSpPr>
        <p:spPr>
          <a:xfrm rot="5400000" flipH="1" flipV="1">
            <a:off x="3830990" y="1725658"/>
            <a:ext cx="4040322" cy="3827508"/>
          </a:xfrm>
          <a:prstGeom prst="bentConnector4">
            <a:avLst>
              <a:gd name="adj1" fmla="val 5522"/>
              <a:gd name="adj2" fmla="val 121443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80EFA68-F21A-8637-AD49-EB83E5A32B5E}"/>
              </a:ext>
            </a:extLst>
          </p:cNvPr>
          <p:cNvSpPr/>
          <p:nvPr/>
        </p:nvSpPr>
        <p:spPr>
          <a:xfrm>
            <a:off x="2874977" y="1802727"/>
            <a:ext cx="440728" cy="2198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6C97D-8E40-1A13-71AB-519ACCFA65FF}"/>
              </a:ext>
            </a:extLst>
          </p:cNvPr>
          <p:cNvSpPr/>
          <p:nvPr/>
        </p:nvSpPr>
        <p:spPr>
          <a:xfrm>
            <a:off x="4272519" y="6139710"/>
            <a:ext cx="1131435" cy="32190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15162F0-F4E9-FA9C-43EF-C751A3829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67" y="1690689"/>
            <a:ext cx="6066667" cy="45238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Revised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2B7744-E6CF-BA5F-AABA-B14F27DFF706}"/>
              </a:ext>
            </a:extLst>
          </p:cNvPr>
          <p:cNvGrpSpPr/>
          <p:nvPr/>
        </p:nvGrpSpPr>
        <p:grpSpPr>
          <a:xfrm>
            <a:off x="6543085" y="1663321"/>
            <a:ext cx="1076632" cy="369332"/>
            <a:chOff x="4968362" y="2079211"/>
            <a:chExt cx="1076632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0388708-E97D-ACBC-8A65-0F96205521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DF2D2E-685F-40E5-DD78-C71C8A6E1154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BD7F184-E6FE-D9BA-908B-97ED10F67D23}"/>
              </a:ext>
            </a:extLst>
          </p:cNvPr>
          <p:cNvGrpSpPr/>
          <p:nvPr/>
        </p:nvGrpSpPr>
        <p:grpSpPr>
          <a:xfrm>
            <a:off x="6635522" y="1870472"/>
            <a:ext cx="1076632" cy="369332"/>
            <a:chOff x="4704120" y="2356972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6E55C8-912F-CC00-88C2-16B1734ABE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BE1CDE-ED0E-F4C2-2D46-804DBB80007D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21C2AD-4F2B-7924-55B4-2785B9B77936}"/>
              </a:ext>
            </a:extLst>
          </p:cNvPr>
          <p:cNvGrpSpPr/>
          <p:nvPr/>
        </p:nvGrpSpPr>
        <p:grpSpPr>
          <a:xfrm>
            <a:off x="5705286" y="2260732"/>
            <a:ext cx="1068643" cy="369332"/>
            <a:chOff x="3647644" y="4910075"/>
            <a:chExt cx="106864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918A4A-3FAE-F97C-7EE0-3381A7105C4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DDD8DB9-FFAE-76F6-D916-5071AC0D3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3E7E20-7C0F-6775-A974-939D2D933BA6}"/>
              </a:ext>
            </a:extLst>
          </p:cNvPr>
          <p:cNvGrpSpPr/>
          <p:nvPr/>
        </p:nvGrpSpPr>
        <p:grpSpPr>
          <a:xfrm>
            <a:off x="3737210" y="2648414"/>
            <a:ext cx="1064340" cy="369332"/>
            <a:chOff x="3647644" y="5421073"/>
            <a:chExt cx="1064340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D8C8FC-DB1C-9F4D-421E-E6E7ACF87B8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E45FBEE-BD9E-01C9-1D4D-5C2EDD5887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99AFD5-4F6B-10F0-8AFB-290C5F62735F}"/>
              </a:ext>
            </a:extLst>
          </p:cNvPr>
          <p:cNvGrpSpPr/>
          <p:nvPr/>
        </p:nvGrpSpPr>
        <p:grpSpPr>
          <a:xfrm>
            <a:off x="4984543" y="3207005"/>
            <a:ext cx="1068643" cy="369332"/>
            <a:chOff x="3647644" y="5359159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802082-E943-01BD-91D5-8DD5CB285295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004F37A-EAF8-CA5D-54CA-B04A44AB1A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AAFAE5-32CC-3987-F58D-EE2CFD8AF7C3}"/>
              </a:ext>
            </a:extLst>
          </p:cNvPr>
          <p:cNvGrpSpPr/>
          <p:nvPr/>
        </p:nvGrpSpPr>
        <p:grpSpPr>
          <a:xfrm>
            <a:off x="7467933" y="4348725"/>
            <a:ext cx="1076632" cy="369332"/>
            <a:chOff x="2157212" y="5356391"/>
            <a:chExt cx="1076632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0E1543B-86F0-D5CB-F3DD-D8B3794A487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A4CC0A9-4AB5-FEB0-4B90-CC3D10348A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5C97DE-D130-B41D-90C9-D3DF8945E809}"/>
              </a:ext>
            </a:extLst>
          </p:cNvPr>
          <p:cNvGrpSpPr/>
          <p:nvPr/>
        </p:nvGrpSpPr>
        <p:grpSpPr>
          <a:xfrm>
            <a:off x="3353752" y="5154734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A4694F-ADB3-4364-BB8B-FA49E21DB2A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2B182B2-9736-9B91-E63F-C75B32138C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FDFE47-92A8-2332-C5BC-D1200D60E2A3}"/>
              </a:ext>
            </a:extLst>
          </p:cNvPr>
          <p:cNvGrpSpPr/>
          <p:nvPr/>
        </p:nvGrpSpPr>
        <p:grpSpPr>
          <a:xfrm>
            <a:off x="7173838" y="5524066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1F27BA-6705-B95E-CA07-44D2F1C52AA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98C1537-21B5-EDBD-A4A3-9020BCA41F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12DD9D-0233-1C28-6E13-41E9B430F254}"/>
              </a:ext>
            </a:extLst>
          </p:cNvPr>
          <p:cNvGrpSpPr/>
          <p:nvPr/>
        </p:nvGrpSpPr>
        <p:grpSpPr>
          <a:xfrm>
            <a:off x="6003404" y="4151681"/>
            <a:ext cx="1076632" cy="369332"/>
            <a:chOff x="2157212" y="5356391"/>
            <a:chExt cx="107663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C773D8-3278-83F1-F5BB-86B3BF002418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6EA1BA4-FA25-8676-7076-49C9A6A6B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AC4CE9-C697-7A5B-669D-30B26533D74D}"/>
                  </a:ext>
                </a:extLst>
              </p:cNvPr>
              <p:cNvSpPr txBox="1"/>
              <p:nvPr/>
            </p:nvSpPr>
            <p:spPr>
              <a:xfrm>
                <a:off x="6782582" y="2232517"/>
                <a:ext cx="1353063" cy="4308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1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1400" b="0" dirty="0">
                  <a:solidFill>
                    <a:srgbClr val="7030A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=1000 </m:t>
                      </m:r>
                      <m:r>
                        <a:rPr lang="en-US" sz="1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AC4CE9-C697-7A5B-669D-30B26533D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82" y="2232517"/>
                <a:ext cx="1353063" cy="430887"/>
              </a:xfrm>
              <a:prstGeom prst="rect">
                <a:avLst/>
              </a:prstGeom>
              <a:blipFill>
                <a:blip r:embed="rId3"/>
                <a:stretch>
                  <a:fillRect l="-2232" r="-1786" b="-1370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4348C54-9829-56D6-0EA1-4BCBD5EFC4F7}"/>
              </a:ext>
            </a:extLst>
          </p:cNvPr>
          <p:cNvSpPr/>
          <p:nvPr/>
        </p:nvSpPr>
        <p:spPr>
          <a:xfrm>
            <a:off x="3602254" y="1954356"/>
            <a:ext cx="693173" cy="1912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DE099D-3E13-02BF-ABDF-6A96717C4271}"/>
                  </a:ext>
                </a:extLst>
              </p:cNvPr>
              <p:cNvSpPr txBox="1"/>
              <p:nvPr/>
            </p:nvSpPr>
            <p:spPr>
              <a:xfrm>
                <a:off x="6419699" y="1274147"/>
                <a:ext cx="20103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≤30 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DE099D-3E13-02BF-ABDF-6A96717C4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699" y="1274147"/>
                <a:ext cx="201035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B1DD14E9-3CFA-7F0D-3C64-B82D1C6EFA0C}"/>
              </a:ext>
            </a:extLst>
          </p:cNvPr>
          <p:cNvSpPr/>
          <p:nvPr/>
        </p:nvSpPr>
        <p:spPr>
          <a:xfrm>
            <a:off x="1561338" y="1765946"/>
            <a:ext cx="3131574" cy="19959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47CE26E-4FCF-C2FE-F4D1-0216F4BBFD0B}"/>
              </a:ext>
            </a:extLst>
          </p:cNvPr>
          <p:cNvCxnSpPr>
            <a:stCxn id="5" idx="1"/>
            <a:endCxn id="35" idx="0"/>
          </p:cNvCxnSpPr>
          <p:nvPr/>
        </p:nvCxnSpPr>
        <p:spPr>
          <a:xfrm rot="10800000" flipV="1">
            <a:off x="3127125" y="1412646"/>
            <a:ext cx="3292574" cy="353299"/>
          </a:xfrm>
          <a:prstGeom prst="bent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075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3AA26A-4AB9-9FC7-C312-67C703050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73" y="1420895"/>
            <a:ext cx="6515854" cy="5300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Revised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E5571072-236C-29E1-BAA9-AC3322BA66FC}"/>
              </a:ext>
            </a:extLst>
          </p:cNvPr>
          <p:cNvSpPr/>
          <p:nvPr/>
        </p:nvSpPr>
        <p:spPr>
          <a:xfrm>
            <a:off x="4475781" y="2574261"/>
            <a:ext cx="3016332" cy="1438287"/>
          </a:xfrm>
          <a:prstGeom prst="wedgeRoundRectCallout">
            <a:avLst>
              <a:gd name="adj1" fmla="val -69229"/>
              <a:gd name="adj2" fmla="val -1008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At </a:t>
            </a:r>
            <a:r>
              <a:rPr lang="en-US" sz="1600" b="1" dirty="0">
                <a:solidFill>
                  <a:srgbClr val="FFFF00"/>
                </a:solidFill>
              </a:rPr>
              <a:t>resonance</a:t>
            </a:r>
            <a:r>
              <a:rPr lang="en-US" sz="1600" dirty="0"/>
              <a:t>, the LC elements have nearly zero </a:t>
            </a:r>
            <a:r>
              <a:rPr lang="en-US" sz="1600" b="1" dirty="0">
                <a:solidFill>
                  <a:schemeClr val="tx1"/>
                </a:solidFill>
              </a:rPr>
              <a:t>resistance</a:t>
            </a:r>
            <a:r>
              <a:rPr lang="en-US" sz="1600" dirty="0"/>
              <a:t>, so the </a:t>
            </a:r>
            <a:r>
              <a:rPr lang="en-US" sz="1600" b="1" dirty="0">
                <a:solidFill>
                  <a:srgbClr val="FF0000"/>
                </a:solidFill>
              </a:rPr>
              <a:t>current</a:t>
            </a:r>
            <a:r>
              <a:rPr lang="en-US" sz="1600" dirty="0"/>
              <a:t> (and hence </a:t>
            </a:r>
            <a:r>
              <a:rPr lang="en-US" sz="1600" b="1" dirty="0"/>
              <a:t>voltage</a:t>
            </a:r>
            <a:r>
              <a:rPr lang="en-US" sz="1600" dirty="0"/>
              <a:t>) flowing through R1 (and R2) would be at the </a:t>
            </a:r>
            <a:r>
              <a:rPr lang="en-US" sz="1600" b="1" u="sng" dirty="0"/>
              <a:t>maximum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C9FCE0-DBFD-3715-9385-4C3982819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499650"/>
            <a:ext cx="2653259" cy="13589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76A01F-CED0-9097-E8AC-6C0C6A0EAD00}"/>
              </a:ext>
            </a:extLst>
          </p:cNvPr>
          <p:cNvSpPr/>
          <p:nvPr/>
        </p:nvSpPr>
        <p:spPr>
          <a:xfrm>
            <a:off x="4698542" y="5184798"/>
            <a:ext cx="2444272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90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B135C6C-21AB-1726-3F85-04D80B1B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805" y="1223562"/>
            <a:ext cx="2126421" cy="26044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Checking Our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BDCC0D-EF00-9CA5-57C2-52651A55A289}"/>
                  </a:ext>
                </a:extLst>
              </p:cNvPr>
              <p:cNvSpPr txBox="1"/>
              <p:nvPr/>
            </p:nvSpPr>
            <p:spPr>
              <a:xfrm>
                <a:off x="845972" y="1953535"/>
                <a:ext cx="949042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BDCC0D-EF00-9CA5-57C2-52651A55A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72" y="1953535"/>
                <a:ext cx="949042" cy="572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82B428-4666-327D-2C03-F8672E135D94}"/>
                  </a:ext>
                </a:extLst>
              </p:cNvPr>
              <p:cNvSpPr txBox="1"/>
              <p:nvPr/>
            </p:nvSpPr>
            <p:spPr>
              <a:xfrm>
                <a:off x="893092" y="2980602"/>
                <a:ext cx="757067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82B428-4666-327D-2C03-F8672E13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92" y="2980602"/>
                <a:ext cx="757067" cy="474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6BA52E-083D-1F13-E58E-C5290695B53F}"/>
                  </a:ext>
                </a:extLst>
              </p:cNvPr>
              <p:cNvSpPr txBox="1"/>
              <p:nvPr/>
            </p:nvSpPr>
            <p:spPr>
              <a:xfrm>
                <a:off x="883447" y="3909820"/>
                <a:ext cx="1180067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6BA52E-083D-1F13-E58E-C5290695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47" y="3909820"/>
                <a:ext cx="1180067" cy="572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891455-666C-22D5-75E6-0AC126AA0C46}"/>
                  </a:ext>
                </a:extLst>
              </p:cNvPr>
              <p:cNvSpPr txBox="1"/>
              <p:nvPr/>
            </p:nvSpPr>
            <p:spPr>
              <a:xfrm>
                <a:off x="2340217" y="1953535"/>
                <a:ext cx="3935693" cy="636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100.8×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−3</m:t>
                                      </m:r>
                                    </m:sup>
                                  </m:sSup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91.2×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−9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891455-666C-22D5-75E6-0AC126AA0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217" y="1953535"/>
                <a:ext cx="3935693" cy="6367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5465A5-8D0F-673F-3039-13BEE40C1636}"/>
                  </a:ext>
                </a:extLst>
              </p:cNvPr>
              <p:cNvSpPr txBox="1"/>
              <p:nvPr/>
            </p:nvSpPr>
            <p:spPr>
              <a:xfrm>
                <a:off x="2316961" y="3035158"/>
                <a:ext cx="4034181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16599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𝑘𝐻𝑧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=1.6599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5465A5-8D0F-673F-3039-13BEE40C1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961" y="3035158"/>
                <a:ext cx="4034181" cy="5259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B7E963A-EA3B-907B-06B1-B30152365D3C}"/>
              </a:ext>
            </a:extLst>
          </p:cNvPr>
          <p:cNvSpPr/>
          <p:nvPr/>
        </p:nvSpPr>
        <p:spPr>
          <a:xfrm>
            <a:off x="5176166" y="3179613"/>
            <a:ext cx="1169563" cy="3053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A61B0D6-D050-80BE-1833-91BC1B61C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499650"/>
            <a:ext cx="2653259" cy="13589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92CDFE4-4306-1EAC-D1A8-856034B4A399}"/>
              </a:ext>
            </a:extLst>
          </p:cNvPr>
          <p:cNvSpPr/>
          <p:nvPr/>
        </p:nvSpPr>
        <p:spPr>
          <a:xfrm>
            <a:off x="4698542" y="5184798"/>
            <a:ext cx="2444272" cy="365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57357-5CE7-D1B2-0C4C-4A8370A905DA}"/>
              </a:ext>
            </a:extLst>
          </p:cNvPr>
          <p:cNvSpPr/>
          <p:nvPr/>
        </p:nvSpPr>
        <p:spPr>
          <a:xfrm>
            <a:off x="6198434" y="5388964"/>
            <a:ext cx="840542" cy="121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54B2827-79FB-6087-994F-C6C24AF25120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16200000" flipH="1">
            <a:off x="5417617" y="3828337"/>
            <a:ext cx="1964690" cy="1278028"/>
          </a:xfrm>
          <a:prstGeom prst="bentConnector4">
            <a:avLst>
              <a:gd name="adj1" fmla="val 34339"/>
              <a:gd name="adj2" fmla="val 145463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40FEBB7-905F-E52D-F95F-25DD065E641A}"/>
              </a:ext>
            </a:extLst>
          </p:cNvPr>
          <p:cNvSpPr txBox="1"/>
          <p:nvPr/>
        </p:nvSpPr>
        <p:spPr>
          <a:xfrm>
            <a:off x="7772566" y="5218863"/>
            <a:ext cx="396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sym typeface="Wingdings" panose="05000000000000000000" pitchFamily="2" charset="2"/>
              </a:rPr>
              <a:t></a:t>
            </a:r>
            <a:endParaRPr lang="en-US" sz="2400" dirty="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5100E2-C8C7-2E97-5506-2136B9888523}"/>
              </a:ext>
            </a:extLst>
          </p:cNvPr>
          <p:cNvSpPr txBox="1"/>
          <p:nvPr/>
        </p:nvSpPr>
        <p:spPr>
          <a:xfrm>
            <a:off x="1183612" y="5179143"/>
            <a:ext cx="290572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</a:rPr>
              <a:t>Euler's Method is only 1</a:t>
            </a:r>
            <a:r>
              <a:rPr lang="en-US" baseline="30000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</a:rPr>
              <a:t>st</a:t>
            </a:r>
            <a:r>
              <a:rPr lang="en-US" dirty="0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</a:rPr>
              <a:t> order accurate and susceptible to stability issues with oscillating signals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8AA74-D771-2146-93CD-63F5F8B4FFDA}"/>
              </a:ext>
            </a:extLst>
          </p:cNvPr>
          <p:cNvSpPr/>
          <p:nvPr/>
        </p:nvSpPr>
        <p:spPr>
          <a:xfrm>
            <a:off x="5116106" y="3179613"/>
            <a:ext cx="1341844" cy="30539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8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08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Inductors</a:t>
            </a:r>
            <a:r>
              <a:rPr lang="en-US" sz="2400" dirty="0"/>
              <a:t> store electrical energy in a magnetic field</a:t>
            </a:r>
          </a:p>
          <a:p>
            <a:r>
              <a:rPr lang="en-US" sz="2400" dirty="0"/>
              <a:t>An inductor’s </a:t>
            </a:r>
            <a:r>
              <a:rPr lang="en-US" sz="2400" b="1" dirty="0"/>
              <a:t>impedance</a:t>
            </a:r>
            <a:r>
              <a:rPr lang="en-US" sz="2400" dirty="0"/>
              <a:t> is like a resistor’s resistance because they both oppose current flow in a circuit</a:t>
            </a:r>
          </a:p>
          <a:p>
            <a:r>
              <a:rPr lang="en-US" sz="2400" dirty="0"/>
              <a:t>Without a voltage source driving an RLC circuit, the initial energy will drain away due to heat loss in the resistor, but the circuit will still </a:t>
            </a:r>
            <a:r>
              <a:rPr lang="en-US" sz="2400" b="1" dirty="0"/>
              <a:t>oscillate</a:t>
            </a:r>
            <a:r>
              <a:rPr lang="en-US" sz="2400" dirty="0"/>
              <a:t> even while the voltage decays to zero</a:t>
            </a:r>
          </a:p>
          <a:p>
            <a:r>
              <a:rPr lang="en-US" sz="2400" dirty="0"/>
              <a:t>However, if an RLC circuit is continuously driven with a </a:t>
            </a:r>
            <a:r>
              <a:rPr lang="en-US" sz="2400" b="1" dirty="0"/>
              <a:t>sinusoidal</a:t>
            </a:r>
            <a:r>
              <a:rPr lang="en-US" sz="2400" dirty="0"/>
              <a:t> voltage source, there is a specific </a:t>
            </a:r>
            <a:r>
              <a:rPr lang="en-US" sz="2400" b="1" dirty="0"/>
              <a:t>frequency</a:t>
            </a:r>
            <a:r>
              <a:rPr lang="en-US" sz="2400" dirty="0"/>
              <a:t> at which the RLC circuit will </a:t>
            </a:r>
            <a:r>
              <a:rPr lang="en-US" sz="2400" b="1" dirty="0"/>
              <a:t>resonate</a:t>
            </a:r>
            <a:r>
              <a:rPr lang="en-US" sz="2400" dirty="0"/>
              <a:t>, meaning it will achieve the </a:t>
            </a:r>
            <a:r>
              <a:rPr lang="en-US" sz="2400" b="1" dirty="0"/>
              <a:t>maximum</a:t>
            </a:r>
            <a:r>
              <a:rPr lang="en-US" sz="2400" dirty="0"/>
              <a:t> possible voltage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37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10779</TotalTime>
  <Words>756</Words>
  <Application>Microsoft Office PowerPoint</Application>
  <PresentationFormat>On-screen Show (4:3)</PresentationFormat>
  <Paragraphs>148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PowerPoint Presentation</vt:lpstr>
      <vt:lpstr>Our Challenge: Model an Inductor Circuit</vt:lpstr>
      <vt:lpstr>An Analog to Simple Harmonic Motion</vt:lpstr>
      <vt:lpstr>Modeling an RLC Circuit</vt:lpstr>
      <vt:lpstr>Our Solution</vt:lpstr>
      <vt:lpstr>Our Solution</vt:lpstr>
      <vt:lpstr>Our Results</vt:lpstr>
      <vt:lpstr>Our Results</vt:lpstr>
      <vt:lpstr>Driven Physical Oscillators - Resonance</vt:lpstr>
      <vt:lpstr>Driven Electrical Oscillators - Resonance</vt:lpstr>
      <vt:lpstr>Modeling a Driven RLC Circuit</vt:lpstr>
      <vt:lpstr>Our Revised Solution</vt:lpstr>
      <vt:lpstr>Our Revised Solution</vt:lpstr>
      <vt:lpstr>Our Revised Results</vt:lpstr>
      <vt:lpstr>Checking Our Results</vt:lpstr>
      <vt:lpstr>Team 08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1083</cp:revision>
  <cp:lastPrinted>2015-06-01T00:45:11Z</cp:lastPrinted>
  <dcterms:created xsi:type="dcterms:W3CDTF">2014-09-21T17:58:26Z</dcterms:created>
  <dcterms:modified xsi:type="dcterms:W3CDTF">2023-12-18T23:15:24Z</dcterms:modified>
</cp:coreProperties>
</file>