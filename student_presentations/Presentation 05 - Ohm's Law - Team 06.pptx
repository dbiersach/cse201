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440" r:id="rId2"/>
    <p:sldId id="1301" r:id="rId3"/>
    <p:sldId id="1303" r:id="rId4"/>
    <p:sldId id="1305" r:id="rId5"/>
    <p:sldId id="1308" r:id="rId6"/>
    <p:sldId id="1340" r:id="rId7"/>
    <p:sldId id="1071" r:id="rId8"/>
    <p:sldId id="1072" r:id="rId9"/>
    <p:sldId id="1281" r:id="rId10"/>
    <p:sldId id="1248" r:id="rId11"/>
    <p:sldId id="1073" r:id="rId12"/>
    <p:sldId id="1074" r:id="rId13"/>
    <p:sldId id="1331" r:id="rId14"/>
    <p:sldId id="1279" r:id="rId15"/>
    <p:sldId id="1341" r:id="rId16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3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>
                <a:solidFill>
                  <a:prstClr val="black"/>
                </a:solidFill>
                <a:latin typeface="Calibri" panose="020F0502020204030204"/>
              </a:rPr>
              <a:t>1</a:t>
            </a:fld>
            <a:endParaRPr lang="en-US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Voltage, Current, Resistance</a:t>
            </a:r>
            <a:endParaRPr lang="en-US" sz="32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B1CDA1-D649-481D-9BD2-0EF499E9BD4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212" y="1342339"/>
            <a:ext cx="2330413" cy="32625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8B044F-E019-4940-9950-055A85364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620996"/>
            <a:ext cx="4287552" cy="3616007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9447FB13-8BE8-4A2F-8F70-4020E5D2ADEF}"/>
              </a:ext>
            </a:extLst>
          </p:cNvPr>
          <p:cNvGrpSpPr/>
          <p:nvPr/>
        </p:nvGrpSpPr>
        <p:grpSpPr>
          <a:xfrm>
            <a:off x="3611880" y="5463774"/>
            <a:ext cx="2573435" cy="981541"/>
            <a:chOff x="2530406" y="5557372"/>
            <a:chExt cx="2573435" cy="98154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F9A9B07-6DB3-429B-B6A7-430C7FA7C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30406" y="5557372"/>
              <a:ext cx="981541" cy="98154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3985311-422D-45DF-A137-C7E1ADABD39F}"/>
                </a:ext>
              </a:extLst>
            </p:cNvPr>
            <p:cNvSpPr txBox="1"/>
            <p:nvPr/>
          </p:nvSpPr>
          <p:spPr>
            <a:xfrm>
              <a:off x="3511947" y="5755755"/>
              <a:ext cx="15918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James </a:t>
              </a:r>
              <a:r>
                <a:rPr lang="en-US" sz="1600" b="1" dirty="0"/>
                <a:t>Watt</a:t>
              </a:r>
            </a:p>
            <a:p>
              <a:pPr algn="ctr"/>
              <a:r>
                <a:rPr lang="en-US" sz="1600" dirty="0"/>
                <a:t>(1736 – 1819)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E39C972-53CC-4A2E-832D-EAF2C578F188}"/>
              </a:ext>
            </a:extLst>
          </p:cNvPr>
          <p:cNvSpPr/>
          <p:nvPr/>
        </p:nvSpPr>
        <p:spPr>
          <a:xfrm>
            <a:off x="4572000" y="4103827"/>
            <a:ext cx="541325" cy="38039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9E7C53-9550-43DB-968E-E7E37E728AD4}"/>
              </a:ext>
            </a:extLst>
          </p:cNvPr>
          <p:cNvSpPr/>
          <p:nvPr/>
        </p:nvSpPr>
        <p:spPr>
          <a:xfrm>
            <a:off x="3511947" y="4915814"/>
            <a:ext cx="1220987" cy="3803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5BEBD1C-1E96-4BD8-95B0-5EAF97058ABE}"/>
              </a:ext>
            </a:extLst>
          </p:cNvPr>
          <p:cNvCxnSpPr>
            <a:stCxn id="11" idx="1"/>
            <a:endCxn id="12" idx="0"/>
          </p:cNvCxnSpPr>
          <p:nvPr/>
        </p:nvCxnSpPr>
        <p:spPr>
          <a:xfrm rot="10800000" flipV="1">
            <a:off x="4122442" y="4294022"/>
            <a:ext cx="449559" cy="621791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C863D857-B8AF-43E6-999E-A2B19C8B393A}"/>
              </a:ext>
            </a:extLst>
          </p:cNvPr>
          <p:cNvSpPr/>
          <p:nvPr/>
        </p:nvSpPr>
        <p:spPr>
          <a:xfrm>
            <a:off x="5830214" y="2801721"/>
            <a:ext cx="1447191" cy="5559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5BA384A-397C-4920-9C70-11F555F6606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563" y="4807637"/>
            <a:ext cx="2697710" cy="17090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65A394-5516-3B77-BA6F-651A0056E96F}"/>
                  </a:ext>
                </a:extLst>
              </p:cNvPr>
              <p:cNvSpPr txBox="1"/>
              <p:nvPr/>
            </p:nvSpPr>
            <p:spPr>
              <a:xfrm>
                <a:off x="7681945" y="2865257"/>
                <a:ext cx="9928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𝐼𝑅</m:t>
                      </m:r>
                    </m:oMath>
                  </m:oMathPara>
                </a14:m>
                <a:endParaRPr lang="en-US" sz="2400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65A394-5516-3B77-BA6F-651A0056E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945" y="2865257"/>
                <a:ext cx="99283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E66DED5-569A-B635-6C52-12773160233A}"/>
              </a:ext>
            </a:extLst>
          </p:cNvPr>
          <p:cNvSpPr txBox="1"/>
          <p:nvPr/>
        </p:nvSpPr>
        <p:spPr>
          <a:xfrm>
            <a:off x="7535918" y="2506717"/>
            <a:ext cx="1284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Ohm's Law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37559-B470-876D-BF59-7954F582E076}"/>
              </a:ext>
            </a:extLst>
          </p:cNvPr>
          <p:cNvSpPr txBox="1"/>
          <p:nvPr/>
        </p:nvSpPr>
        <p:spPr>
          <a:xfrm>
            <a:off x="440828" y="1399673"/>
            <a:ext cx="803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Current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D80E27-C486-2E6F-88D3-D01440AF0AEF}"/>
              </a:ext>
            </a:extLst>
          </p:cNvPr>
          <p:cNvSpPr txBox="1"/>
          <p:nvPr/>
        </p:nvSpPr>
        <p:spPr>
          <a:xfrm>
            <a:off x="440828" y="2805384"/>
            <a:ext cx="59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Volts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AFC806-B7F4-8559-4CFD-93494CD72DF5}"/>
              </a:ext>
            </a:extLst>
          </p:cNvPr>
          <p:cNvSpPr txBox="1"/>
          <p:nvPr/>
        </p:nvSpPr>
        <p:spPr>
          <a:xfrm>
            <a:off x="2451834" y="2805384"/>
            <a:ext cx="1013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Resistance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20A980-ED69-7694-4F66-CCEE043AE4F2}"/>
              </a:ext>
            </a:extLst>
          </p:cNvPr>
          <p:cNvSpPr txBox="1"/>
          <p:nvPr/>
        </p:nvSpPr>
        <p:spPr>
          <a:xfrm>
            <a:off x="1160648" y="5034595"/>
            <a:ext cx="1078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A Circuit</a:t>
            </a:r>
          </a:p>
          <a:p>
            <a:pPr algn="ctr"/>
            <a:r>
              <a:rPr lang="en-US" sz="14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Schematic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5FAB28-5545-12BC-2768-590CB73803F7}"/>
              </a:ext>
            </a:extLst>
          </p:cNvPr>
          <p:cNvSpPr txBox="1"/>
          <p:nvPr/>
        </p:nvSpPr>
        <p:spPr>
          <a:xfrm>
            <a:off x="6185315" y="5617687"/>
            <a:ext cx="10136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Joules (Energy) per second</a:t>
            </a:r>
          </a:p>
        </p:txBody>
      </p:sp>
    </p:spTree>
    <p:extLst>
      <p:ext uri="{BB962C8B-B14F-4D97-AF65-F5344CB8AC3E}">
        <p14:creationId xmlns:p14="http://schemas.microsoft.com/office/powerpoint/2010/main" val="76326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Walking in Ohm's Footsteps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We want to sample (measure) the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current</a:t>
                </a:r>
                <a:r>
                  <a:rPr lang="en-US" sz="2400" dirty="0"/>
                  <a:t> flowing through an </a:t>
                </a:r>
                <a:r>
                  <a:rPr lang="en-US" sz="2400" i="1" dirty="0"/>
                  <a:t>unknown</a:t>
                </a:r>
                <a:r>
                  <a:rPr lang="en-US" sz="2400" dirty="0"/>
                  <a:t> resistor as we slowly increase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voltage</a:t>
                </a:r>
              </a:p>
              <a:p>
                <a:r>
                  <a:rPr lang="en-US" sz="2400" dirty="0"/>
                  <a:t>Using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linear regression </a:t>
                </a:r>
                <a:r>
                  <a:rPr lang="en-US" sz="2400" dirty="0"/>
                  <a:t>(method of least squares), we can calculate the line of best fit which passes through the observed data values (volts vs. current)</a:t>
                </a:r>
              </a:p>
              <a:p>
                <a:r>
                  <a:rPr lang="en-US" sz="2400" dirty="0"/>
                  <a:t>The slope of that line is the ratio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i="1">
                            <a:ln>
                              <a:solidFill>
                                <a:srgbClr val="0070C0"/>
                              </a:solidFill>
                            </a:ln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n>
                              <a:solidFill>
                                <a:srgbClr val="0070C0"/>
                              </a:solidFill>
                            </a:ln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sz="2400" i="1">
                            <a:ln>
                              <a:solidFill>
                                <a:srgbClr val="0070C0"/>
                              </a:solidFill>
                            </a:ln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sz="2400" dirty="0"/>
                  <a:t> which will tell us the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resistance</a:t>
                </a:r>
                <a:r>
                  <a:rPr lang="en-US" sz="2400" dirty="0"/>
                  <a:t> in Ohms of the unknown resistor under test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642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Walking in Ohm's Footsteps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782799" cy="4530726"/>
          </a:xfrm>
        </p:spPr>
        <p:txBody>
          <a:bodyPr>
            <a:normAutofit/>
          </a:bodyPr>
          <a:lstStyle/>
          <a:p>
            <a:r>
              <a:rPr lang="en-US" sz="2400" dirty="0"/>
              <a:t>The KB2040 does not have a DAC, (only an ADC) so we will command the </a:t>
            </a:r>
            <a:r>
              <a:rPr lang="en-US" sz="2400" b="1" dirty="0">
                <a:solidFill>
                  <a:srgbClr val="0070C0"/>
                </a:solidFill>
              </a:rPr>
              <a:t>Adafruit MCP4725 12-bit DAC </a:t>
            </a:r>
            <a:r>
              <a:rPr lang="en-US" sz="2400" dirty="0"/>
              <a:t>using the I</a:t>
            </a:r>
            <a:r>
              <a:rPr lang="en-US" sz="2400" baseline="30000" dirty="0"/>
              <a:t>2</a:t>
            </a:r>
            <a:r>
              <a:rPr lang="en-US" sz="2400" dirty="0"/>
              <a:t>C protocol</a:t>
            </a:r>
          </a:p>
          <a:p>
            <a:r>
              <a:rPr lang="en-US" sz="2400" dirty="0"/>
              <a:t>The KB2040 built-in ADC is only 10-bits (4,096 distinct voltage levels) so we will control the </a:t>
            </a:r>
            <a:r>
              <a:rPr lang="en-US" sz="2400" b="1" dirty="0">
                <a:solidFill>
                  <a:srgbClr val="00B050"/>
                </a:solidFill>
              </a:rPr>
              <a:t>Adafruit ADS1115 16-bit ADC </a:t>
            </a:r>
            <a:r>
              <a:rPr lang="en-US" sz="2400" dirty="0"/>
              <a:t>using I</a:t>
            </a:r>
            <a:r>
              <a:rPr lang="en-US" sz="2400" baseline="30000" dirty="0"/>
              <a:t>2</a:t>
            </a:r>
            <a:r>
              <a:rPr lang="en-US" sz="2400" dirty="0"/>
              <a:t>C</a:t>
            </a:r>
          </a:p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FF0000"/>
                </a:solidFill>
              </a:rPr>
              <a:t>INA219 DC Current Sensor </a:t>
            </a:r>
            <a:r>
              <a:rPr lang="en-US" sz="2400" dirty="0"/>
              <a:t>can measure up to +26V @ </a:t>
            </a:r>
            <a:r>
              <a:rPr lang="en-US" sz="2400" b="1" dirty="0"/>
              <a:t>3.2 Amps </a:t>
            </a:r>
            <a:r>
              <a:rPr lang="en-US" sz="2400" dirty="0"/>
              <a:t>with less than 1% error and also uses I</a:t>
            </a:r>
            <a:r>
              <a:rPr lang="en-US" sz="2400" baseline="30000" dirty="0"/>
              <a:t>2</a:t>
            </a:r>
            <a:r>
              <a:rPr lang="en-US" sz="2400" dirty="0"/>
              <a:t>C to communicate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6D51A0-3F57-B7AF-2A50-E8AFEA5B4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229" y="4860570"/>
            <a:ext cx="1547110" cy="1369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24242C-2B62-A14A-CCAE-AE826A293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126" y="3429000"/>
            <a:ext cx="1614234" cy="11223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894BE2-3820-CAFF-86E9-73120216F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241" y="1825625"/>
            <a:ext cx="1649086" cy="114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91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A7AE138-B958-A153-0197-15A366E61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04" y="1545314"/>
            <a:ext cx="7734318" cy="43533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I</a:t>
            </a:r>
            <a:r>
              <a:rPr lang="en-US" sz="3200" baseline="30000" dirty="0">
                <a:latin typeface="+mn-lt"/>
              </a:rPr>
              <a:t>2</a:t>
            </a:r>
            <a:r>
              <a:rPr lang="en-US" sz="3200" dirty="0">
                <a:latin typeface="+mn-lt"/>
              </a:rPr>
              <a:t>C Bus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E43655-4FDE-B128-CC61-B3D138E3D2A3}"/>
              </a:ext>
            </a:extLst>
          </p:cNvPr>
          <p:cNvSpPr/>
          <p:nvPr/>
        </p:nvSpPr>
        <p:spPr>
          <a:xfrm>
            <a:off x="1903752" y="3282846"/>
            <a:ext cx="360818" cy="7644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0023E3-D887-3723-774E-7A8E8C989B5F}"/>
              </a:ext>
            </a:extLst>
          </p:cNvPr>
          <p:cNvSpPr txBox="1"/>
          <p:nvPr/>
        </p:nvSpPr>
        <p:spPr>
          <a:xfrm>
            <a:off x="464696" y="4784587"/>
            <a:ext cx="1993692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SDA</a:t>
            </a:r>
            <a:r>
              <a:rPr lang="en-US" dirty="0"/>
              <a:t> = Serial Data</a:t>
            </a:r>
          </a:p>
          <a:p>
            <a:pPr algn="ctr"/>
            <a:r>
              <a:rPr lang="en-US" b="1" dirty="0"/>
              <a:t>SCL</a:t>
            </a:r>
            <a:r>
              <a:rPr lang="en-US" dirty="0"/>
              <a:t> = Serial Clock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rgbClr val="7030A0"/>
                </a:solidFill>
              </a:rPr>
              <a:t>The I</a:t>
            </a:r>
            <a:r>
              <a:rPr lang="en-US" baseline="30000" dirty="0">
                <a:solidFill>
                  <a:srgbClr val="7030A0"/>
                </a:solidFill>
              </a:rPr>
              <a:t>2</a:t>
            </a:r>
            <a:r>
              <a:rPr lang="en-US" dirty="0">
                <a:solidFill>
                  <a:srgbClr val="7030A0"/>
                </a:solidFill>
              </a:rPr>
              <a:t>C </a:t>
            </a:r>
            <a:r>
              <a:rPr lang="en-US" b="1" dirty="0">
                <a:solidFill>
                  <a:srgbClr val="7030A0"/>
                </a:solidFill>
              </a:rPr>
              <a:t>bus</a:t>
            </a:r>
            <a:r>
              <a:rPr lang="en-US" dirty="0">
                <a:solidFill>
                  <a:srgbClr val="7030A0"/>
                </a:solidFill>
              </a:rPr>
              <a:t> only needs </a:t>
            </a:r>
            <a:r>
              <a:rPr lang="en-US" u="sng" dirty="0">
                <a:solidFill>
                  <a:srgbClr val="7030A0"/>
                </a:solidFill>
              </a:rPr>
              <a:t>two</a:t>
            </a:r>
            <a:r>
              <a:rPr lang="en-US" dirty="0">
                <a:solidFill>
                  <a:srgbClr val="7030A0"/>
                </a:solidFill>
              </a:rPr>
              <a:t> wires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1CE562-0B25-759B-C5BA-35C8CD61A6D9}"/>
              </a:ext>
            </a:extLst>
          </p:cNvPr>
          <p:cNvSpPr txBox="1"/>
          <p:nvPr/>
        </p:nvSpPr>
        <p:spPr>
          <a:xfrm>
            <a:off x="6932952" y="1041334"/>
            <a:ext cx="18437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Every device on the bus needs to have a </a:t>
            </a:r>
            <a:r>
              <a:rPr lang="en-US" sz="1600" b="1" dirty="0">
                <a:solidFill>
                  <a:srgbClr val="7030A0"/>
                </a:solidFill>
              </a:rPr>
              <a:t>unique</a:t>
            </a:r>
            <a:r>
              <a:rPr lang="en-US" sz="1600" dirty="0">
                <a:solidFill>
                  <a:srgbClr val="7030A0"/>
                </a:solidFill>
              </a:rPr>
              <a:t> </a:t>
            </a:r>
            <a:r>
              <a:rPr lang="en-US" sz="1600" u="sng" dirty="0">
                <a:solidFill>
                  <a:srgbClr val="7030A0"/>
                </a:solidFill>
              </a:rPr>
              <a:t>address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D4BD6C-6F2D-FF8E-F878-5901B280EF81}"/>
              </a:ext>
            </a:extLst>
          </p:cNvPr>
          <p:cNvSpPr/>
          <p:nvPr/>
        </p:nvSpPr>
        <p:spPr>
          <a:xfrm>
            <a:off x="6457950" y="2121108"/>
            <a:ext cx="475002" cy="2089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2D9B4A7-EF87-B5DC-FFE4-62717EF99BEA}"/>
              </a:ext>
            </a:extLst>
          </p:cNvPr>
          <p:cNvCxnSpPr>
            <a:stCxn id="8" idx="1"/>
            <a:endCxn id="9" idx="0"/>
          </p:cNvCxnSpPr>
          <p:nvPr/>
        </p:nvCxnSpPr>
        <p:spPr>
          <a:xfrm rot="10800000" flipV="1">
            <a:off x="6695452" y="1456832"/>
            <a:ext cx="237501" cy="664275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61CB88D-C21F-97B3-41A1-E5C95797733C}"/>
              </a:ext>
            </a:extLst>
          </p:cNvPr>
          <p:cNvSpPr txBox="1"/>
          <p:nvPr/>
        </p:nvSpPr>
        <p:spPr>
          <a:xfrm>
            <a:off x="4532026" y="5646635"/>
            <a:ext cx="127416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7030A0"/>
                </a:solidFill>
              </a:rPr>
              <a:t>Controller_02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AE4DBC-383A-9954-36A5-B4290FEDCEC5}"/>
              </a:ext>
            </a:extLst>
          </p:cNvPr>
          <p:cNvSpPr txBox="1"/>
          <p:nvPr/>
        </p:nvSpPr>
        <p:spPr>
          <a:xfrm>
            <a:off x="2858125" y="5646636"/>
            <a:ext cx="127416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7030A0"/>
                </a:solidFill>
              </a:rPr>
              <a:t>Peripheral_01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2FEE93-A0AB-3744-AB7F-58AB07C762D1}"/>
              </a:ext>
            </a:extLst>
          </p:cNvPr>
          <p:cNvSpPr txBox="1"/>
          <p:nvPr/>
        </p:nvSpPr>
        <p:spPr>
          <a:xfrm>
            <a:off x="2022877" y="1549633"/>
            <a:ext cx="127416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7030A0"/>
                </a:solidFill>
              </a:rPr>
              <a:t>Controller_01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1D3731-25C6-7288-C863-10DF4852CFA7}"/>
              </a:ext>
            </a:extLst>
          </p:cNvPr>
          <p:cNvSpPr txBox="1"/>
          <p:nvPr/>
        </p:nvSpPr>
        <p:spPr>
          <a:xfrm>
            <a:off x="3605274" y="1549633"/>
            <a:ext cx="127416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7030A0"/>
                </a:solidFill>
              </a:rPr>
              <a:t>Peripheral_02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4E528-FA3E-19C7-A111-A24EC867486F}"/>
              </a:ext>
            </a:extLst>
          </p:cNvPr>
          <p:cNvSpPr txBox="1"/>
          <p:nvPr/>
        </p:nvSpPr>
        <p:spPr>
          <a:xfrm>
            <a:off x="5367834" y="1549633"/>
            <a:ext cx="127416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7030A0"/>
                </a:solidFill>
              </a:rPr>
              <a:t>Peripheral_03</a:t>
            </a:r>
          </a:p>
        </p:txBody>
      </p:sp>
    </p:spTree>
    <p:extLst>
      <p:ext uri="{BB962C8B-B14F-4D97-AF65-F5344CB8AC3E}">
        <p14:creationId xmlns:p14="http://schemas.microsoft.com/office/powerpoint/2010/main" val="249442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13" grpId="0" animBg="1"/>
      <p:bldP spid="14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Initial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6D51A0-3F57-B7AF-2A50-E8AFEA5B4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12034" y="1006162"/>
            <a:ext cx="1547110" cy="1369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24242C-2B62-A14A-CCAE-AE826A293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01838" y="4792977"/>
            <a:ext cx="1614234" cy="11223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894BE2-3820-CAFF-86E9-73120216F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74838" y="2934898"/>
            <a:ext cx="1649086" cy="114146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141155-698E-5A24-E014-0ADF71E55F68}"/>
              </a:ext>
            </a:extLst>
          </p:cNvPr>
          <p:cNvCxnSpPr>
            <a:cxnSpLocks/>
          </p:cNvCxnSpPr>
          <p:nvPr/>
        </p:nvCxnSpPr>
        <p:spPr>
          <a:xfrm>
            <a:off x="1986197" y="1735659"/>
            <a:ext cx="532151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AA22A4-399F-F5CC-F0A6-D904F269A820}"/>
              </a:ext>
            </a:extLst>
          </p:cNvPr>
          <p:cNvCxnSpPr>
            <a:cxnSpLocks/>
          </p:cNvCxnSpPr>
          <p:nvPr/>
        </p:nvCxnSpPr>
        <p:spPr>
          <a:xfrm>
            <a:off x="1986197" y="3589443"/>
            <a:ext cx="532151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265F66-2C99-0595-F7A7-930F4050BF0D}"/>
              </a:ext>
            </a:extLst>
          </p:cNvPr>
          <p:cNvCxnSpPr>
            <a:cxnSpLocks/>
          </p:cNvCxnSpPr>
          <p:nvPr/>
        </p:nvCxnSpPr>
        <p:spPr>
          <a:xfrm>
            <a:off x="2005247" y="5436877"/>
            <a:ext cx="532151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97EEFD-0B82-2574-0D7E-B76446CB6928}"/>
              </a:ext>
            </a:extLst>
          </p:cNvPr>
          <p:cNvCxnSpPr>
            <a:cxnSpLocks/>
          </p:cNvCxnSpPr>
          <p:nvPr/>
        </p:nvCxnSpPr>
        <p:spPr>
          <a:xfrm flipH="1" flipV="1">
            <a:off x="2525843" y="699072"/>
            <a:ext cx="0" cy="4754825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C886418-907C-C476-B0AE-B537EB7152B0}"/>
              </a:ext>
            </a:extLst>
          </p:cNvPr>
          <p:cNvCxnSpPr>
            <a:cxnSpLocks/>
          </p:cNvCxnSpPr>
          <p:nvPr/>
        </p:nvCxnSpPr>
        <p:spPr>
          <a:xfrm>
            <a:off x="1986197" y="1577196"/>
            <a:ext cx="734516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08F8E98-8E3F-4BB3-3874-20C82EA84C9D}"/>
              </a:ext>
            </a:extLst>
          </p:cNvPr>
          <p:cNvCxnSpPr>
            <a:cxnSpLocks/>
          </p:cNvCxnSpPr>
          <p:nvPr/>
        </p:nvCxnSpPr>
        <p:spPr>
          <a:xfrm>
            <a:off x="1986197" y="3430980"/>
            <a:ext cx="753566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E9427FA-F5FC-5D0F-F216-DE25E46EB0F3}"/>
              </a:ext>
            </a:extLst>
          </p:cNvPr>
          <p:cNvCxnSpPr>
            <a:cxnSpLocks/>
          </p:cNvCxnSpPr>
          <p:nvPr/>
        </p:nvCxnSpPr>
        <p:spPr>
          <a:xfrm>
            <a:off x="2005247" y="5278414"/>
            <a:ext cx="734516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790C6E9-BF2D-9492-67FC-B78640C95201}"/>
              </a:ext>
            </a:extLst>
          </p:cNvPr>
          <p:cNvCxnSpPr>
            <a:cxnSpLocks/>
          </p:cNvCxnSpPr>
          <p:nvPr/>
        </p:nvCxnSpPr>
        <p:spPr>
          <a:xfrm flipH="1" flipV="1">
            <a:off x="2728208" y="699072"/>
            <a:ext cx="0" cy="4595217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2898F961-D828-D293-F17E-60EA06144C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397694"/>
            <a:ext cx="854213" cy="2062611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8F7387-C008-800C-5F1D-B8475FE66BB4}"/>
              </a:ext>
            </a:extLst>
          </p:cNvPr>
          <p:cNvCxnSpPr>
            <a:cxnSpLocks/>
          </p:cNvCxnSpPr>
          <p:nvPr/>
        </p:nvCxnSpPr>
        <p:spPr>
          <a:xfrm flipH="1">
            <a:off x="801061" y="5111646"/>
            <a:ext cx="398152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48C2DB5-99B7-7A57-D667-FB2B3429BDE8}"/>
              </a:ext>
            </a:extLst>
          </p:cNvPr>
          <p:cNvCxnSpPr>
            <a:cxnSpLocks/>
          </p:cNvCxnSpPr>
          <p:nvPr/>
        </p:nvCxnSpPr>
        <p:spPr>
          <a:xfrm>
            <a:off x="801061" y="5092596"/>
            <a:ext cx="0" cy="142012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EA2632-5AC0-266F-40F9-EC3A96BD9FB8}"/>
              </a:ext>
            </a:extLst>
          </p:cNvPr>
          <p:cNvCxnSpPr>
            <a:cxnSpLocks/>
          </p:cNvCxnSpPr>
          <p:nvPr/>
        </p:nvCxnSpPr>
        <p:spPr>
          <a:xfrm flipV="1">
            <a:off x="781050" y="6498627"/>
            <a:ext cx="3378994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30C6029-2E30-B30C-13E0-EE3E785861EB}"/>
              </a:ext>
            </a:extLst>
          </p:cNvPr>
          <p:cNvCxnSpPr>
            <a:cxnSpLocks/>
          </p:cNvCxnSpPr>
          <p:nvPr/>
        </p:nvCxnSpPr>
        <p:spPr>
          <a:xfrm>
            <a:off x="4137289" y="2816902"/>
            <a:ext cx="0" cy="367597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206F553-D660-6D40-9635-CA05D0CE93F8}"/>
              </a:ext>
            </a:extLst>
          </p:cNvPr>
          <p:cNvCxnSpPr>
            <a:cxnSpLocks/>
          </p:cNvCxnSpPr>
          <p:nvPr/>
        </p:nvCxnSpPr>
        <p:spPr>
          <a:xfrm flipH="1">
            <a:off x="4137289" y="2835950"/>
            <a:ext cx="910961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3B0CC3F-3536-1337-FF20-88AF572DD1D8}"/>
              </a:ext>
            </a:extLst>
          </p:cNvPr>
          <p:cNvCxnSpPr>
            <a:cxnSpLocks/>
          </p:cNvCxnSpPr>
          <p:nvPr/>
        </p:nvCxnSpPr>
        <p:spPr>
          <a:xfrm flipH="1">
            <a:off x="923925" y="5278414"/>
            <a:ext cx="275288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E02D49F-227A-D665-5988-2EDCC6FCFF23}"/>
              </a:ext>
            </a:extLst>
          </p:cNvPr>
          <p:cNvCxnSpPr>
            <a:cxnSpLocks/>
          </p:cNvCxnSpPr>
          <p:nvPr/>
        </p:nvCxnSpPr>
        <p:spPr>
          <a:xfrm>
            <a:off x="943167" y="5261745"/>
            <a:ext cx="0" cy="107948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09407D5-5880-8D75-3ADF-99FB37D8AB2D}"/>
              </a:ext>
            </a:extLst>
          </p:cNvPr>
          <p:cNvCxnSpPr>
            <a:cxnSpLocks/>
          </p:cNvCxnSpPr>
          <p:nvPr/>
        </p:nvCxnSpPr>
        <p:spPr>
          <a:xfrm flipV="1">
            <a:off x="943167" y="6326106"/>
            <a:ext cx="339678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36C4FF9-E7DA-BE3D-D507-FFF19070A7AA}"/>
              </a:ext>
            </a:extLst>
          </p:cNvPr>
          <p:cNvCxnSpPr>
            <a:cxnSpLocks/>
          </p:cNvCxnSpPr>
          <p:nvPr/>
        </p:nvCxnSpPr>
        <p:spPr>
          <a:xfrm>
            <a:off x="4339953" y="4099810"/>
            <a:ext cx="0" cy="224141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880541D-9B35-F790-5A04-8F13592E755D}"/>
              </a:ext>
            </a:extLst>
          </p:cNvPr>
          <p:cNvCxnSpPr>
            <a:cxnSpLocks/>
          </p:cNvCxnSpPr>
          <p:nvPr/>
        </p:nvCxnSpPr>
        <p:spPr>
          <a:xfrm>
            <a:off x="4339953" y="4087201"/>
            <a:ext cx="679722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3A4FC43-30D6-28D2-50FC-BBEC4C674CE2}"/>
              </a:ext>
            </a:extLst>
          </p:cNvPr>
          <p:cNvCxnSpPr>
            <a:cxnSpLocks/>
          </p:cNvCxnSpPr>
          <p:nvPr/>
        </p:nvCxnSpPr>
        <p:spPr>
          <a:xfrm>
            <a:off x="1962150" y="1266669"/>
            <a:ext cx="32822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F8F84D9-F18E-E59D-D5D9-17B232EE1F5A}"/>
              </a:ext>
            </a:extLst>
          </p:cNvPr>
          <p:cNvCxnSpPr>
            <a:cxnSpLocks/>
          </p:cNvCxnSpPr>
          <p:nvPr/>
        </p:nvCxnSpPr>
        <p:spPr>
          <a:xfrm>
            <a:off x="2005247" y="3914931"/>
            <a:ext cx="2851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5F047C4-913A-25DF-490A-8A1F7490F9C8}"/>
              </a:ext>
            </a:extLst>
          </p:cNvPr>
          <p:cNvCxnSpPr>
            <a:cxnSpLocks/>
          </p:cNvCxnSpPr>
          <p:nvPr/>
        </p:nvCxnSpPr>
        <p:spPr>
          <a:xfrm>
            <a:off x="2005247" y="5746229"/>
            <a:ext cx="2851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7189EC3-DB36-E5D3-BC17-46AA2FED0402}"/>
              </a:ext>
            </a:extLst>
          </p:cNvPr>
          <p:cNvCxnSpPr>
            <a:cxnSpLocks/>
          </p:cNvCxnSpPr>
          <p:nvPr/>
        </p:nvCxnSpPr>
        <p:spPr>
          <a:xfrm flipV="1">
            <a:off x="2285376" y="699072"/>
            <a:ext cx="4996" cy="5054652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2BD4E2D-211B-5D32-B624-AFA27E667307}"/>
              </a:ext>
            </a:extLst>
          </p:cNvPr>
          <p:cNvCxnSpPr>
            <a:cxnSpLocks/>
          </p:cNvCxnSpPr>
          <p:nvPr/>
        </p:nvCxnSpPr>
        <p:spPr>
          <a:xfrm>
            <a:off x="1962150" y="2063646"/>
            <a:ext cx="32822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99208D4-4D39-A89B-517E-507A7F2FFE97}"/>
              </a:ext>
            </a:extLst>
          </p:cNvPr>
          <p:cNvCxnSpPr>
            <a:cxnSpLocks/>
          </p:cNvCxnSpPr>
          <p:nvPr/>
        </p:nvCxnSpPr>
        <p:spPr>
          <a:xfrm>
            <a:off x="1962150" y="1898755"/>
            <a:ext cx="10246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899F108-77B9-B42E-11DB-9B38C6D3B9F2}"/>
              </a:ext>
            </a:extLst>
          </p:cNvPr>
          <p:cNvCxnSpPr>
            <a:cxnSpLocks/>
          </p:cNvCxnSpPr>
          <p:nvPr/>
        </p:nvCxnSpPr>
        <p:spPr>
          <a:xfrm>
            <a:off x="1986197" y="3745045"/>
            <a:ext cx="100062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E7FA78A-9AA7-2113-DE8A-5005A87FBCA1}"/>
              </a:ext>
            </a:extLst>
          </p:cNvPr>
          <p:cNvCxnSpPr>
            <a:cxnSpLocks/>
          </p:cNvCxnSpPr>
          <p:nvPr/>
        </p:nvCxnSpPr>
        <p:spPr>
          <a:xfrm>
            <a:off x="2010244" y="5591335"/>
            <a:ext cx="96842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6030694-BBB0-C7C6-3E0A-F81519E46C65}"/>
              </a:ext>
            </a:extLst>
          </p:cNvPr>
          <p:cNvCxnSpPr>
            <a:cxnSpLocks/>
          </p:cNvCxnSpPr>
          <p:nvPr/>
        </p:nvCxnSpPr>
        <p:spPr>
          <a:xfrm flipH="1" flipV="1">
            <a:off x="2975234" y="699072"/>
            <a:ext cx="9094" cy="490017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616AE83-04EE-4DC3-0972-4FC9898C7CBD}"/>
              </a:ext>
            </a:extLst>
          </p:cNvPr>
          <p:cNvCxnSpPr>
            <a:cxnSpLocks/>
          </p:cNvCxnSpPr>
          <p:nvPr/>
        </p:nvCxnSpPr>
        <p:spPr>
          <a:xfrm>
            <a:off x="2986826" y="4257209"/>
            <a:ext cx="20614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9FDDC60-43C3-78DD-5EC8-DF6118793C89}"/>
              </a:ext>
            </a:extLst>
          </p:cNvPr>
          <p:cNvCxnSpPr>
            <a:cxnSpLocks/>
          </p:cNvCxnSpPr>
          <p:nvPr/>
        </p:nvCxnSpPr>
        <p:spPr>
          <a:xfrm>
            <a:off x="1993032" y="3102968"/>
            <a:ext cx="1896916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9D196E7-B001-77DE-8223-84F27C8EE608}"/>
              </a:ext>
            </a:extLst>
          </p:cNvPr>
          <p:cNvCxnSpPr>
            <a:cxnSpLocks/>
          </p:cNvCxnSpPr>
          <p:nvPr/>
        </p:nvCxnSpPr>
        <p:spPr>
          <a:xfrm>
            <a:off x="3892329" y="2685851"/>
            <a:ext cx="0" cy="41711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6739628-530A-C37E-37BD-AEFB255231ED}"/>
              </a:ext>
            </a:extLst>
          </p:cNvPr>
          <p:cNvCxnSpPr>
            <a:cxnSpLocks/>
          </p:cNvCxnSpPr>
          <p:nvPr/>
        </p:nvCxnSpPr>
        <p:spPr>
          <a:xfrm>
            <a:off x="3871913" y="2681089"/>
            <a:ext cx="1147762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5D364E4-EC31-4433-B02C-7C33D8C1F73C}"/>
              </a:ext>
            </a:extLst>
          </p:cNvPr>
          <p:cNvCxnSpPr>
            <a:cxnSpLocks/>
          </p:cNvCxnSpPr>
          <p:nvPr/>
        </p:nvCxnSpPr>
        <p:spPr>
          <a:xfrm>
            <a:off x="1982119" y="1421569"/>
            <a:ext cx="3066131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2CA78CAD-93BB-6702-FAF2-8E9F744C764B}"/>
              </a:ext>
            </a:extLst>
          </p:cNvPr>
          <p:cNvCxnSpPr>
            <a:cxnSpLocks/>
          </p:cNvCxnSpPr>
          <p:nvPr/>
        </p:nvCxnSpPr>
        <p:spPr>
          <a:xfrm>
            <a:off x="5036343" y="1400175"/>
            <a:ext cx="0" cy="1162167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D498FBE-425D-0D88-C907-02024B9B0BBA}"/>
              </a:ext>
            </a:extLst>
          </p:cNvPr>
          <p:cNvSpPr txBox="1"/>
          <p:nvPr/>
        </p:nvSpPr>
        <p:spPr>
          <a:xfrm>
            <a:off x="2028982" y="349222"/>
            <a:ext cx="1225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</a:t>
            </a:r>
            <a:r>
              <a:rPr lang="en-US" b="1" dirty="0"/>
              <a:t> KB2040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10D13B8-4FF0-C59F-723E-A938A3019736}"/>
              </a:ext>
            </a:extLst>
          </p:cNvPr>
          <p:cNvSpPr txBox="1"/>
          <p:nvPr/>
        </p:nvSpPr>
        <p:spPr>
          <a:xfrm>
            <a:off x="5546674" y="1266669"/>
            <a:ext cx="316671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All devices on the I2C bus have their respective </a:t>
            </a:r>
            <a:r>
              <a:rPr lang="en-US" b="1" dirty="0">
                <a:solidFill>
                  <a:srgbClr val="00B0F0"/>
                </a:solidFill>
              </a:rPr>
              <a:t>SDA</a:t>
            </a:r>
            <a:r>
              <a:rPr lang="en-US" dirty="0"/>
              <a:t> and </a:t>
            </a:r>
            <a:r>
              <a:rPr lang="en-US" b="1" dirty="0">
                <a:solidFill>
                  <a:srgbClr val="7030A0"/>
                </a:solidFill>
              </a:rPr>
              <a:t>SCL</a:t>
            </a:r>
            <a:r>
              <a:rPr lang="en-US" dirty="0"/>
              <a:t> pins connected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All </a:t>
            </a:r>
            <a:r>
              <a:rPr lang="en-US" b="1" dirty="0">
                <a:solidFill>
                  <a:srgbClr val="FF0000"/>
                </a:solidFill>
              </a:rPr>
              <a:t>Vin</a:t>
            </a:r>
            <a:r>
              <a:rPr lang="en-US" dirty="0"/>
              <a:t> and </a:t>
            </a:r>
            <a:r>
              <a:rPr lang="en-US" b="1" dirty="0"/>
              <a:t>GND</a:t>
            </a:r>
            <a:r>
              <a:rPr lang="en-US" dirty="0"/>
              <a:t> pins are connected to the power rails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Vout</a:t>
            </a:r>
            <a:r>
              <a:rPr lang="en-US" dirty="0"/>
              <a:t> pin of MCP4725 DAC provides voltage to the resistor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differential inputs </a:t>
            </a:r>
            <a:r>
              <a:rPr lang="en-US" b="1" dirty="0"/>
              <a:t>A0</a:t>
            </a:r>
            <a:r>
              <a:rPr lang="en-US" dirty="0"/>
              <a:t> and </a:t>
            </a:r>
            <a:r>
              <a:rPr lang="en-US" b="1" dirty="0"/>
              <a:t>A1</a:t>
            </a:r>
            <a:r>
              <a:rPr lang="en-US" dirty="0"/>
              <a:t> of the ADS1115 ADC allow measuring the voltage drop across the resistor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b="1" dirty="0"/>
              <a:t>Vin-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/>
              <a:t>input pin on the INA219 sensor can read the current flowing through the resistor</a:t>
            </a:r>
          </a:p>
        </p:txBody>
      </p:sp>
    </p:spTree>
    <p:extLst>
      <p:ext uri="{BB962C8B-B14F-4D97-AF65-F5344CB8AC3E}">
        <p14:creationId xmlns:p14="http://schemas.microsoft.com/office/powerpoint/2010/main" val="3479366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Bipolar Junction Transistor (NPN)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0C285-A552-C359-9814-44F1A66BE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834" y="1978255"/>
            <a:ext cx="3471611" cy="45354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DA4E7-D6C8-FF92-55A7-FAC620FADE85}"/>
              </a:ext>
            </a:extLst>
          </p:cNvPr>
          <p:cNvSpPr txBox="1"/>
          <p:nvPr/>
        </p:nvSpPr>
        <p:spPr>
          <a:xfrm>
            <a:off x="3357107" y="4144779"/>
            <a:ext cx="66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Base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08EAAC-691C-926F-7955-6EB627308887}"/>
              </a:ext>
            </a:extLst>
          </p:cNvPr>
          <p:cNvSpPr txBox="1"/>
          <p:nvPr/>
        </p:nvSpPr>
        <p:spPr>
          <a:xfrm>
            <a:off x="4948563" y="3457730"/>
            <a:ext cx="1077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Collector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D77999-96A6-3FD0-55A3-3C0729BA4DFE}"/>
              </a:ext>
            </a:extLst>
          </p:cNvPr>
          <p:cNvSpPr txBox="1"/>
          <p:nvPr/>
        </p:nvSpPr>
        <p:spPr>
          <a:xfrm>
            <a:off x="4948563" y="5184097"/>
            <a:ext cx="1077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Emitter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DCA318-B609-2CC2-3C1A-CCCD806CB259}"/>
              </a:ext>
            </a:extLst>
          </p:cNvPr>
          <p:cNvSpPr txBox="1"/>
          <p:nvPr/>
        </p:nvSpPr>
        <p:spPr>
          <a:xfrm>
            <a:off x="4945104" y="2497413"/>
            <a:ext cx="1409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Unknown Resistor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BABF7A-CBCC-E485-ADA6-751C5580F452}"/>
              </a:ext>
            </a:extLst>
          </p:cNvPr>
          <p:cNvSpPr txBox="1"/>
          <p:nvPr/>
        </p:nvSpPr>
        <p:spPr>
          <a:xfrm>
            <a:off x="2178771" y="4794960"/>
            <a:ext cx="136271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330</a:t>
            </a:r>
            <a:r>
              <a:rPr lang="el-GR" b="1" dirty="0">
                <a:solidFill>
                  <a:srgbClr val="7030A0"/>
                </a:solidFill>
              </a:rPr>
              <a:t>Ω</a:t>
            </a:r>
            <a:endParaRPr lang="en-US" b="1" dirty="0">
              <a:solidFill>
                <a:srgbClr val="7030A0"/>
              </a:solidFill>
            </a:endParaRPr>
          </a:p>
          <a:p>
            <a:pPr algn="ctr"/>
            <a:r>
              <a:rPr lang="en-US" sz="1400" dirty="0">
                <a:solidFill>
                  <a:srgbClr val="7030A0"/>
                </a:solidFill>
              </a:rPr>
              <a:t>Current Limiting</a:t>
            </a:r>
          </a:p>
          <a:p>
            <a:pPr algn="ctr"/>
            <a:r>
              <a:rPr lang="en-US" sz="1400" dirty="0">
                <a:solidFill>
                  <a:srgbClr val="7030A0"/>
                </a:solidFill>
              </a:rPr>
              <a:t>(BJT are diodes)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A2694F-06D8-FEE2-88C4-F51C642E0DDF}"/>
              </a:ext>
            </a:extLst>
          </p:cNvPr>
          <p:cNvSpPr txBox="1"/>
          <p:nvPr/>
        </p:nvSpPr>
        <p:spPr>
          <a:xfrm>
            <a:off x="583057" y="4190945"/>
            <a:ext cx="1211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From the DAC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3BC32D-25A3-83A2-2B8E-0DAD0298B0A0}"/>
              </a:ext>
            </a:extLst>
          </p:cNvPr>
          <p:cNvSpPr txBox="1"/>
          <p:nvPr/>
        </p:nvSpPr>
        <p:spPr>
          <a:xfrm>
            <a:off x="3864622" y="1503993"/>
            <a:ext cx="1939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To Current Sensor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74148E-6BB3-F9BE-885C-7FA09AA5810F}"/>
              </a:ext>
            </a:extLst>
          </p:cNvPr>
          <p:cNvSpPr txBox="1"/>
          <p:nvPr/>
        </p:nvSpPr>
        <p:spPr>
          <a:xfrm>
            <a:off x="360405" y="4784554"/>
            <a:ext cx="1634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0.68V → 0.76V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@ 14.5mA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28896E-13C4-41A1-7BDD-EB7983BA8F41}"/>
              </a:ext>
            </a:extLst>
          </p:cNvPr>
          <p:cNvSpPr txBox="1"/>
          <p:nvPr/>
        </p:nvSpPr>
        <p:spPr>
          <a:xfrm>
            <a:off x="5982469" y="3382716"/>
            <a:ext cx="1362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1.5V → 2.5V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@ 800mA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E9BE740-6BA8-793D-AFA8-8950C1BA2DD4}"/>
              </a:ext>
            </a:extLst>
          </p:cNvPr>
          <p:cNvCxnSpPr>
            <a:cxnSpLocks/>
          </p:cNvCxnSpPr>
          <p:nvPr/>
        </p:nvCxnSpPr>
        <p:spPr>
          <a:xfrm flipH="1">
            <a:off x="3357107" y="2211047"/>
            <a:ext cx="1477226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0B7EF5-BF9D-E8FB-E467-14BF9B4AA32C}"/>
              </a:ext>
            </a:extLst>
          </p:cNvPr>
          <p:cNvCxnSpPr>
            <a:cxnSpLocks/>
          </p:cNvCxnSpPr>
          <p:nvPr/>
        </p:nvCxnSpPr>
        <p:spPr>
          <a:xfrm flipH="1">
            <a:off x="3357107" y="3457730"/>
            <a:ext cx="147722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80B8A9C4-89F0-4489-635E-370474257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078" y="1934954"/>
            <a:ext cx="571995" cy="165144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26AA823-19E3-E476-3B2E-BB4CBD4A68CA}"/>
              </a:ext>
            </a:extLst>
          </p:cNvPr>
          <p:cNvSpPr txBox="1"/>
          <p:nvPr/>
        </p:nvSpPr>
        <p:spPr>
          <a:xfrm>
            <a:off x="1554524" y="2512290"/>
            <a:ext cx="104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To the ADC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644A95-9021-AE3F-27E3-3C2748A211AB}"/>
              </a:ext>
            </a:extLst>
          </p:cNvPr>
          <p:cNvSpPr txBox="1"/>
          <p:nvPr/>
        </p:nvSpPr>
        <p:spPr>
          <a:xfrm>
            <a:off x="5255549" y="4234657"/>
            <a:ext cx="1362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PN2222A NPN BJT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0D7DB4A-CF19-29E1-3448-9DC8285D3E80}"/>
              </a:ext>
            </a:extLst>
          </p:cNvPr>
          <p:cNvCxnSpPr>
            <a:cxnSpLocks/>
          </p:cNvCxnSpPr>
          <p:nvPr/>
        </p:nvCxnSpPr>
        <p:spPr>
          <a:xfrm flipV="1">
            <a:off x="4826838" y="1791323"/>
            <a:ext cx="0" cy="307298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21A2C84-C719-54DA-B70F-646ED3F78967}"/>
              </a:ext>
            </a:extLst>
          </p:cNvPr>
          <p:cNvCxnSpPr>
            <a:cxnSpLocks/>
          </p:cNvCxnSpPr>
          <p:nvPr/>
        </p:nvCxnSpPr>
        <p:spPr>
          <a:xfrm>
            <a:off x="1611443" y="4544091"/>
            <a:ext cx="50290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6E9F32A-1E71-5B62-BFE8-AD848ABE12F1}"/>
              </a:ext>
            </a:extLst>
          </p:cNvPr>
          <p:cNvSpPr txBox="1"/>
          <p:nvPr/>
        </p:nvSpPr>
        <p:spPr>
          <a:xfrm>
            <a:off x="6267698" y="1496368"/>
            <a:ext cx="1362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Vcc = +3.3V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879B8AB-BC6F-E013-0470-E32BC5238E77}"/>
              </a:ext>
            </a:extLst>
          </p:cNvPr>
          <p:cNvCxnSpPr>
            <a:stCxn id="3" idx="1"/>
            <a:endCxn id="17" idx="3"/>
          </p:cNvCxnSpPr>
          <p:nvPr/>
        </p:nvCxnSpPr>
        <p:spPr>
          <a:xfrm flipH="1">
            <a:off x="5804044" y="1681034"/>
            <a:ext cx="463654" cy="762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B94499-3D43-6130-9E18-BE98F5B2811F}"/>
              </a:ext>
            </a:extLst>
          </p:cNvPr>
          <p:cNvCxnSpPr>
            <a:cxnSpLocks/>
          </p:cNvCxnSpPr>
          <p:nvPr/>
        </p:nvCxnSpPr>
        <p:spPr>
          <a:xfrm>
            <a:off x="2019332" y="4544091"/>
            <a:ext cx="0" cy="184973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57646B-022D-C8D0-E054-E1EBD4498BAC}"/>
              </a:ext>
            </a:extLst>
          </p:cNvPr>
          <p:cNvCxnSpPr>
            <a:cxnSpLocks/>
          </p:cNvCxnSpPr>
          <p:nvPr/>
        </p:nvCxnSpPr>
        <p:spPr>
          <a:xfrm>
            <a:off x="4834339" y="1880393"/>
            <a:ext cx="0" cy="4513433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6975903-A9DA-79A8-E523-BA0BA74764DD}"/>
              </a:ext>
            </a:extLst>
          </p:cNvPr>
          <p:cNvCxnSpPr>
            <a:cxnSpLocks/>
          </p:cNvCxnSpPr>
          <p:nvPr/>
        </p:nvCxnSpPr>
        <p:spPr>
          <a:xfrm flipV="1">
            <a:off x="1506511" y="6393826"/>
            <a:ext cx="5111755" cy="21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86EB2C5-CDAB-CDFF-5D1A-C98AF383C8FC}"/>
              </a:ext>
            </a:extLst>
          </p:cNvPr>
          <p:cNvSpPr txBox="1"/>
          <p:nvPr/>
        </p:nvSpPr>
        <p:spPr>
          <a:xfrm>
            <a:off x="1987735" y="6086533"/>
            <a:ext cx="2711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Common Emitter Configuration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DC638E-A392-E3F1-96C6-08D7F791B8ED}"/>
              </a:ext>
            </a:extLst>
          </p:cNvPr>
          <p:cNvCxnSpPr>
            <a:cxnSpLocks/>
          </p:cNvCxnSpPr>
          <p:nvPr/>
        </p:nvCxnSpPr>
        <p:spPr>
          <a:xfrm flipH="1">
            <a:off x="2395242" y="2820113"/>
            <a:ext cx="655607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985898E-1F08-F6C5-703C-B6B33227DAB4}"/>
              </a:ext>
            </a:extLst>
          </p:cNvPr>
          <p:cNvSpPr txBox="1"/>
          <p:nvPr/>
        </p:nvSpPr>
        <p:spPr>
          <a:xfrm>
            <a:off x="852608" y="6209160"/>
            <a:ext cx="734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GND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C630D4-61B0-BFC3-61E2-5124FA079ABC}"/>
              </a:ext>
            </a:extLst>
          </p:cNvPr>
          <p:cNvSpPr txBox="1"/>
          <p:nvPr/>
        </p:nvSpPr>
        <p:spPr>
          <a:xfrm>
            <a:off x="6546910" y="6189070"/>
            <a:ext cx="734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GND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917469-6D2A-D882-D1B9-394E9B1C3D7D}"/>
              </a:ext>
            </a:extLst>
          </p:cNvPr>
          <p:cNvSpPr txBox="1"/>
          <p:nvPr/>
        </p:nvSpPr>
        <p:spPr>
          <a:xfrm>
            <a:off x="3560073" y="2224582"/>
            <a:ext cx="944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7030A0"/>
                </a:solidFill>
              </a:rPr>
              <a:t>HIGH (A0)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2F2BBBE-69CE-F5BB-DA8F-A8FFA51401BB}"/>
              </a:ext>
            </a:extLst>
          </p:cNvPr>
          <p:cNvSpPr txBox="1"/>
          <p:nvPr/>
        </p:nvSpPr>
        <p:spPr>
          <a:xfrm>
            <a:off x="3586948" y="3149953"/>
            <a:ext cx="891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C000"/>
                </a:solidFill>
              </a:rPr>
              <a:t>LOW (A1)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C653699-8680-6CDD-1DA7-C145798F708A}"/>
                  </a:ext>
                </a:extLst>
              </p:cNvPr>
              <p:cNvSpPr txBox="1"/>
              <p:nvPr/>
            </p:nvSpPr>
            <p:spPr>
              <a:xfrm>
                <a:off x="7082052" y="2552155"/>
                <a:ext cx="747319" cy="5656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C653699-8680-6CDD-1DA7-C145798F7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052" y="2552155"/>
                <a:ext cx="747319" cy="565668"/>
              </a:xfrm>
              <a:prstGeom prst="rect">
                <a:avLst/>
              </a:prstGeom>
              <a:blipFill>
                <a:blip r:embed="rId4"/>
                <a:stretch>
                  <a:fillRect b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FABAB5E-A671-647D-6349-D0FE02346231}"/>
              </a:ext>
            </a:extLst>
          </p:cNvPr>
          <p:cNvCxnSpPr>
            <a:cxnSpLocks/>
          </p:cNvCxnSpPr>
          <p:nvPr/>
        </p:nvCxnSpPr>
        <p:spPr>
          <a:xfrm flipV="1">
            <a:off x="6158606" y="2834989"/>
            <a:ext cx="780636" cy="46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2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DBB066A-11C6-4C3E-9FAA-5566F4D5C06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144" y="1391766"/>
            <a:ext cx="3295939" cy="51008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DFAF5C-A905-56D4-9F1F-2A57AB97CBF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284" y="1354330"/>
            <a:ext cx="3112890" cy="50394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40FA5C-3210-8060-9553-1C0B7A426A59}"/>
              </a:ext>
            </a:extLst>
          </p:cNvPr>
          <p:cNvSpPr txBox="1"/>
          <p:nvPr/>
        </p:nvSpPr>
        <p:spPr>
          <a:xfrm>
            <a:off x="137298" y="301178"/>
            <a:ext cx="2096239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(1) Blue Flexible Jumper</a:t>
            </a:r>
          </a:p>
          <a:p>
            <a:r>
              <a:rPr lang="en-US" sz="1400" dirty="0"/>
              <a:t>(1) Yellow Flexible Jumper</a:t>
            </a:r>
          </a:p>
          <a:p>
            <a:r>
              <a:rPr lang="en-US" sz="1400" dirty="0"/>
              <a:t>(1) Red Flexible Jumper</a:t>
            </a:r>
          </a:p>
          <a:p>
            <a:r>
              <a:rPr lang="en-US" sz="1400" dirty="0"/>
              <a:t>(1) Black Flexible Jumper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Step 28a – 47</a:t>
            </a:r>
            <a:r>
              <a:rPr lang="el-GR" sz="3200" dirty="0">
                <a:latin typeface="+mn-lt"/>
              </a:rPr>
              <a:t>Ω</a:t>
            </a:r>
            <a:r>
              <a:rPr lang="en-US" sz="3200" dirty="0">
                <a:latin typeface="+mn-lt"/>
              </a:rPr>
              <a:t> Resistor</a:t>
            </a:r>
            <a:endParaRPr lang="en-US" sz="3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41256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40FA5C-3210-8060-9553-1C0B7A426A59}"/>
              </a:ext>
            </a:extLst>
          </p:cNvPr>
          <p:cNvSpPr txBox="1"/>
          <p:nvPr/>
        </p:nvSpPr>
        <p:spPr>
          <a:xfrm>
            <a:off x="137298" y="301178"/>
            <a:ext cx="2096239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(1) Blue Flexible Jumper</a:t>
            </a:r>
          </a:p>
          <a:p>
            <a:r>
              <a:rPr lang="en-US" sz="1400" dirty="0"/>
              <a:t>(1) Yellow Flexible Jumper</a:t>
            </a:r>
          </a:p>
          <a:p>
            <a:r>
              <a:rPr lang="en-US" sz="1400" dirty="0"/>
              <a:t>(1) Red Flexible Jumper</a:t>
            </a:r>
          </a:p>
          <a:p>
            <a:r>
              <a:rPr lang="en-US" sz="1400" dirty="0"/>
              <a:t>(1) Black Flexible Jumper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5AAA98-34E8-BC4E-6E56-F4FD5F0AD797}"/>
              </a:ext>
            </a:extLst>
          </p:cNvPr>
          <p:cNvSpPr/>
          <p:nvPr/>
        </p:nvSpPr>
        <p:spPr>
          <a:xfrm>
            <a:off x="4661604" y="5997948"/>
            <a:ext cx="244060" cy="4946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A0E663-430B-A2F4-5CD5-3E254FEEF06C}"/>
              </a:ext>
            </a:extLst>
          </p:cNvPr>
          <p:cNvCxnSpPr>
            <a:cxnSpLocks/>
          </p:cNvCxnSpPr>
          <p:nvPr/>
        </p:nvCxnSpPr>
        <p:spPr>
          <a:xfrm>
            <a:off x="4288631" y="5831174"/>
            <a:ext cx="495003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093BD1E-0443-D22D-8602-5C78EF1DE8AF}"/>
              </a:ext>
            </a:extLst>
          </p:cNvPr>
          <p:cNvCxnSpPr>
            <a:cxnSpLocks/>
          </p:cNvCxnSpPr>
          <p:nvPr/>
        </p:nvCxnSpPr>
        <p:spPr>
          <a:xfrm>
            <a:off x="4181475" y="5638800"/>
            <a:ext cx="602158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35CACC-0B7C-2E81-C93A-05B1E9706192}"/>
              </a:ext>
            </a:extLst>
          </p:cNvPr>
          <p:cNvCxnSpPr>
            <a:cxnSpLocks/>
          </p:cNvCxnSpPr>
          <p:nvPr/>
        </p:nvCxnSpPr>
        <p:spPr>
          <a:xfrm>
            <a:off x="4207669" y="4906780"/>
            <a:ext cx="575963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Step 28a – 47</a:t>
            </a:r>
            <a:r>
              <a:rPr lang="el-GR" sz="3200" dirty="0">
                <a:latin typeface="+mn-lt"/>
              </a:rPr>
              <a:t>Ω</a:t>
            </a:r>
            <a:r>
              <a:rPr lang="en-US" sz="3200" dirty="0">
                <a:latin typeface="+mn-lt"/>
              </a:rPr>
              <a:t> Resistor</a:t>
            </a:r>
            <a:endParaRPr lang="en-US" sz="3200" b="1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3D5843-40F8-CBEB-4AE0-FD819F58391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6661" y="1592225"/>
            <a:ext cx="3987725" cy="32291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664F98-71D8-EB31-9BFE-F4FC1382C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15" y="3016096"/>
            <a:ext cx="4144345" cy="322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215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Big Picture of </a:t>
            </a:r>
            <a:r>
              <a:rPr lang="en-US" sz="3200" b="1" dirty="0">
                <a:latin typeface="+mn-lt"/>
              </a:rPr>
              <a:t>measure_resistor </a:t>
            </a:r>
            <a:r>
              <a:rPr lang="en-US" sz="3200" dirty="0">
                <a:latin typeface="+mn-lt"/>
              </a:rPr>
              <a:t>Lab</a:t>
            </a:r>
            <a:endParaRPr lang="en-US" sz="3200" b="1" dirty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457E4-BB96-7419-9144-A02730903D2A}"/>
              </a:ext>
            </a:extLst>
          </p:cNvPr>
          <p:cNvSpPr txBox="1"/>
          <p:nvPr/>
        </p:nvSpPr>
        <p:spPr>
          <a:xfrm>
            <a:off x="984852" y="1935059"/>
            <a:ext cx="30274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Waits for a serial (USB) port connection from the laptop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9ED18-3562-D3FE-8D1F-208426885AE8}"/>
              </a:ext>
            </a:extLst>
          </p:cNvPr>
          <p:cNvSpPr txBox="1"/>
          <p:nvPr/>
        </p:nvSpPr>
        <p:spPr>
          <a:xfrm>
            <a:off x="4808976" y="1935058"/>
            <a:ext cx="33501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Connects to the KB2040 over the serial (USB) 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DBFC5-E3F1-8407-5571-31A957CA028C}"/>
              </a:ext>
            </a:extLst>
          </p:cNvPr>
          <p:cNvSpPr txBox="1"/>
          <p:nvPr/>
        </p:nvSpPr>
        <p:spPr>
          <a:xfrm>
            <a:off x="984852" y="2810596"/>
            <a:ext cx="30274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Configures i2c_bus, sets DAC to 850 (</a:t>
            </a:r>
            <a:r>
              <a:rPr lang="en-US" dirty="0">
                <a:solidFill>
                  <a:srgbClr val="FF0000"/>
                </a:solidFill>
              </a:rPr>
              <a:t>0.68V</a:t>
            </a:r>
            <a:r>
              <a:rPr lang="en-US" dirty="0"/>
              <a:t>), sets ADC into differential mode (A0+, A1-)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2C2D0F-E51D-56AE-6B1F-E1CD813C8946}"/>
              </a:ext>
            </a:extLst>
          </p:cNvPr>
          <p:cNvSpPr txBox="1"/>
          <p:nvPr/>
        </p:nvSpPr>
        <p:spPr>
          <a:xfrm>
            <a:off x="4808976" y="2887670"/>
            <a:ext cx="33501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Asks user which resistor </a:t>
            </a:r>
            <a:r>
              <a:rPr lang="en-US" b="1" dirty="0">
                <a:solidFill>
                  <a:srgbClr val="7030A0"/>
                </a:solidFill>
              </a:rPr>
              <a:t># (1,2,3)</a:t>
            </a:r>
            <a:r>
              <a:rPr lang="en-US" dirty="0"/>
              <a:t> is being measured, sends the string "r" to the KB2040 over USB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7AA221-43CF-645B-DC9A-3D38D9C3F201}"/>
              </a:ext>
            </a:extLst>
          </p:cNvPr>
          <p:cNvSpPr txBox="1"/>
          <p:nvPr/>
        </p:nvSpPr>
        <p:spPr>
          <a:xfrm>
            <a:off x="984852" y="4110371"/>
            <a:ext cx="302747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Slowly raises ADC from 850 to 950 (</a:t>
            </a:r>
            <a:r>
              <a:rPr lang="en-US" dirty="0">
                <a:solidFill>
                  <a:srgbClr val="FF0000"/>
                </a:solidFill>
              </a:rPr>
              <a:t>0.76V</a:t>
            </a:r>
            <a:r>
              <a:rPr lang="en-US" dirty="0"/>
              <a:t>) in </a:t>
            </a:r>
            <a:r>
              <a:rPr lang="en-US" b="1" dirty="0"/>
              <a:t>50</a:t>
            </a:r>
            <a:r>
              <a:rPr lang="en-US" dirty="0"/>
              <a:t> steps, averaging 100 samples of the amps and volts at each step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D2ACD0-6EC3-05D6-EF1B-ACE3B545C19F}"/>
              </a:ext>
            </a:extLst>
          </p:cNvPr>
          <p:cNvSpPr txBox="1"/>
          <p:nvPr/>
        </p:nvSpPr>
        <p:spPr>
          <a:xfrm>
            <a:off x="4808976" y="4117597"/>
            <a:ext cx="33501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Waits to receive the volts and time samples from the KB2040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F88A4-99BF-0C24-FAD7-7D4FD577F5EE}"/>
              </a:ext>
            </a:extLst>
          </p:cNvPr>
          <p:cNvSpPr txBox="1"/>
          <p:nvPr/>
        </p:nvSpPr>
        <p:spPr>
          <a:xfrm>
            <a:off x="984852" y="5610337"/>
            <a:ext cx="30274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Resets DAC to 0 (0V), sets NeoPixel </a:t>
            </a:r>
            <a:r>
              <a:rPr lang="en-US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YELLOW</a:t>
            </a:r>
            <a:r>
              <a:rPr lang="en-US" dirty="0"/>
              <a:t>, sends the samples over USB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A8777A-7FFF-8E05-AB57-2AFB98DB48D6}"/>
              </a:ext>
            </a:extLst>
          </p:cNvPr>
          <p:cNvSpPr txBox="1"/>
          <p:nvPr/>
        </p:nvSpPr>
        <p:spPr>
          <a:xfrm>
            <a:off x="4808976" y="5100189"/>
            <a:ext cx="335017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Creates a two-column CSV file named "resistor</a:t>
            </a:r>
            <a:r>
              <a:rPr lang="en-US" b="1" dirty="0">
                <a:solidFill>
                  <a:srgbClr val="7030A0"/>
                </a:solidFill>
              </a:rPr>
              <a:t>#</a:t>
            </a:r>
            <a:r>
              <a:rPr lang="en-US" dirty="0"/>
              <a:t>.csv" containing the average amps and volts for each of the </a:t>
            </a:r>
            <a:r>
              <a:rPr lang="en-US" b="1" dirty="0"/>
              <a:t>50</a:t>
            </a:r>
            <a:r>
              <a:rPr lang="en-US" dirty="0"/>
              <a:t> steps of the ADC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562AB-3B54-2066-A1E6-C960328A56F3}"/>
              </a:ext>
            </a:extLst>
          </p:cNvPr>
          <p:cNvSpPr txBox="1"/>
          <p:nvPr/>
        </p:nvSpPr>
        <p:spPr>
          <a:xfrm>
            <a:off x="984851" y="1430328"/>
            <a:ext cx="2971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code.py </a:t>
            </a:r>
            <a:r>
              <a:rPr lang="en-US" dirty="0"/>
              <a:t>running on </a:t>
            </a:r>
            <a:r>
              <a:rPr lang="en-US" b="1" dirty="0"/>
              <a:t>KB2040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96E4C-2721-3BF0-93F8-C0389265491A}"/>
              </a:ext>
            </a:extLst>
          </p:cNvPr>
          <p:cNvSpPr txBox="1"/>
          <p:nvPr/>
        </p:nvSpPr>
        <p:spPr>
          <a:xfrm>
            <a:off x="4808977" y="1430328"/>
            <a:ext cx="335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measure_resistor.py </a:t>
            </a:r>
            <a:r>
              <a:rPr lang="en-US" dirty="0"/>
              <a:t>on </a:t>
            </a:r>
            <a:r>
              <a:rPr lang="en-US" b="1" dirty="0"/>
              <a:t>Laptop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7E7ED10-96F2-C9F7-E97D-0F9DEEF1C457}"/>
              </a:ext>
            </a:extLst>
          </p:cNvPr>
          <p:cNvCxnSpPr>
            <a:cxnSpLocks/>
            <a:stCxn id="11" idx="1"/>
            <a:endCxn id="15" idx="1"/>
          </p:cNvCxnSpPr>
          <p:nvPr/>
        </p:nvCxnSpPr>
        <p:spPr>
          <a:xfrm rot="10800000">
            <a:off x="792466" y="3952136"/>
            <a:ext cx="192386" cy="2119866"/>
          </a:xfrm>
          <a:prstGeom prst="bentConnector3">
            <a:avLst>
              <a:gd name="adj1" fmla="val 21882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977FE4-2DFC-62D1-4424-B6C547A19FAF}"/>
              </a:ext>
            </a:extLst>
          </p:cNvPr>
          <p:cNvSpPr txBox="1"/>
          <p:nvPr/>
        </p:nvSpPr>
        <p:spPr>
          <a:xfrm>
            <a:off x="792466" y="3798247"/>
            <a:ext cx="1603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NeoPixel is </a:t>
            </a:r>
            <a:r>
              <a:rPr lang="en-US" sz="1400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GREEN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033A1FF-9653-DA01-F95A-363701F4DCF3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4012324" y="2258224"/>
            <a:ext cx="796652" cy="1"/>
          </a:xfrm>
          <a:prstGeom prst="bentConnector3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8919D7-6910-E01A-A469-1C7D975CDBBD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2498588" y="2581390"/>
            <a:ext cx="0" cy="2292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5E4510C-80F9-130B-B7BE-3FC721AC45EB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6484062" y="2581389"/>
            <a:ext cx="0" cy="3062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1E4B1873-837B-6DCD-99B4-C2ACD67159E5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rot="10800000" flipV="1">
            <a:off x="4012324" y="3349334"/>
            <a:ext cx="796652" cy="1361201"/>
          </a:xfrm>
          <a:prstGeom prst="bentConnector3">
            <a:avLst>
              <a:gd name="adj1" fmla="val 66935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AD9B0B8-8AA6-7C2B-0595-07AF08D48684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2498588" y="3733926"/>
            <a:ext cx="0" cy="3764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EB69B1B-344C-036B-B21A-34F37B41E71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6484062" y="3811000"/>
            <a:ext cx="0" cy="3065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E9CB952-B72D-B0F5-C592-0637651FD8E0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2498588" y="5310700"/>
            <a:ext cx="0" cy="2996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93483784-49AF-35FD-0990-CAB0CC4E3D6C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 flipV="1">
            <a:off x="4012324" y="4440763"/>
            <a:ext cx="796652" cy="1631239"/>
          </a:xfrm>
          <a:prstGeom prst="bentConnector3">
            <a:avLst>
              <a:gd name="adj1" fmla="val 63172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53B67BA-6757-38B8-7694-C0966928D79D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6484062" y="4763928"/>
            <a:ext cx="0" cy="3362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921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DAQ device is working…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C9F6A8E-D4CC-5518-DAB2-2BB5E40A528F}"/>
              </a:ext>
            </a:extLst>
          </p:cNvPr>
          <p:cNvGrpSpPr/>
          <p:nvPr/>
        </p:nvGrpSpPr>
        <p:grpSpPr>
          <a:xfrm>
            <a:off x="3450955" y="1964824"/>
            <a:ext cx="2242090" cy="4284566"/>
            <a:chOff x="5017324" y="1964824"/>
            <a:chExt cx="2242090" cy="428456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B62081A-8527-4C50-6392-63187CE4F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17324" y="2651258"/>
              <a:ext cx="2242090" cy="359813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E15690-FB21-4692-E315-9E9C1147EDB7}"/>
                </a:ext>
              </a:extLst>
            </p:cNvPr>
            <p:cNvSpPr txBox="1"/>
            <p:nvPr/>
          </p:nvSpPr>
          <p:spPr>
            <a:xfrm>
              <a:off x="5203041" y="1964824"/>
              <a:ext cx="1870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</a:rPr>
                <a:t>Measuring circuit voltage over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275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7919C1E-449D-FD4A-5CDE-D7AF7DEE54C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144" y="1394558"/>
            <a:ext cx="3295939" cy="50943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EF0FFD-D2AC-DFB1-A4BA-9AFC3365D9A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282" y="1383921"/>
            <a:ext cx="3112890" cy="500990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Step28b – 56</a:t>
            </a:r>
            <a:r>
              <a:rPr lang="el-GR" sz="3200" dirty="0">
                <a:latin typeface="+mn-lt"/>
              </a:rPr>
              <a:t>Ω</a:t>
            </a:r>
            <a:r>
              <a:rPr lang="en-US" sz="3200" dirty="0">
                <a:latin typeface="+mn-lt"/>
              </a:rPr>
              <a:t> Resistor</a:t>
            </a:r>
            <a:endParaRPr lang="en-US" sz="3200" b="1" dirty="0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5E7E65-B6D4-28B4-D1D9-5E4C855DCF60}"/>
              </a:ext>
            </a:extLst>
          </p:cNvPr>
          <p:cNvSpPr/>
          <p:nvPr/>
        </p:nvSpPr>
        <p:spPr>
          <a:xfrm>
            <a:off x="6940446" y="3612630"/>
            <a:ext cx="532151" cy="36512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BCC3A-7F98-2233-55D1-3057CCE2602C}"/>
              </a:ext>
            </a:extLst>
          </p:cNvPr>
          <p:cNvSpPr/>
          <p:nvPr/>
        </p:nvSpPr>
        <p:spPr>
          <a:xfrm>
            <a:off x="2933075" y="3788062"/>
            <a:ext cx="532151" cy="36512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93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0DDC8C-98BB-371B-D8CB-ED2E7718249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144" y="1388018"/>
            <a:ext cx="3295939" cy="51008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69CB3F-AD4C-BC0A-3D33-A776E519493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3369" y="1403738"/>
            <a:ext cx="3112890" cy="49900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Step 28c – 68</a:t>
            </a:r>
            <a:r>
              <a:rPr lang="el-GR" sz="3200" dirty="0">
                <a:latin typeface="+mn-lt"/>
              </a:rPr>
              <a:t>Ω</a:t>
            </a:r>
            <a:r>
              <a:rPr lang="en-US" sz="3200" dirty="0">
                <a:latin typeface="+mn-lt"/>
              </a:rPr>
              <a:t> Resistor</a:t>
            </a:r>
            <a:endParaRPr lang="en-US" sz="3200" b="1" dirty="0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941DF9-DC7B-D70F-EC8D-D6B0C733D73F}"/>
              </a:ext>
            </a:extLst>
          </p:cNvPr>
          <p:cNvSpPr/>
          <p:nvPr/>
        </p:nvSpPr>
        <p:spPr>
          <a:xfrm>
            <a:off x="7412636" y="3840957"/>
            <a:ext cx="532151" cy="36512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967731-F069-69B0-12FD-82D3B684FCF2}"/>
              </a:ext>
            </a:extLst>
          </p:cNvPr>
          <p:cNvSpPr/>
          <p:nvPr/>
        </p:nvSpPr>
        <p:spPr>
          <a:xfrm>
            <a:off x="3465226" y="4023519"/>
            <a:ext cx="532151" cy="36512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13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F987EF-F84D-16C2-2A6A-BFE8C22D0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32" y="1480114"/>
            <a:ext cx="7051001" cy="50177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Check</a:t>
            </a:r>
            <a:r>
              <a:rPr lang="en-US" sz="3200" dirty="0">
                <a:latin typeface="+mn-lt"/>
              </a:rPr>
              <a:t> measure_resistor.py</a:t>
            </a:r>
            <a:r>
              <a:rPr lang="el-GR" sz="3200" dirty="0">
                <a:latin typeface="+mn-lt"/>
              </a:rPr>
              <a:t> – </a:t>
            </a:r>
            <a:r>
              <a:rPr lang="en-US" sz="3200" b="1" dirty="0">
                <a:latin typeface="+mn-lt"/>
              </a:rPr>
              <a:t>68</a:t>
            </a:r>
            <a:r>
              <a:rPr lang="el-GR" sz="3200" b="1" dirty="0">
                <a:latin typeface="+mn-lt"/>
              </a:rPr>
              <a:t>Ω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EA82E7-CDC8-89B5-161E-8315C23B7BF1}"/>
              </a:ext>
            </a:extLst>
          </p:cNvPr>
          <p:cNvSpPr/>
          <p:nvPr/>
        </p:nvSpPr>
        <p:spPr>
          <a:xfrm>
            <a:off x="1169233" y="5950744"/>
            <a:ext cx="1659692" cy="196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56CCC83-33C0-F065-D72D-B989AFB0E272}"/>
              </a:ext>
            </a:extLst>
          </p:cNvPr>
          <p:cNvCxnSpPr>
            <a:cxnSpLocks/>
          </p:cNvCxnSpPr>
          <p:nvPr/>
        </p:nvCxnSpPr>
        <p:spPr>
          <a:xfrm flipV="1">
            <a:off x="1328607" y="6062006"/>
            <a:ext cx="525592" cy="3651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2148C5B-F755-C60E-4CE0-77CC6865B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938" y="2763464"/>
            <a:ext cx="4589477" cy="20109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698F187-97E2-76B5-7B47-7B0C826FF8FA}"/>
              </a:ext>
            </a:extLst>
          </p:cNvPr>
          <p:cNvSpPr/>
          <p:nvPr/>
        </p:nvSpPr>
        <p:spPr>
          <a:xfrm>
            <a:off x="4077325" y="4450825"/>
            <a:ext cx="888376" cy="2219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5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C9EC5A-AA30-0150-2625-81420FE9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Check</a:t>
            </a:r>
            <a:r>
              <a:rPr lang="en-US" sz="3200" dirty="0">
                <a:latin typeface="+mn-lt"/>
              </a:rPr>
              <a:t> ohms_law.py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44FA66-36C6-3387-9B32-03EE79D92CB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0366" y="1235492"/>
            <a:ext cx="6663268" cy="535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10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C9EC5A-AA30-0150-2625-81420FE9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Check</a:t>
            </a:r>
            <a:r>
              <a:rPr lang="en-US" sz="3200" dirty="0">
                <a:latin typeface="+mn-lt"/>
              </a:rPr>
              <a:t> ohms_law.py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44FA66-36C6-3387-9B32-03EE79D92CB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0366" y="1235492"/>
            <a:ext cx="6663268" cy="53539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5C6FD0-8910-29F7-96B0-770F67A2FD37}"/>
                  </a:ext>
                </a:extLst>
              </p:cNvPr>
              <p:cNvSpPr txBox="1"/>
              <p:nvPr/>
            </p:nvSpPr>
            <p:spPr>
              <a:xfrm>
                <a:off x="5395659" y="4770699"/>
                <a:ext cx="747319" cy="56566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5C6FD0-8910-29F7-96B0-770F67A2F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659" y="4770699"/>
                <a:ext cx="747319" cy="565668"/>
              </a:xfrm>
              <a:prstGeom prst="rect">
                <a:avLst/>
              </a:prstGeom>
              <a:blipFill>
                <a:blip r:embed="rId3"/>
                <a:stretch>
                  <a:fillRect b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DCE0BDD-0845-352F-155F-9E48F308B12C}"/>
              </a:ext>
            </a:extLst>
          </p:cNvPr>
          <p:cNvSpPr txBox="1"/>
          <p:nvPr/>
        </p:nvSpPr>
        <p:spPr>
          <a:xfrm>
            <a:off x="6745573" y="4314869"/>
            <a:ext cx="1708879" cy="1477328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If R is </a:t>
            </a:r>
            <a:r>
              <a:rPr lang="en-US" b="1" dirty="0">
                <a:solidFill>
                  <a:srgbClr val="7030A0"/>
                </a:solidFill>
              </a:rPr>
              <a:t>fixed</a:t>
            </a:r>
            <a:r>
              <a:rPr lang="en-US" dirty="0">
                <a:solidFill>
                  <a:srgbClr val="7030A0"/>
                </a:solidFill>
              </a:rPr>
              <a:t> and </a:t>
            </a:r>
            <a:r>
              <a:rPr lang="en-US" u="sng" dirty="0">
                <a:solidFill>
                  <a:srgbClr val="7030A0"/>
                </a:solidFill>
              </a:rPr>
              <a:t>current</a:t>
            </a:r>
            <a:r>
              <a:rPr lang="en-US" dirty="0">
                <a:solidFill>
                  <a:srgbClr val="7030A0"/>
                </a:solidFill>
              </a:rPr>
              <a:t> goes to zero, why doesn't </a:t>
            </a:r>
            <a:r>
              <a:rPr lang="en-US" i="1" dirty="0">
                <a:solidFill>
                  <a:srgbClr val="7030A0"/>
                </a:solidFill>
              </a:rPr>
              <a:t>voltage</a:t>
            </a:r>
            <a:r>
              <a:rPr lang="en-US" dirty="0">
                <a:solidFill>
                  <a:srgbClr val="7030A0"/>
                </a:solidFill>
              </a:rPr>
              <a:t> go to </a:t>
            </a:r>
            <a:r>
              <a:rPr lang="en-US" b="1" dirty="0">
                <a:solidFill>
                  <a:srgbClr val="7030A0"/>
                </a:solidFill>
              </a:rPr>
              <a:t>infinity</a:t>
            </a:r>
            <a:r>
              <a:rPr lang="en-US" dirty="0">
                <a:solidFill>
                  <a:srgbClr val="7030A0"/>
                </a:solidFill>
              </a:rPr>
              <a:t>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42D5DC8-77D9-1B62-3D3A-FC71B39C4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1448" y="2104400"/>
            <a:ext cx="1891124" cy="157465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2391620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8889</TotalTime>
  <Words>674</Words>
  <Application>Microsoft Office PowerPoint</Application>
  <PresentationFormat>On-screen Show (4:3)</PresentationFormat>
  <Paragraphs>106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Voltage, Current, Resistance</vt:lpstr>
      <vt:lpstr>Walking in Ohm's Footsteps</vt:lpstr>
      <vt:lpstr>Walking in Ohm's Footsteps</vt:lpstr>
      <vt:lpstr>The I2C Bus Protocol</vt:lpstr>
      <vt:lpstr>Initial Design</vt:lpstr>
      <vt:lpstr>The Bipolar Junction Transistor (NPN)</vt:lpstr>
      <vt:lpstr>Step 28a – 47Ω Resistor</vt:lpstr>
      <vt:lpstr>Step 28a – 47Ω Resistor</vt:lpstr>
      <vt:lpstr>Big Picture of measure_resistor Lab</vt:lpstr>
      <vt:lpstr>The DAQ device is working…</vt:lpstr>
      <vt:lpstr>Step28b – 56Ω Resistor</vt:lpstr>
      <vt:lpstr>Step 28c – 68Ω Resistor</vt:lpstr>
      <vt:lpstr>Check measure_resistor.py – 68Ω</vt:lpstr>
      <vt:lpstr>Check ohms_law.py</vt:lpstr>
      <vt:lpstr>Check ohms_law.py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1054</cp:revision>
  <cp:lastPrinted>2015-06-01T00:45:11Z</cp:lastPrinted>
  <dcterms:created xsi:type="dcterms:W3CDTF">2014-09-21T17:58:26Z</dcterms:created>
  <dcterms:modified xsi:type="dcterms:W3CDTF">2023-01-08T08:03:08Z</dcterms:modified>
</cp:coreProperties>
</file>