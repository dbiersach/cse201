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handoutMasterIdLst>
    <p:handoutMasterId r:id="rId17"/>
  </p:handoutMasterIdLst>
  <p:sldIdLst>
    <p:sldId id="417" r:id="rId2"/>
    <p:sldId id="418" r:id="rId3"/>
    <p:sldId id="432" r:id="rId4"/>
    <p:sldId id="1066" r:id="rId5"/>
    <p:sldId id="967" r:id="rId6"/>
    <p:sldId id="1189" r:id="rId7"/>
    <p:sldId id="1179" r:id="rId8"/>
    <p:sldId id="1076" r:id="rId9"/>
    <p:sldId id="1065" r:id="rId10"/>
    <p:sldId id="1078" r:id="rId11"/>
    <p:sldId id="1191" r:id="rId12"/>
    <p:sldId id="1139" r:id="rId13"/>
    <p:sldId id="1091" r:id="rId14"/>
    <p:sldId id="1090" r:id="rId15"/>
  </p:sldIdLst>
  <p:sldSz cx="9144000" cy="6858000" type="screen4x3"/>
  <p:notesSz cx="7077075" cy="9363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ersach, David" userId="14a9feb0-85a7-4da4-be8a-c1e22b637acc" providerId="ADAL" clId="{6231E7D9-E8FD-4908-95BB-3604F3CA9764}"/>
    <pc:docChg chg="custSel delSld modSld">
      <pc:chgData name="Biersach, David" userId="14a9feb0-85a7-4da4-be8a-c1e22b637acc" providerId="ADAL" clId="{6231E7D9-E8FD-4908-95BB-3604F3CA9764}" dt="2020-05-29T19:25:56.584" v="2" actId="2696"/>
      <pc:docMkLst>
        <pc:docMk/>
      </pc:docMkLst>
      <pc:sldChg chg="del">
        <pc:chgData name="Biersach, David" userId="14a9feb0-85a7-4da4-be8a-c1e22b637acc" providerId="ADAL" clId="{6231E7D9-E8FD-4908-95BB-3604F3CA9764}" dt="2020-05-29T19:25:56.584" v="2" actId="2696"/>
        <pc:sldMkLst>
          <pc:docMk/>
          <pc:sldMk cId="1150352350" sldId="278"/>
        </pc:sldMkLst>
      </pc:sldChg>
      <pc:sldChg chg="modSp">
        <pc:chgData name="Biersach, David" userId="14a9feb0-85a7-4da4-be8a-c1e22b637acc" providerId="ADAL" clId="{6231E7D9-E8FD-4908-95BB-3604F3CA9764}" dt="2020-05-29T19:25:52.552" v="0" actId="27636"/>
        <pc:sldMkLst>
          <pc:docMk/>
          <pc:sldMk cId="206124625" sldId="464"/>
        </pc:sldMkLst>
        <pc:spChg chg="mod">
          <ac:chgData name="Biersach, David" userId="14a9feb0-85a7-4da4-be8a-c1e22b637acc" providerId="ADAL" clId="{6231E7D9-E8FD-4908-95BB-3604F3CA9764}" dt="2020-05-29T19:25:52.552" v="0" actId="27636"/>
          <ac:spMkLst>
            <pc:docMk/>
            <pc:sldMk cId="206124625" sldId="464"/>
            <ac:spMk id="3" creationId="{00000000-0000-0000-0000-000000000000}"/>
          </ac:spMkLst>
        </pc:spChg>
      </pc:sldChg>
      <pc:sldChg chg="modSp">
        <pc:chgData name="Biersach, David" userId="14a9feb0-85a7-4da4-be8a-c1e22b637acc" providerId="ADAL" clId="{6231E7D9-E8FD-4908-95BB-3604F3CA9764}" dt="2020-05-29T19:25:52.649" v="1" actId="27636"/>
        <pc:sldMkLst>
          <pc:docMk/>
          <pc:sldMk cId="320308749" sldId="465"/>
        </pc:sldMkLst>
        <pc:spChg chg="mod">
          <ac:chgData name="Biersach, David" userId="14a9feb0-85a7-4da4-be8a-c1e22b637acc" providerId="ADAL" clId="{6231E7D9-E8FD-4908-95BB-3604F3CA9764}" dt="2020-05-29T19:25:52.649" v="1" actId="27636"/>
          <ac:spMkLst>
            <pc:docMk/>
            <pc:sldMk cId="320308749" sldId="465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08705" y="1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31925" y="1169988"/>
            <a:ext cx="4213225" cy="31607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638" tIns="46319" rIns="92638" bIns="4631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7708" y="4505662"/>
            <a:ext cx="5661660" cy="3687031"/>
          </a:xfrm>
          <a:prstGeom prst="rect">
            <a:avLst/>
          </a:prstGeom>
        </p:spPr>
        <p:txBody>
          <a:bodyPr vert="horz" lIns="92638" tIns="46319" rIns="92638" bIns="4631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08705" y="8893005"/>
            <a:ext cx="3066732" cy="470073"/>
          </a:xfrm>
          <a:prstGeom prst="rect">
            <a:avLst/>
          </a:prstGeom>
        </p:spPr>
        <p:txBody>
          <a:bodyPr vert="horz" lIns="92638" tIns="46319" rIns="92638" bIns="4631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099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096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7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8515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4312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854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952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30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846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663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93118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6317BBA-0BC6-419B-B826-088209688372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43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1/8/2023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1/8/2023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1/8/2023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1/8/2023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notesSlide" Target="../notesSlides/notesSlide1.xml"/><Relationship Id="rId16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Relationship Id="rId14" Type="http://schemas.openxmlformats.org/officeDocument/2006/relationships/image" Target="NUL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../media/image1.png"/><Relationship Id="rId7" Type="http://schemas.openxmlformats.org/officeDocument/2006/relationships/image" Target="NUL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../media/image19.png"/><Relationship Id="rId4" Type="http://schemas.openxmlformats.org/officeDocument/2006/relationships/image" Target="NULL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cipy.github.io/devdocs/tutorial/general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Modelling a Simple Pendulum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21124"/>
            <a:ext cx="2102721" cy="23690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15349" y="1621158"/>
                <a:ext cx="160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5349" y="1621158"/>
                <a:ext cx="1609350" cy="276999"/>
              </a:xfrm>
              <a:prstGeom prst="rect">
                <a:avLst/>
              </a:prstGeom>
              <a:blipFill>
                <a:blip r:embed="rId4"/>
                <a:stretch>
                  <a:fillRect l="-3409" r="-2273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670297" y="4368983"/>
                <a:ext cx="83221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𝑚𝑎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297" y="4368983"/>
                <a:ext cx="832216" cy="276999"/>
              </a:xfrm>
              <a:prstGeom prst="rect">
                <a:avLst/>
              </a:prstGeom>
              <a:blipFill>
                <a:blip r:embed="rId5"/>
                <a:stretch>
                  <a:fillRect l="-5839" r="-292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70297" y="4892377"/>
                <a:ext cx="1100621" cy="5557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297" y="4892377"/>
                <a:ext cx="1100621" cy="55579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926347" y="4368983"/>
                <a:ext cx="6751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47" y="4368983"/>
                <a:ext cx="675120" cy="276999"/>
              </a:xfrm>
              <a:prstGeom prst="rect">
                <a:avLst/>
              </a:prstGeom>
              <a:blipFill>
                <a:blip r:embed="rId7"/>
                <a:stretch>
                  <a:fillRect l="-4505" r="-6306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63427" y="4861399"/>
                <a:ext cx="1400960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27" y="4861399"/>
                <a:ext cx="1400960" cy="648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484219" y="5743666"/>
                <a:ext cx="1472775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4219" y="5743666"/>
                <a:ext cx="1472775" cy="64812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4590768" y="2215340"/>
                <a:ext cx="2252476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𝑙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𝑚𝑔</m:t>
                      </m:r>
                      <m:func>
                        <m:func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l-GR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68" y="2215340"/>
                <a:ext cx="2252476" cy="6481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4873311" y="2995114"/>
                <a:ext cx="1785104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3311" y="2995114"/>
                <a:ext cx="1785104" cy="64812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5"/>
          <p:cNvGrpSpPr/>
          <p:nvPr/>
        </p:nvGrpSpPr>
        <p:grpSpPr>
          <a:xfrm>
            <a:off x="4926122" y="4181553"/>
            <a:ext cx="1785104" cy="1644445"/>
            <a:chOff x="6137333" y="4800600"/>
            <a:chExt cx="1785104" cy="1644445"/>
          </a:xfrm>
        </p:grpSpPr>
        <p:grpSp>
          <p:nvGrpSpPr>
            <p:cNvPr id="24" name="Group 23"/>
            <p:cNvGrpSpPr/>
            <p:nvPr/>
          </p:nvGrpSpPr>
          <p:grpSpPr>
            <a:xfrm>
              <a:off x="6312829" y="5007710"/>
              <a:ext cx="1511055" cy="1230225"/>
              <a:chOff x="6289733" y="5003487"/>
              <a:chExt cx="1511055" cy="12302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6289733" y="5003487"/>
                    <a:ext cx="1511055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func>
                            <m:func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i="0" smtClean="0"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</m:fName>
                            <m:e>
                              <m:r>
                                <m:rPr>
                                  <m:sty m:val="p"/>
                                </m:rPr>
                                <a:rPr lang="el-G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θ</m:t>
                              </m:r>
                            </m:e>
                          </m:func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9733" y="5003487"/>
                    <a:ext cx="1511055" cy="525913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/>
            <p:cNvSpPr/>
            <p:nvPr/>
          </p:nvSpPr>
          <p:spPr>
            <a:xfrm>
              <a:off x="6137333" y="4800600"/>
              <a:ext cx="1785104" cy="16444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53264" y="2428658"/>
                <a:ext cx="132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4" y="2428658"/>
                <a:ext cx="132344" cy="276999"/>
              </a:xfrm>
              <a:prstGeom prst="rect">
                <a:avLst/>
              </a:prstGeom>
              <a:blipFill>
                <a:blip r:embed="rId15"/>
                <a:stretch>
                  <a:fillRect l="-45455" r="-3636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32F4FC7B-D6C8-49BE-AA24-EA5BA3BD6B6F}"/>
              </a:ext>
            </a:extLst>
          </p:cNvPr>
          <p:cNvSpPr txBox="1"/>
          <p:nvPr/>
        </p:nvSpPr>
        <p:spPr>
          <a:xfrm>
            <a:off x="6740011" y="1475714"/>
            <a:ext cx="13647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Gravity is a restoring force</a:t>
            </a:r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EBEAE7FC-3781-4755-A0B8-B0959E701347}"/>
              </a:ext>
            </a:extLst>
          </p:cNvPr>
          <p:cNvCxnSpPr>
            <a:cxnSpLocks/>
            <a:stCxn id="19" idx="0"/>
            <a:endCxn id="6" idx="0"/>
          </p:cNvCxnSpPr>
          <p:nvPr/>
        </p:nvCxnSpPr>
        <p:spPr>
          <a:xfrm rot="5400000" flipH="1" flipV="1">
            <a:off x="6326668" y="618777"/>
            <a:ext cx="238786" cy="1952661"/>
          </a:xfrm>
          <a:prstGeom prst="curvedConnector3">
            <a:avLst>
              <a:gd name="adj1" fmla="val 195734"/>
            </a:avLst>
          </a:prstGeom>
          <a:ln w="19050">
            <a:solidFill>
              <a:srgbClr val="00B05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736164B-3AE7-42C0-9955-02464E1354FB}"/>
              </a:ext>
            </a:extLst>
          </p:cNvPr>
          <p:cNvSpPr txBox="1"/>
          <p:nvPr/>
        </p:nvSpPr>
        <p:spPr>
          <a:xfrm>
            <a:off x="6886723" y="4458607"/>
            <a:ext cx="186753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We can break the 2</a:t>
            </a:r>
            <a:r>
              <a:rPr lang="en-US" sz="1400" baseline="30000" dirty="0"/>
              <a:t>nd</a:t>
            </a:r>
            <a:r>
              <a:rPr lang="en-US" sz="1400" dirty="0"/>
              <a:t> order ODE into </a:t>
            </a:r>
            <a:r>
              <a:rPr lang="en-US" sz="1400" u="sng" dirty="0"/>
              <a:t>two</a:t>
            </a:r>
            <a:r>
              <a:rPr lang="en-US" sz="1400" dirty="0"/>
              <a:t> </a:t>
            </a:r>
            <a:r>
              <a:rPr lang="en-US" sz="1400" b="1" dirty="0"/>
              <a:t>linked</a:t>
            </a:r>
            <a:r>
              <a:rPr lang="en-US" sz="1400" dirty="0"/>
              <a:t> 1</a:t>
            </a:r>
            <a:r>
              <a:rPr lang="en-US" sz="1400" baseline="30000" dirty="0"/>
              <a:t>st</a:t>
            </a:r>
            <a:r>
              <a:rPr lang="en-US" sz="1400" dirty="0"/>
              <a:t> order ODEs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543197-51CA-44B5-9037-20DBF5196AB9}"/>
                  </a:ext>
                </a:extLst>
              </p:cNvPr>
              <p:cNvSpPr txBox="1"/>
              <p:nvPr/>
            </p:nvSpPr>
            <p:spPr>
              <a:xfrm>
                <a:off x="1339773" y="3821809"/>
                <a:ext cx="774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dirty="0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4543197-51CA-44B5-9037-20DBF5196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773" y="3821809"/>
                <a:ext cx="774474" cy="30777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A08EE88-7E5D-45E0-8B4C-B09F3326E29B}"/>
              </a:ext>
            </a:extLst>
          </p:cNvPr>
          <p:cNvCxnSpPr>
            <a:cxnSpLocks/>
          </p:cNvCxnSpPr>
          <p:nvPr/>
        </p:nvCxnSpPr>
        <p:spPr>
          <a:xfrm flipV="1">
            <a:off x="1694296" y="3640930"/>
            <a:ext cx="0" cy="26592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7918D64-A1E1-4AD4-9E19-C143B5EB6445}"/>
              </a:ext>
            </a:extLst>
          </p:cNvPr>
          <p:cNvSpPr/>
          <p:nvPr/>
        </p:nvSpPr>
        <p:spPr>
          <a:xfrm>
            <a:off x="5384006" y="1714500"/>
            <a:ext cx="171450" cy="100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F35700-2C8B-35D5-4E6E-72A04279A129}"/>
              </a:ext>
            </a:extLst>
          </p:cNvPr>
          <p:cNvSpPr/>
          <p:nvPr/>
        </p:nvSpPr>
        <p:spPr>
          <a:xfrm>
            <a:off x="6057901" y="3238500"/>
            <a:ext cx="482600" cy="26987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09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Modelling a Simple Pendulum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521124"/>
            <a:ext cx="2102721" cy="2369066"/>
          </a:xfrm>
          <a:prstGeom prst="rect">
            <a:avLst/>
          </a:prstGeom>
        </p:spPr>
      </p:pic>
      <p:grpSp>
        <p:nvGrpSpPr>
          <p:cNvPr id="26" name="Group 25"/>
          <p:cNvGrpSpPr/>
          <p:nvPr/>
        </p:nvGrpSpPr>
        <p:grpSpPr>
          <a:xfrm>
            <a:off x="3380387" y="1767382"/>
            <a:ext cx="1531828" cy="1644445"/>
            <a:chOff x="6137333" y="4800600"/>
            <a:chExt cx="1531828" cy="1644445"/>
          </a:xfrm>
        </p:grpSpPr>
        <p:grpSp>
          <p:nvGrpSpPr>
            <p:cNvPr id="24" name="Group 23"/>
            <p:cNvGrpSpPr/>
            <p:nvPr/>
          </p:nvGrpSpPr>
          <p:grpSpPr>
            <a:xfrm>
              <a:off x="6312829" y="5007710"/>
              <a:ext cx="1180836" cy="1230225"/>
              <a:chOff x="6289733" y="5003487"/>
              <a:chExt cx="1180836" cy="12302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/>
                  <p:cNvSpPr txBox="1"/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2" name="TextBox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23049" y="5707799"/>
                    <a:ext cx="795666" cy="52591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/>
                  <p:cNvSpPr txBox="1"/>
                  <p:nvPr/>
                </p:nvSpPr>
                <p:spPr>
                  <a:xfrm>
                    <a:off x="6289733" y="5003487"/>
                    <a:ext cx="1180836" cy="525913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𝜔</m:t>
                              </m:r>
                            </m:num>
                            <m:den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23" name="TextBox 2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9733" y="5003487"/>
                    <a:ext cx="1180836" cy="525913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5" name="Rectangle 24"/>
            <p:cNvSpPr/>
            <p:nvPr/>
          </p:nvSpPr>
          <p:spPr>
            <a:xfrm>
              <a:off x="6137333" y="4800600"/>
              <a:ext cx="1531828" cy="16444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2153264" y="2428658"/>
                <a:ext cx="1323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3264" y="2428658"/>
                <a:ext cx="132344" cy="276999"/>
              </a:xfrm>
              <a:prstGeom prst="rect">
                <a:avLst/>
              </a:prstGeom>
              <a:blipFill>
                <a:blip r:embed="rId6"/>
                <a:stretch>
                  <a:fillRect l="-45455" r="-36364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561231" y="1989010"/>
                <a:ext cx="1947008" cy="4743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231" y="1989010"/>
                <a:ext cx="1947008" cy="47436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5561231" y="2803260"/>
                <a:ext cx="171848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231" y="2803260"/>
                <a:ext cx="1718484" cy="276999"/>
              </a:xfrm>
              <a:prstGeom prst="rect">
                <a:avLst/>
              </a:prstGeom>
              <a:blipFill>
                <a:blip r:embed="rId8"/>
                <a:stretch>
                  <a:fillRect l="-2482" r="-2482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stCxn id="23" idx="3"/>
            <a:endCxn id="6" idx="1"/>
          </p:cNvCxnSpPr>
          <p:nvPr/>
        </p:nvCxnSpPr>
        <p:spPr>
          <a:xfrm flipV="1">
            <a:off x="4736719" y="2226191"/>
            <a:ext cx="824512" cy="112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22" idx="3"/>
            <a:endCxn id="21" idx="1"/>
          </p:cNvCxnSpPr>
          <p:nvPr/>
        </p:nvCxnSpPr>
        <p:spPr>
          <a:xfrm flipV="1">
            <a:off x="4384865" y="2941760"/>
            <a:ext cx="1176366" cy="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709AB13E-94F6-4610-A131-02F490518D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9519" y="3710628"/>
            <a:ext cx="3627131" cy="2572433"/>
          </a:xfrm>
          <a:prstGeom prst="rect">
            <a:avLst/>
          </a:prstGeom>
        </p:spPr>
      </p:pic>
      <p:sp>
        <p:nvSpPr>
          <p:cNvPr id="17" name="Speech Bubble: Rectangle with Corners Rounded 16">
            <a:extLst>
              <a:ext uri="{FF2B5EF4-FFF2-40B4-BE49-F238E27FC236}">
                <a16:creationId xmlns:a16="http://schemas.microsoft.com/office/drawing/2014/main" id="{C7BA6741-FC37-493A-8B04-588C3BB54048}"/>
              </a:ext>
            </a:extLst>
          </p:cNvPr>
          <p:cNvSpPr/>
          <p:nvPr/>
        </p:nvSpPr>
        <p:spPr>
          <a:xfrm>
            <a:off x="2153264" y="5137447"/>
            <a:ext cx="1714138" cy="745335"/>
          </a:xfrm>
          <a:prstGeom prst="wedgeRoundRectCallout">
            <a:avLst>
              <a:gd name="adj1" fmla="val 120117"/>
              <a:gd name="adj2" fmla="val -4816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This is Euler’s Method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DE3AA6D-1F84-8F22-2ADB-7CAD5FE0C492}"/>
              </a:ext>
            </a:extLst>
          </p:cNvPr>
          <p:cNvSpPr/>
          <p:nvPr/>
        </p:nvSpPr>
        <p:spPr>
          <a:xfrm>
            <a:off x="6730584" y="5681272"/>
            <a:ext cx="607101" cy="28481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7C4DD-7FCF-5949-9FA5-805953855274}"/>
                  </a:ext>
                </a:extLst>
              </p:cNvPr>
              <p:cNvSpPr txBox="1"/>
              <p:nvPr/>
            </p:nvSpPr>
            <p:spPr>
              <a:xfrm>
                <a:off x="1339773" y="3821809"/>
                <a:ext cx="77447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400" i="1" dirty="0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400" b="0" i="1" dirty="0" smtClean="0">
                          <a:ln>
                            <a:solidFill>
                              <a:srgbClr val="7030A0"/>
                            </a:solidFill>
                          </a:ln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ln>
                    <a:solidFill>
                      <a:srgbClr val="7030A0"/>
                    </a:solidFill>
                  </a:ln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87C4DD-7FCF-5949-9FA5-805953855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9773" y="3821809"/>
                <a:ext cx="774474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A82B73-DFD9-A436-FF76-F80171645B9A}"/>
              </a:ext>
            </a:extLst>
          </p:cNvPr>
          <p:cNvCxnSpPr>
            <a:cxnSpLocks/>
          </p:cNvCxnSpPr>
          <p:nvPr/>
        </p:nvCxnSpPr>
        <p:spPr>
          <a:xfrm flipV="1">
            <a:off x="1694296" y="3640930"/>
            <a:ext cx="0" cy="265927"/>
          </a:xfrm>
          <a:prstGeom prst="straightConnector1">
            <a:avLst/>
          </a:prstGeom>
          <a:ln w="1905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9785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3E6C6B-547A-48EC-8E69-8444D9EA604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13337" y="671051"/>
            <a:ext cx="6717325" cy="28169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AECBFA-048A-41FF-8751-30D92A00D971}"/>
              </a:ext>
            </a:extLst>
          </p:cNvPr>
          <p:cNvSpPr txBox="1"/>
          <p:nvPr/>
        </p:nvSpPr>
        <p:spPr>
          <a:xfrm>
            <a:off x="2603089" y="316983"/>
            <a:ext cx="3937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Hidden Figures</a:t>
            </a:r>
            <a:r>
              <a:rPr lang="en-US" dirty="0"/>
              <a:t>, Fox 2000 Pictures, 2016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B1D1F0-F1E7-4F3F-BC72-C24216A933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28" y="2358664"/>
            <a:ext cx="4084334" cy="318660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F6A676-2F70-4C23-AC60-C288ECFA2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580" y="3127780"/>
            <a:ext cx="5609524" cy="322857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39F0D93A-3AC9-4262-AF55-F031E91C1B74}"/>
              </a:ext>
            </a:extLst>
          </p:cNvPr>
          <p:cNvSpPr/>
          <p:nvPr/>
        </p:nvSpPr>
        <p:spPr>
          <a:xfrm>
            <a:off x="7057509" y="4884559"/>
            <a:ext cx="1706763" cy="502119"/>
          </a:xfrm>
          <a:prstGeom prst="wedgeRoundRectCallout">
            <a:avLst>
              <a:gd name="adj1" fmla="val -43541"/>
              <a:gd name="adj2" fmla="val 994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Euler’s Method</a:t>
            </a:r>
          </a:p>
        </p:txBody>
      </p:sp>
    </p:spTree>
    <p:extLst>
      <p:ext uri="{BB962C8B-B14F-4D97-AF65-F5344CB8AC3E}">
        <p14:creationId xmlns:p14="http://schemas.microsoft.com/office/powerpoint/2010/main" val="272907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Runge-Kutta Methods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0748CAC-A383-428E-8E52-0FE0B831B9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" y="1883339"/>
            <a:ext cx="4207745" cy="42077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FE763A-8476-4F21-B12F-48E0DF2B6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119" y="1845754"/>
            <a:ext cx="2484387" cy="6564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FDD383E-6C62-48DD-BCBA-97F4F7B84F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558" y="4793158"/>
            <a:ext cx="3681882" cy="9160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6B3DC4-9A32-47E9-892D-AF4150E7B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6558" y="2808504"/>
            <a:ext cx="2802784" cy="167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10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Solve Differential Equations with SciPy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z="1400" b="1" smtClean="0">
                <a:solidFill>
                  <a:schemeClr val="tx1"/>
                </a:solidFill>
              </a:rPr>
              <a:t>5</a:t>
            </a:fld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2BE59-2BCE-4196-B693-A1CE7F8C7421}"/>
              </a:ext>
            </a:extLst>
          </p:cNvPr>
          <p:cNvSpPr txBox="1"/>
          <p:nvPr/>
        </p:nvSpPr>
        <p:spPr>
          <a:xfrm>
            <a:off x="2979174" y="1253613"/>
            <a:ext cx="319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https://scipy.org</a:t>
            </a:r>
            <a:r>
              <a:rPr lang="en-US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785722-8323-475B-A4D8-32EF558A9E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023" y="1782094"/>
            <a:ext cx="7689954" cy="45440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22A0AE3-9D1A-4DFA-AE0D-363C8627DC81}"/>
              </a:ext>
            </a:extLst>
          </p:cNvPr>
          <p:cNvSpPr/>
          <p:nvPr/>
        </p:nvSpPr>
        <p:spPr>
          <a:xfrm>
            <a:off x="876925" y="3612630"/>
            <a:ext cx="2158583" cy="659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900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</a:t>
            </a:r>
            <a:r>
              <a:rPr lang="en-US" sz="3200" dirty="0">
                <a:latin typeface="+mn-lt"/>
              </a:rPr>
              <a:t> scipy_pendulum.py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242FDEF-51D3-39A4-F98C-30D925F19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8904" y="1437420"/>
            <a:ext cx="4466191" cy="5284056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031F86F-CB53-065D-21E4-325F7731B7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9031" y="2603884"/>
            <a:ext cx="1505843" cy="1243692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5E6D2F27-CDD6-8D34-D114-99AA4ED0A599}"/>
              </a:ext>
            </a:extLst>
          </p:cNvPr>
          <p:cNvGrpSpPr/>
          <p:nvPr/>
        </p:nvGrpSpPr>
        <p:grpSpPr>
          <a:xfrm>
            <a:off x="5099698" y="1391078"/>
            <a:ext cx="1076632" cy="369332"/>
            <a:chOff x="4968362" y="2079211"/>
            <a:chExt cx="1076632" cy="369332"/>
          </a:xfrm>
        </p:grpSpPr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CED71AA-C74A-001D-4435-A829416650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76DBEF9-C7CC-D2CF-4B06-67B05F319B4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57A962F6-04CF-D284-EBFA-ECC5B46E29E7}"/>
              </a:ext>
            </a:extLst>
          </p:cNvPr>
          <p:cNvGrpSpPr/>
          <p:nvPr/>
        </p:nvGrpSpPr>
        <p:grpSpPr>
          <a:xfrm>
            <a:off x="5714287" y="1869052"/>
            <a:ext cx="1076632" cy="369332"/>
            <a:chOff x="4704120" y="2356972"/>
            <a:chExt cx="1076632" cy="369332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B0151C6-41BA-A908-7CDC-11637D68AA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45742DA7-B93E-BBA3-40D1-FE644934C77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2ACE4D8-71BB-4DAA-1876-5FF207CA8707}"/>
              </a:ext>
            </a:extLst>
          </p:cNvPr>
          <p:cNvGrpSpPr/>
          <p:nvPr/>
        </p:nvGrpSpPr>
        <p:grpSpPr>
          <a:xfrm>
            <a:off x="6817742" y="2025224"/>
            <a:ext cx="1068643" cy="369332"/>
            <a:chOff x="3647644" y="4910075"/>
            <a:chExt cx="1068643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3E5B40F-EA53-E23D-032F-57C1246F700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9A2FA12-53FA-4A6C-F349-03723B9DED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F336B44-4F6E-B436-1F9D-42F52492ED36}"/>
              </a:ext>
            </a:extLst>
          </p:cNvPr>
          <p:cNvGrpSpPr/>
          <p:nvPr/>
        </p:nvGrpSpPr>
        <p:grpSpPr>
          <a:xfrm>
            <a:off x="5755775" y="2257569"/>
            <a:ext cx="1064340" cy="369332"/>
            <a:chOff x="3647644" y="5421073"/>
            <a:chExt cx="1064340" cy="369332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2F4AA91-BFE3-44C6-595A-6293DA5A40B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5AFBC371-7ACE-54A7-58B8-27FACF0279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2485017-41A1-52CE-8F1E-4BD1F1CD0EC3}"/>
              </a:ext>
            </a:extLst>
          </p:cNvPr>
          <p:cNvGrpSpPr/>
          <p:nvPr/>
        </p:nvGrpSpPr>
        <p:grpSpPr>
          <a:xfrm>
            <a:off x="4370177" y="2513178"/>
            <a:ext cx="1068643" cy="369332"/>
            <a:chOff x="3647644" y="5359159"/>
            <a:chExt cx="1068643" cy="369332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AA0CA981-FE15-B77D-8C61-36DEF38EEA1D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77BBD853-672A-298B-5907-9357EDEB33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Rectangle 77">
            <a:extLst>
              <a:ext uri="{FF2B5EF4-FFF2-40B4-BE49-F238E27FC236}">
                <a16:creationId xmlns:a16="http://schemas.microsoft.com/office/drawing/2014/main" id="{4DE71DF8-6A0F-A342-5896-15AD8AE2CF75}"/>
              </a:ext>
            </a:extLst>
          </p:cNvPr>
          <p:cNvSpPr/>
          <p:nvPr/>
        </p:nvSpPr>
        <p:spPr>
          <a:xfrm>
            <a:off x="2626519" y="2286001"/>
            <a:ext cx="3087768" cy="32631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78030CB-C8EB-2C7D-3859-237D3D18A476}"/>
              </a:ext>
            </a:extLst>
          </p:cNvPr>
          <p:cNvSpPr/>
          <p:nvPr/>
        </p:nvSpPr>
        <p:spPr>
          <a:xfrm>
            <a:off x="7062729" y="2584909"/>
            <a:ext cx="1612145" cy="13255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81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153DC64-2C14-5392-2EB8-9CA498F6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413" y="1286098"/>
            <a:ext cx="7247171" cy="5435378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b="1" dirty="0">
                <a:solidFill>
                  <a:srgbClr val="0070C0"/>
                </a:solidFill>
                <a:latin typeface="+mn-lt"/>
              </a:rPr>
              <a:t> </a:t>
            </a:r>
            <a:r>
              <a:rPr lang="en-US" sz="3200" dirty="0">
                <a:latin typeface="+mn-lt"/>
              </a:rPr>
              <a:t>scipy_pendulum.py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781F23-B23A-0107-74AC-1E15593CE783}"/>
                  </a:ext>
                </a:extLst>
              </p:cNvPr>
              <p:cNvSpPr txBox="1"/>
              <p:nvPr/>
            </p:nvSpPr>
            <p:spPr>
              <a:xfrm>
                <a:off x="1889775" y="2814966"/>
                <a:ext cx="911853" cy="28321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75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sup>
                      </m:sSup>
                    </m:oMath>
                  </m:oMathPara>
                </a14:m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781F23-B23A-0107-74AC-1E15593CE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75" y="2814966"/>
                <a:ext cx="911853" cy="283219"/>
              </a:xfrm>
              <a:prstGeom prst="rect">
                <a:avLst/>
              </a:prstGeom>
              <a:blipFill>
                <a:blip r:embed="rId3"/>
                <a:stretch>
                  <a:fillRect l="-5333" t="-4348" r="-2667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508799-2A65-F1A3-317E-B32D59831260}"/>
              </a:ext>
            </a:extLst>
          </p:cNvPr>
          <p:cNvCxnSpPr>
            <a:cxnSpLocks/>
          </p:cNvCxnSpPr>
          <p:nvPr/>
        </p:nvCxnSpPr>
        <p:spPr>
          <a:xfrm flipV="1">
            <a:off x="2102371" y="3098185"/>
            <a:ext cx="275795" cy="214928"/>
          </a:xfrm>
          <a:prstGeom prst="straightConnector1">
            <a:avLst/>
          </a:prstGeom>
          <a:ln>
            <a:solidFill>
              <a:srgbClr val="FF000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E4E89A3-7F9A-DF4B-3273-5184FA23EB16}"/>
              </a:ext>
            </a:extLst>
          </p:cNvPr>
          <p:cNvGrpSpPr/>
          <p:nvPr/>
        </p:nvGrpSpPr>
        <p:grpSpPr>
          <a:xfrm>
            <a:off x="6073590" y="3989949"/>
            <a:ext cx="91440" cy="728768"/>
            <a:chOff x="6073590" y="3989949"/>
            <a:chExt cx="91440" cy="728768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6395343-7EE6-F818-F0F0-F65F142C3E7E}"/>
                </a:ext>
              </a:extLst>
            </p:cNvPr>
            <p:cNvSpPr/>
            <p:nvPr/>
          </p:nvSpPr>
          <p:spPr>
            <a:xfrm>
              <a:off x="6073590" y="3989949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3B895CF-EE1C-1460-925C-CDEBA29414E3}"/>
                </a:ext>
              </a:extLst>
            </p:cNvPr>
            <p:cNvSpPr/>
            <p:nvPr/>
          </p:nvSpPr>
          <p:spPr>
            <a:xfrm>
              <a:off x="6073590" y="4627277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E8F9876-98B1-BBE8-1D91-41D89172B937}"/>
                </a:ext>
              </a:extLst>
            </p:cNvPr>
            <p:cNvCxnSpPr>
              <a:cxnSpLocks/>
              <a:stCxn id="11" idx="4"/>
              <a:endCxn id="12" idx="0"/>
            </p:cNvCxnSpPr>
            <p:nvPr/>
          </p:nvCxnSpPr>
          <p:spPr>
            <a:xfrm>
              <a:off x="6119310" y="4081389"/>
              <a:ext cx="0" cy="545888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2A81FF6A-68D0-CE7F-6812-358ED61C9E8B}"/>
              </a:ext>
            </a:extLst>
          </p:cNvPr>
          <p:cNvSpPr/>
          <p:nvPr/>
        </p:nvSpPr>
        <p:spPr>
          <a:xfrm>
            <a:off x="3189327" y="4769674"/>
            <a:ext cx="1592536" cy="1014770"/>
          </a:xfrm>
          <a:prstGeom prst="wedgeRoundRectCallout">
            <a:avLst>
              <a:gd name="adj1" fmla="val -58780"/>
              <a:gd name="adj2" fmla="val -119456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/>
              <a:t>What is the </a:t>
            </a:r>
            <a:r>
              <a:rPr lang="en-US" sz="1600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physics</a:t>
            </a:r>
            <a:r>
              <a:rPr lang="en-US" sz="1600" b="1" dirty="0"/>
              <a:t> </a:t>
            </a:r>
            <a:r>
              <a:rPr lang="en-US" sz="1600" b="1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story</a:t>
            </a:r>
            <a:r>
              <a:rPr lang="en-US" sz="1600" b="1" dirty="0"/>
              <a:t> at these circled times?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DC29431-28D0-1743-EFFC-AA26513D9B0B}"/>
              </a:ext>
            </a:extLst>
          </p:cNvPr>
          <p:cNvGrpSpPr/>
          <p:nvPr/>
        </p:nvGrpSpPr>
        <p:grpSpPr>
          <a:xfrm>
            <a:off x="2923727" y="2088357"/>
            <a:ext cx="91440" cy="1993032"/>
            <a:chOff x="2923727" y="2088357"/>
            <a:chExt cx="91440" cy="199303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4CEC24D-78AE-7B9E-81E9-490EF11BFB67}"/>
                </a:ext>
              </a:extLst>
            </p:cNvPr>
            <p:cNvSpPr/>
            <p:nvPr/>
          </p:nvSpPr>
          <p:spPr>
            <a:xfrm>
              <a:off x="2923727" y="2088357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62A1941-B1BE-495C-3C26-92DAA23A4604}"/>
                </a:ext>
              </a:extLst>
            </p:cNvPr>
            <p:cNvSpPr/>
            <p:nvPr/>
          </p:nvSpPr>
          <p:spPr>
            <a:xfrm>
              <a:off x="2923727" y="3989949"/>
              <a:ext cx="91440" cy="9144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405DA82-F897-6E78-887B-0DE8D736C23B}"/>
                </a:ext>
              </a:extLst>
            </p:cNvPr>
            <p:cNvCxnSpPr>
              <a:cxnSpLocks/>
              <a:stCxn id="16" idx="4"/>
              <a:endCxn id="17" idx="0"/>
            </p:cNvCxnSpPr>
            <p:nvPr/>
          </p:nvCxnSpPr>
          <p:spPr>
            <a:xfrm>
              <a:off x="2969447" y="2179797"/>
              <a:ext cx="0" cy="181015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903850-0C6A-8A91-D77A-C1381A4B4E96}"/>
              </a:ext>
            </a:extLst>
          </p:cNvPr>
          <p:cNvGrpSpPr/>
          <p:nvPr/>
        </p:nvGrpSpPr>
        <p:grpSpPr>
          <a:xfrm>
            <a:off x="7081370" y="1972646"/>
            <a:ext cx="1076632" cy="369332"/>
            <a:chOff x="4968362" y="2079211"/>
            <a:chExt cx="1076632" cy="369332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F2DE16D-9932-FDFB-B22D-FFCA739D5E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BD3DB0-40B4-BCB3-8572-5C78A1A7986F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110BD3E-CDE1-7777-4341-C2B9B13F9B28}"/>
              </a:ext>
            </a:extLst>
          </p:cNvPr>
          <p:cNvGrpSpPr/>
          <p:nvPr/>
        </p:nvGrpSpPr>
        <p:grpSpPr>
          <a:xfrm>
            <a:off x="7366184" y="2232904"/>
            <a:ext cx="1076632" cy="369332"/>
            <a:chOff x="4704120" y="2356972"/>
            <a:chExt cx="1076632" cy="369332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97C9D7B-0E52-F96E-0DF3-F622BFD2AC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FF2ED6B-BA05-465A-39A5-7E913DF295A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9081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Damped Harmonic Oscillator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508" y="1788150"/>
            <a:ext cx="8312983" cy="435133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real oscillators, friction (or damping) slows the motion of the system. Due to frictional force, the </a:t>
            </a:r>
            <a:r>
              <a:rPr lang="en-US" sz="2400" b="1" dirty="0">
                <a:solidFill>
                  <a:srgbClr val="FF0000"/>
                </a:solidFill>
              </a:rPr>
              <a:t>velocity decreases in proportion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to </a:t>
            </a:r>
            <a:r>
              <a:rPr lang="en-US" sz="2400" dirty="0"/>
              <a:t>the acting frictional force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In contrast to a simple </a:t>
            </a:r>
            <a:r>
              <a:rPr lang="en-US" sz="2400" i="1" dirty="0"/>
              <a:t>undriven</a:t>
            </a:r>
            <a:r>
              <a:rPr lang="en-US" sz="2400" dirty="0"/>
              <a:t> harmonic oscillator (where the only force acting on the mass is the restoring force) in a </a:t>
            </a:r>
            <a:r>
              <a:rPr lang="en-US" sz="2400" b="1" dirty="0"/>
              <a:t>damped</a:t>
            </a:r>
            <a:r>
              <a:rPr lang="en-US" sz="2400" dirty="0"/>
              <a:t> harmonic oscillator there is in addition a </a:t>
            </a:r>
            <a:r>
              <a:rPr lang="en-US" sz="2400" i="1" dirty="0"/>
              <a:t>frictional</a:t>
            </a:r>
            <a:r>
              <a:rPr lang="en-US" sz="2400" dirty="0"/>
              <a:t> force which is always acts in </a:t>
            </a:r>
            <a:r>
              <a:rPr lang="en-US" sz="2400" b="1" dirty="0">
                <a:solidFill>
                  <a:srgbClr val="0070C0"/>
                </a:solidFill>
              </a:rPr>
              <a:t>the direction </a:t>
            </a:r>
            <a:r>
              <a:rPr lang="en-US" sz="2400" b="1" u="sng" dirty="0">
                <a:solidFill>
                  <a:srgbClr val="0070C0"/>
                </a:solidFill>
              </a:rPr>
              <a:t>opposing</a:t>
            </a:r>
            <a:r>
              <a:rPr lang="en-US" sz="2400" b="1" dirty="0">
                <a:solidFill>
                  <a:srgbClr val="0070C0"/>
                </a:solidFill>
              </a:rPr>
              <a:t> the motion</a:t>
            </a:r>
          </a:p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US" sz="2400" dirty="0"/>
              <a:t>We always strive to develop mathematical models that are as realistic as possible – </a:t>
            </a:r>
            <a:r>
              <a:rPr lang="en-US" sz="2400" b="1" dirty="0">
                <a:solidFill>
                  <a:srgbClr val="7030A0"/>
                </a:solidFill>
              </a:rPr>
              <a:t>friction is hard to avoid in the real world and therefore should not be ignored in a simulation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4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Damped Harmonic Oscillator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0FF1D9-DC2E-4AFB-8F10-ECEECF7F8FE6}"/>
              </a:ext>
            </a:extLst>
          </p:cNvPr>
          <p:cNvSpPr txBox="1"/>
          <p:nvPr/>
        </p:nvSpPr>
        <p:spPr>
          <a:xfrm>
            <a:off x="2249295" y="2450283"/>
            <a:ext cx="46454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We can introduce a new </a:t>
            </a:r>
            <a:r>
              <a:rPr lang="en-US" b="1" dirty="0"/>
              <a:t>resistive force term </a:t>
            </a:r>
            <a:r>
              <a:rPr lang="en-US" dirty="0"/>
              <a:t>into the equation of motion for a pendulum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4452B5D-B199-4E53-B9EE-F4FA08861E3B}"/>
                  </a:ext>
                </a:extLst>
              </p:cNvPr>
              <p:cNvSpPr/>
              <p:nvPr/>
            </p:nvSpPr>
            <p:spPr>
              <a:xfrm>
                <a:off x="3613459" y="3282161"/>
                <a:ext cx="2537490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4452B5D-B199-4E53-B9EE-F4FA08861E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3459" y="3282161"/>
                <a:ext cx="2537490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291599-CF59-4FE6-BD4F-F2B2BF6DAF34}"/>
                  </a:ext>
                </a:extLst>
              </p:cNvPr>
              <p:cNvSpPr txBox="1"/>
              <p:nvPr/>
            </p:nvSpPr>
            <p:spPr>
              <a:xfrm>
                <a:off x="3469099" y="4115834"/>
                <a:ext cx="241103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</a:t>
                </a:r>
                <a:r>
                  <a:rPr lang="en-US" b="1" dirty="0"/>
                  <a:t>damping_constant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1291599-CF59-4FE6-BD4F-F2B2BF6DAF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9099" y="4115834"/>
                <a:ext cx="2411031" cy="369332"/>
              </a:xfrm>
              <a:prstGeom prst="rect">
                <a:avLst/>
              </a:prstGeom>
              <a:blipFill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4B1AD468-953A-4A58-B1C3-1F53D7CB5C18}"/>
              </a:ext>
            </a:extLst>
          </p:cNvPr>
          <p:cNvGrpSpPr/>
          <p:nvPr/>
        </p:nvGrpSpPr>
        <p:grpSpPr>
          <a:xfrm>
            <a:off x="3526804" y="4818728"/>
            <a:ext cx="2411031" cy="1644445"/>
            <a:chOff x="1750207" y="4649772"/>
            <a:chExt cx="2411031" cy="16444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EDE44C8-F498-4C98-9F58-C148F4FD6587}"/>
                    </a:ext>
                  </a:extLst>
                </p:cNvPr>
                <p:cNvSpPr txBox="1"/>
                <p:nvPr/>
              </p:nvSpPr>
              <p:spPr>
                <a:xfrm>
                  <a:off x="2033494" y="5561194"/>
                  <a:ext cx="795666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EDE44C8-F498-4C98-9F58-C148F4FD65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3494" y="5561194"/>
                  <a:ext cx="795666" cy="52591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081506-5C72-455E-9CC6-84628C289A31}"/>
                    </a:ext>
                  </a:extLst>
                </p:cNvPr>
                <p:cNvSpPr txBox="1"/>
                <p:nvPr/>
              </p:nvSpPr>
              <p:spPr>
                <a:xfrm>
                  <a:off x="1972038" y="4856882"/>
                  <a:ext cx="2045111" cy="52591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num>
                          <m:den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𝑙</m:t>
                            </m:r>
                          </m:den>
                        </m:f>
                        <m:func>
                          <m:func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m:rPr>
                                <m:sty m:val="p"/>
                              </m:rPr>
                              <a:rPr lang="el-GR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θ</m:t>
                            </m:r>
                          </m:e>
                        </m:func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4B081506-5C72-455E-9CC6-84628C289A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72038" y="4856882"/>
                  <a:ext cx="2045111" cy="5259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E1B4E6C-8CE5-40AD-8525-BBDF034E66EB}"/>
                </a:ext>
              </a:extLst>
            </p:cNvPr>
            <p:cNvSpPr/>
            <p:nvPr/>
          </p:nvSpPr>
          <p:spPr>
            <a:xfrm>
              <a:off x="1750207" y="4649772"/>
              <a:ext cx="2411031" cy="1644445"/>
            </a:xfrm>
            <a:prstGeom prst="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5533BAD7-0F2B-49B9-B6B9-A289063099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504" y="1778962"/>
            <a:ext cx="1290704" cy="145419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7B7F78C-8A4C-49F8-954E-F535608A4753}"/>
                  </a:ext>
                </a:extLst>
              </p:cNvPr>
              <p:cNvSpPr/>
              <p:nvPr/>
            </p:nvSpPr>
            <p:spPr>
              <a:xfrm>
                <a:off x="3952143" y="1496702"/>
                <a:ext cx="1775166" cy="6481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7B7F78C-8A4C-49F8-954E-F535608A47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2143" y="1496702"/>
                <a:ext cx="1775166" cy="6481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9326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10380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Damped Harmonic Oscillator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501702" y="1825625"/>
                <a:ext cx="8140596" cy="4596946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b="1" dirty="0"/>
                  <a:t>Underdamped</a:t>
                </a:r>
                <a:r>
                  <a:rPr lang="en-US" sz="2400" dirty="0"/>
                  <a:t> – The system swings back and forth (oscillates) over its equilibrium point, but ultimately comes to rest</a:t>
                </a:r>
              </a:p>
              <a:p>
                <a:pPr marL="0" indent="0" algn="ctr"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en-US" sz="2000" b="0" dirty="0">
                    <a:ln>
                      <a:solidFill>
                        <a:schemeClr val="tx1"/>
                      </a:solidFill>
                    </a:ln>
                  </a:rPr>
                  <a:t>Example: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n>
                          <a:solidFill>
                            <a:srgbClr val="FF0000"/>
                          </a:solidFill>
                        </a:ln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b="1" dirty="0"/>
                  <a:t>Overdamped</a:t>
                </a:r>
                <a:r>
                  <a:rPr lang="en-US" sz="2400" dirty="0"/>
                  <a:t> – The system </a:t>
                </a:r>
                <a:r>
                  <a:rPr lang="en-US" sz="2400" i="1" dirty="0"/>
                  <a:t>never</a:t>
                </a:r>
                <a:r>
                  <a:rPr lang="en-US" sz="2400" dirty="0"/>
                  <a:t> oscillates, but it takes a while for it to return to its equilibrium point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000" dirty="0">
                          <a:ln>
                            <a:solidFill>
                              <a:schemeClr val="tx1"/>
                            </a:solidFill>
                          </a:ln>
                        </a:rPr>
                        <m:t>Example</m:t>
                      </m:r>
                      <m:r>
                        <m:rPr>
                          <m:nor/>
                        </m:rPr>
                        <a:rPr lang="en-US" sz="2000" dirty="0">
                          <a:ln>
                            <a:solidFill>
                              <a:schemeClr val="tx1"/>
                            </a:solidFill>
                          </a:ln>
                        </a:rPr>
                        <m:t>:</m:t>
                      </m:r>
                      <m:r>
                        <a:rPr lang="en-US" sz="2000" b="0" i="1" dirty="0" smtClean="0">
                          <a:ln>
                            <a:solidFill>
                              <a:schemeClr val="tx1"/>
                            </a:solidFill>
                          </a:ln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𝑝h𝑎𝑠𝑒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𝑐𝑜𝑛𝑠𝑡𝑎𝑛𝑡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en-US" sz="2400" b="1" dirty="0"/>
                  <a:t>Critically damped </a:t>
                </a:r>
                <a:r>
                  <a:rPr lang="en-US" sz="2400" dirty="0"/>
                  <a:t>– The system </a:t>
                </a:r>
                <a:r>
                  <a:rPr lang="en-US" sz="2400" i="1" dirty="0"/>
                  <a:t>never</a:t>
                </a:r>
                <a:r>
                  <a:rPr lang="en-US" sz="2400" dirty="0"/>
                  <a:t> oscillates </a:t>
                </a:r>
                <a:r>
                  <a:rPr lang="en-US" sz="2400" u="sng" dirty="0"/>
                  <a:t>and</a:t>
                </a:r>
                <a:r>
                  <a:rPr lang="en-US" sz="2400" dirty="0"/>
                  <a:t> returns to its equilibrium point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in the least amount of time</a:t>
                </a: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smtClean="0">
                          <a:ln>
                            <a:solidFill>
                              <a:srgbClr val="FF0000"/>
                            </a:solidFill>
                          </a:ln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en-US" sz="20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𝑝h𝑎𝑠𝑒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_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  <m:t>𝑐𝑜𝑛𝑠𝑡𝑎𝑛𝑡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US" sz="2400" dirty="0">
                  <a:solidFill>
                    <a:srgbClr val="0070C0"/>
                  </a:solidFill>
                </a:endParaRPr>
              </a:p>
              <a:p>
                <a:pPr marL="0" indent="0">
                  <a:spcBef>
                    <a:spcPts val="0"/>
                  </a:spcBef>
                  <a:spcAft>
                    <a:spcPts val="1200"/>
                  </a:spcAft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1702" y="1825625"/>
                <a:ext cx="8140596" cy="4596946"/>
              </a:xfrm>
              <a:blipFill>
                <a:blip r:embed="rId3"/>
                <a:stretch>
                  <a:fillRect l="-973" t="-1854" r="-12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B97909-9EBC-4027-BCAF-6EE562BD4044}"/>
                  </a:ext>
                </a:extLst>
              </p:cNvPr>
              <p:cNvSpPr txBox="1"/>
              <p:nvPr/>
            </p:nvSpPr>
            <p:spPr>
              <a:xfrm>
                <a:off x="436921" y="5683907"/>
                <a:ext cx="2190137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rgbClr val="00B050"/>
                    </a:solidFill>
                  </a:rPr>
                  <a:t>Note: There is only </a:t>
                </a:r>
                <a:r>
                  <a:rPr lang="en-US" sz="1400" b="1" u="sng" dirty="0">
                    <a:solidFill>
                      <a:srgbClr val="00B050"/>
                    </a:solidFill>
                  </a:rPr>
                  <a:t>one</a:t>
                </a:r>
                <a:r>
                  <a:rPr lang="en-US" sz="1400" b="1" dirty="0">
                    <a:solidFill>
                      <a:srgbClr val="00B050"/>
                    </a:solidFill>
                  </a:rPr>
                  <a:t> value for </a:t>
                </a:r>
                <a14:m>
                  <m:oMath xmlns:m="http://schemas.openxmlformats.org/officeDocument/2006/math">
                    <m:r>
                      <a:rPr lang="en-US" sz="1400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en-US" sz="1400" b="1" dirty="0">
                    <a:solidFill>
                      <a:srgbClr val="00B050"/>
                    </a:solidFill>
                  </a:rPr>
                  <a:t> where the system is </a:t>
                </a:r>
                <a:r>
                  <a:rPr lang="en-US" sz="1400" b="1" i="1" dirty="0">
                    <a:solidFill>
                      <a:srgbClr val="00B050"/>
                    </a:solidFill>
                  </a:rPr>
                  <a:t>critically</a:t>
                </a:r>
                <a:r>
                  <a:rPr lang="en-US" sz="1400" b="1" dirty="0">
                    <a:solidFill>
                      <a:srgbClr val="00B050"/>
                    </a:solidFill>
                  </a:rPr>
                  <a:t> damped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CB97909-9EBC-4027-BCAF-6EE562BD40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21" y="5683907"/>
                <a:ext cx="2190137" cy="738664"/>
              </a:xfrm>
              <a:prstGeom prst="rect">
                <a:avLst/>
              </a:prstGeom>
              <a:blipFill>
                <a:blip r:embed="rId4"/>
                <a:stretch>
                  <a:fillRect l="-557" t="-820" r="-279" b="-7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9AA210-B8CE-4FF8-BA8A-18B107F7AA0C}"/>
              </a:ext>
            </a:extLst>
          </p:cNvPr>
          <p:cNvCxnSpPr/>
          <p:nvPr/>
        </p:nvCxnSpPr>
        <p:spPr>
          <a:xfrm flipV="1">
            <a:off x="2477729" y="5832987"/>
            <a:ext cx="752168" cy="220252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15821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B6439-41E6-140A-FAE2-84DA1CCE9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latin typeface="+mn-lt"/>
              </a:rPr>
              <a:t>Open </a:t>
            </a:r>
            <a:r>
              <a:rPr lang="en-US" sz="3200" dirty="0">
                <a:latin typeface="+mn-lt"/>
              </a:rPr>
              <a:t>damped_pendulum.py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CC9F32-161F-C116-92EA-A6FCC6DD8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6B8CC3-D584-E84F-1460-E475A346A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572474"/>
            <a:ext cx="6285714" cy="110476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C438FB-E537-5B36-E141-D8B4CC515C38}"/>
                  </a:ext>
                </a:extLst>
              </p:cNvPr>
              <p:cNvSpPr/>
              <p:nvPr/>
            </p:nvSpPr>
            <p:spPr>
              <a:xfrm>
                <a:off x="5860900" y="2353173"/>
                <a:ext cx="2537490" cy="64812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𝑞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smtClean="0"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m:rPr>
                              <m:sty m:val="p"/>
                            </m:rPr>
                            <a:rPr lang="el-G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θ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EAC438FB-E537-5B36-E141-D8B4CC515C3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0900" y="2353173"/>
                <a:ext cx="2537490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FDA526F7-2F43-294F-D5C4-E3BD01184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116292"/>
            <a:ext cx="5076190" cy="89523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FB82F24-243F-04DE-9BC4-9C09027110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070" y="4440374"/>
            <a:ext cx="3650073" cy="1690303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D550FFE6-5138-C433-A4A7-F801A14C61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8317" y="4440374"/>
            <a:ext cx="3650073" cy="151065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77A39132-EA9A-A22E-514F-F709CE27A3C3}"/>
              </a:ext>
            </a:extLst>
          </p:cNvPr>
          <p:cNvGrpSpPr/>
          <p:nvPr/>
        </p:nvGrpSpPr>
        <p:grpSpPr>
          <a:xfrm>
            <a:off x="6171493" y="1578521"/>
            <a:ext cx="1076632" cy="369332"/>
            <a:chOff x="4968362" y="2079211"/>
            <a:chExt cx="1076632" cy="369332"/>
          </a:xfrm>
        </p:grpSpPr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55717E2A-BC6E-A87E-ABCF-60B7D679FB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9EDC3E7-B45C-7F65-E447-B151AE2D229B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4F515C35-A785-B89F-525D-B76DE197FB57}"/>
              </a:ext>
            </a:extLst>
          </p:cNvPr>
          <p:cNvGrpSpPr/>
          <p:nvPr/>
        </p:nvGrpSpPr>
        <p:grpSpPr>
          <a:xfrm>
            <a:off x="7092178" y="1961965"/>
            <a:ext cx="1076632" cy="369332"/>
            <a:chOff x="4704120" y="2356972"/>
            <a:chExt cx="1076632" cy="369332"/>
          </a:xfrm>
        </p:grpSpPr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22E3EF7-09C3-62D2-5958-E900FB8F03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2902E5A0-814E-81DE-F989-75B9B592C654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18CD047-0A72-C4DB-380E-E0F72AF013A6}"/>
              </a:ext>
            </a:extLst>
          </p:cNvPr>
          <p:cNvGrpSpPr/>
          <p:nvPr/>
        </p:nvGrpSpPr>
        <p:grpSpPr>
          <a:xfrm>
            <a:off x="3053816" y="2334246"/>
            <a:ext cx="1068643" cy="369332"/>
            <a:chOff x="3647644" y="4910075"/>
            <a:chExt cx="1068643" cy="369332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0C3F35EE-9D6B-B3E5-29BE-32179092C573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A65905E-3E46-9913-DF48-96DE26470C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C695639-A214-55E2-17AB-560FF3646797}"/>
              </a:ext>
            </a:extLst>
          </p:cNvPr>
          <p:cNvGrpSpPr/>
          <p:nvPr/>
        </p:nvGrpSpPr>
        <p:grpSpPr>
          <a:xfrm>
            <a:off x="5800327" y="3453827"/>
            <a:ext cx="1064340" cy="369332"/>
            <a:chOff x="3647644" y="5421073"/>
            <a:chExt cx="1064340" cy="36933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AC26CE2-DD9A-6C9D-2CE2-8E13D5524102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003AF66-D883-E912-5EE2-E378B3A5A8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82612F4-D38C-3589-8391-1E4C04452C5B}"/>
              </a:ext>
            </a:extLst>
          </p:cNvPr>
          <p:cNvGrpSpPr/>
          <p:nvPr/>
        </p:nvGrpSpPr>
        <p:grpSpPr>
          <a:xfrm>
            <a:off x="1845095" y="4533919"/>
            <a:ext cx="1068643" cy="369332"/>
            <a:chOff x="3647644" y="5359159"/>
            <a:chExt cx="1068643" cy="369332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83E58D4-32F8-2895-701C-C4800A7BBB7A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C63AC8DC-A38B-F6F5-5276-525D5A1B14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8F4F5AD4-2006-FF16-F3FA-D248793C3263}"/>
              </a:ext>
            </a:extLst>
          </p:cNvPr>
          <p:cNvGrpSpPr/>
          <p:nvPr/>
        </p:nvGrpSpPr>
        <p:grpSpPr>
          <a:xfrm>
            <a:off x="2042501" y="5670396"/>
            <a:ext cx="1076632" cy="369332"/>
            <a:chOff x="2157212" y="5356391"/>
            <a:chExt cx="1076632" cy="369332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CCF2AA9-69E9-12F3-BA8A-A78999CA9B4B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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69BD71D-CB17-6451-2E7B-A346B16E36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A01D076-1A01-1127-4B6E-81DA4D9EA656}"/>
              </a:ext>
            </a:extLst>
          </p:cNvPr>
          <p:cNvGrpSpPr/>
          <p:nvPr/>
        </p:nvGrpSpPr>
        <p:grpSpPr>
          <a:xfrm>
            <a:off x="2799078" y="5829148"/>
            <a:ext cx="1076632" cy="369332"/>
            <a:chOff x="2157212" y="5356391"/>
            <a:chExt cx="1076632" cy="369332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148887B-BE2B-B1D0-7707-CF5FFC345FBF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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A5D09C50-08C3-9BA1-ABDE-88BA71846D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1272CCD-3CBE-7632-A3A9-33C39CE3E257}"/>
              </a:ext>
            </a:extLst>
          </p:cNvPr>
          <p:cNvGrpSpPr/>
          <p:nvPr/>
        </p:nvGrpSpPr>
        <p:grpSpPr>
          <a:xfrm>
            <a:off x="3220538" y="4864810"/>
            <a:ext cx="698836" cy="580521"/>
            <a:chOff x="3220538" y="4864810"/>
            <a:chExt cx="698836" cy="580521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004E643-AE90-6C81-458D-31D6DA9F1533}"/>
                </a:ext>
              </a:extLst>
            </p:cNvPr>
            <p:cNvSpPr txBox="1"/>
            <p:nvPr/>
          </p:nvSpPr>
          <p:spPr>
            <a:xfrm>
              <a:off x="3535916" y="4864810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0" name="Straight Arrow Connector 69">
              <a:extLst>
                <a:ext uri="{FF2B5EF4-FFF2-40B4-BE49-F238E27FC236}">
                  <a16:creationId xmlns:a16="http://schemas.microsoft.com/office/drawing/2014/main" id="{6CF37B21-9E9D-CB10-BBD8-108A9F5CCD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20538" y="5110962"/>
              <a:ext cx="361068" cy="3343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2FA2BDC-B952-52CA-B8EB-D1723BF22C17}"/>
              </a:ext>
            </a:extLst>
          </p:cNvPr>
          <p:cNvGrpSpPr/>
          <p:nvPr/>
        </p:nvGrpSpPr>
        <p:grpSpPr>
          <a:xfrm>
            <a:off x="6866761" y="5655461"/>
            <a:ext cx="1076632" cy="369332"/>
            <a:chOff x="2157212" y="5356391"/>
            <a:chExt cx="1076632" cy="369332"/>
          </a:xfrm>
        </p:grpSpPr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52BFBE3-091C-9045-6B5E-1764613E53D1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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4A2EEDF-2D26-763B-0F0F-1602D249EA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698890D-0C69-2120-BB5F-35A4C626B232}"/>
              </a:ext>
            </a:extLst>
          </p:cNvPr>
          <p:cNvGrpSpPr/>
          <p:nvPr/>
        </p:nvGrpSpPr>
        <p:grpSpPr>
          <a:xfrm>
            <a:off x="7308718" y="4864810"/>
            <a:ext cx="687707" cy="580521"/>
            <a:chOff x="7308718" y="4864810"/>
            <a:chExt cx="687707" cy="580521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B84C56D-5ECC-74A7-4C84-9C5C27907CE8}"/>
                </a:ext>
              </a:extLst>
            </p:cNvPr>
            <p:cNvSpPr txBox="1"/>
            <p:nvPr/>
          </p:nvSpPr>
          <p:spPr>
            <a:xfrm>
              <a:off x="7612967" y="4864810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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A0D918C-5443-4EB9-72AF-8C7DB798C7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8718" y="5110962"/>
              <a:ext cx="361068" cy="33436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2" name="Rectangle 81">
            <a:extLst>
              <a:ext uri="{FF2B5EF4-FFF2-40B4-BE49-F238E27FC236}">
                <a16:creationId xmlns:a16="http://schemas.microsoft.com/office/drawing/2014/main" id="{64487E24-EB11-BEBB-4956-C1B1A448B960}"/>
              </a:ext>
            </a:extLst>
          </p:cNvPr>
          <p:cNvSpPr/>
          <p:nvPr/>
        </p:nvSpPr>
        <p:spPr>
          <a:xfrm>
            <a:off x="1845094" y="2028016"/>
            <a:ext cx="2226843" cy="23524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54934D5-9249-CA46-AF29-BC53BCAE400C}"/>
              </a:ext>
            </a:extLst>
          </p:cNvPr>
          <p:cNvSpPr/>
          <p:nvPr/>
        </p:nvSpPr>
        <p:spPr>
          <a:xfrm>
            <a:off x="6673255" y="2419395"/>
            <a:ext cx="694728" cy="559433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5" name="Connector: Elbow 84">
            <a:extLst>
              <a:ext uri="{FF2B5EF4-FFF2-40B4-BE49-F238E27FC236}">
                <a16:creationId xmlns:a16="http://schemas.microsoft.com/office/drawing/2014/main" id="{EAA1E7E6-E1B9-779B-6EE3-6CE45205F6C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587006" y="612464"/>
            <a:ext cx="715567" cy="4062103"/>
          </a:xfrm>
          <a:prstGeom prst="bentConnector3">
            <a:avLst>
              <a:gd name="adj1" fmla="val 131947"/>
            </a:avLst>
          </a:prstGeom>
          <a:ln w="28575">
            <a:solidFill>
              <a:srgbClr val="7030A0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8678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A5217B4-9AA4-0D7A-A77C-8706FC35C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3" y="1286098"/>
            <a:ext cx="7247171" cy="5435379"/>
          </a:xfrm>
          <a:prstGeom prst="rect">
            <a:avLst/>
          </a:prstGeom>
          <a:ln>
            <a:noFill/>
          </a:ln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1151A99-1DDD-4085-BF34-F708716D4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+mn-lt"/>
              </a:rPr>
              <a:t>Run</a:t>
            </a:r>
            <a:r>
              <a:rPr lang="en-US" sz="3200" dirty="0">
                <a:latin typeface="+mn-lt"/>
              </a:rPr>
              <a:t> damped_pendulum.py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CA3498-643C-4582-A192-33456958A3F6}"/>
              </a:ext>
            </a:extLst>
          </p:cNvPr>
          <p:cNvSpPr txBox="1"/>
          <p:nvPr/>
        </p:nvSpPr>
        <p:spPr>
          <a:xfrm>
            <a:off x="5757401" y="4821479"/>
            <a:ext cx="2757949" cy="92333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In what applications would you want a system to be </a:t>
            </a:r>
            <a:r>
              <a:rPr lang="en-US" b="1" dirty="0"/>
              <a:t>critically damped?</a:t>
            </a:r>
          </a:p>
        </p:txBody>
      </p:sp>
    </p:spTree>
    <p:extLst>
      <p:ext uri="{BB962C8B-B14F-4D97-AF65-F5344CB8AC3E}">
        <p14:creationId xmlns:p14="http://schemas.microsoft.com/office/powerpoint/2010/main" val="1705585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Tuned Mass Dampers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71AD92D-47AE-4F05-9D3B-DD5D8ADB0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45" y="1592420"/>
            <a:ext cx="3641204" cy="49004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AA7AFA-419B-4329-AE2B-EE896228836A}"/>
              </a:ext>
            </a:extLst>
          </p:cNvPr>
          <p:cNvSpPr txBox="1"/>
          <p:nvPr/>
        </p:nvSpPr>
        <p:spPr>
          <a:xfrm>
            <a:off x="4572000" y="1584873"/>
            <a:ext cx="324280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Taipei 101</a:t>
            </a:r>
            <a:r>
              <a:rPr lang="en-US" dirty="0"/>
              <a:t> – Taiwan</a:t>
            </a:r>
          </a:p>
          <a:p>
            <a:pPr algn="ctr"/>
            <a:r>
              <a:rPr lang="en-US" dirty="0"/>
              <a:t>The Worlds Tallest Building (2004-2009)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348F4E-7807-4AFB-9973-00195FF1D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714" y="2624495"/>
            <a:ext cx="3868379" cy="38683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E05C45-8121-4053-BFA6-17766EB5BC0B}"/>
              </a:ext>
            </a:extLst>
          </p:cNvPr>
          <p:cNvSpPr txBox="1"/>
          <p:nvPr/>
        </p:nvSpPr>
        <p:spPr>
          <a:xfrm>
            <a:off x="5444920" y="6310312"/>
            <a:ext cx="1541207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730 Tons</a:t>
            </a:r>
          </a:p>
        </p:txBody>
      </p:sp>
    </p:spTree>
    <p:extLst>
      <p:ext uri="{BB962C8B-B14F-4D97-AF65-F5344CB8AC3E}">
        <p14:creationId xmlns:p14="http://schemas.microsoft.com/office/powerpoint/2010/main" val="36688308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Tuned Mass Dampers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EFEE61-E5A3-472B-9930-A812A400E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494" y="1210590"/>
            <a:ext cx="6478883" cy="54037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A2437D-1075-A10F-8A8F-E44B0BB4C26D}"/>
              </a:ext>
            </a:extLst>
          </p:cNvPr>
          <p:cNvSpPr txBox="1"/>
          <p:nvPr/>
        </p:nvSpPr>
        <p:spPr>
          <a:xfrm>
            <a:off x="4018935" y="4264155"/>
            <a:ext cx="1541207" cy="369332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rPr>
              <a:t>365 Minivans</a:t>
            </a:r>
          </a:p>
        </p:txBody>
      </p:sp>
    </p:spTree>
    <p:extLst>
      <p:ext uri="{BB962C8B-B14F-4D97-AF65-F5344CB8AC3E}">
        <p14:creationId xmlns:p14="http://schemas.microsoft.com/office/powerpoint/2010/main" val="938566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7495</TotalTime>
  <Words>495</Words>
  <Application>Microsoft Office PowerPoint</Application>
  <PresentationFormat>On-screen Show (4:3)</PresentationFormat>
  <Paragraphs>104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Office Theme</vt:lpstr>
      <vt:lpstr>Modelling a Simple Pendulum</vt:lpstr>
      <vt:lpstr>Modelling a Simple Pendulum</vt:lpstr>
      <vt:lpstr>PowerPoint Presentation</vt:lpstr>
      <vt:lpstr>Runge-Kutta Methods</vt:lpstr>
      <vt:lpstr>Solve Differential Equations with SciPy</vt:lpstr>
      <vt:lpstr>Open scipy_pendulum.py</vt:lpstr>
      <vt:lpstr>Run scipy_pendulum.py</vt:lpstr>
      <vt:lpstr>Damped Harmonic Oscillator</vt:lpstr>
      <vt:lpstr>Damped Harmonic Oscillator</vt:lpstr>
      <vt:lpstr>Damped Harmonic Oscillator</vt:lpstr>
      <vt:lpstr>Open damped_pendulum.py</vt:lpstr>
      <vt:lpstr>Run damped_pendulum.py</vt:lpstr>
      <vt:lpstr>Tuned Mass Dampers</vt:lpstr>
      <vt:lpstr>Tuned Mass Dampers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854</cp:revision>
  <cp:lastPrinted>2015-06-01T00:45:11Z</cp:lastPrinted>
  <dcterms:created xsi:type="dcterms:W3CDTF">2014-09-21T17:58:26Z</dcterms:created>
  <dcterms:modified xsi:type="dcterms:W3CDTF">2023-01-08T08:25:30Z</dcterms:modified>
</cp:coreProperties>
</file>