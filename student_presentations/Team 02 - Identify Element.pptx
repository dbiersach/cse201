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1310" r:id="rId2"/>
    <p:sldId id="1288" r:id="rId3"/>
    <p:sldId id="1289" r:id="rId4"/>
    <p:sldId id="1291" r:id="rId5"/>
    <p:sldId id="1292" r:id="rId6"/>
    <p:sldId id="1296" r:id="rId7"/>
    <p:sldId id="1297" r:id="rId8"/>
    <p:sldId id="1253" r:id="rId9"/>
    <p:sldId id="1250" r:id="rId10"/>
    <p:sldId id="973" r:id="rId1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C1E"/>
    <a:srgbClr val="277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3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21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30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16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8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6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710.png"/><Relationship Id="rId9" Type="http://schemas.openxmlformats.org/officeDocument/2006/relationships/image" Target="../media/image7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/>
                <a:t>Student #3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02</a:t>
              </a:r>
            </a:p>
            <a:p>
              <a:pPr algn="ctr"/>
              <a:r>
                <a:rPr lang="en-US" dirty="0"/>
                <a:t>Identify Element</a:t>
              </a:r>
            </a:p>
            <a:p>
              <a:pPr algn="ctr"/>
              <a:r>
                <a:rPr lang="en-US" dirty="0"/>
                <a:t>Linear Regression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648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F40B8-3E4E-D5C7-9F34-32B17F94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190" y="1715220"/>
            <a:ext cx="5807619" cy="24078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CEF732A-1703-9458-DBE1-4B4D5794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59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Identify an Unknown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/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/>
              <p:nvPr/>
            </p:nvSpPr>
            <p:spPr>
              <a:xfrm>
                <a:off x="1657238" y="4450338"/>
                <a:ext cx="14233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38" y="4450338"/>
                <a:ext cx="1423338" cy="369332"/>
              </a:xfrm>
              <a:prstGeom prst="rect">
                <a:avLst/>
              </a:prstGeom>
              <a:blipFill>
                <a:blip r:embed="rId4"/>
                <a:stretch>
                  <a:fillRect l="-4721" r="-42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FE4232A-1B98-A13A-02D5-A86B8DDA8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238" y="4912252"/>
            <a:ext cx="1972976" cy="1565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/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blipFill>
                <a:blip r:embed="rId6"/>
                <a:stretch>
                  <a:fillRect l="-4405" r="-440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/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06F72A97-D005-E4B6-17FB-C61AC0E63692}"/>
              </a:ext>
            </a:extLst>
          </p:cNvPr>
          <p:cNvSpPr/>
          <p:nvPr/>
        </p:nvSpPr>
        <p:spPr>
          <a:xfrm>
            <a:off x="4212236" y="1761344"/>
            <a:ext cx="464695" cy="292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7D3E5-A696-FD02-48B7-2FA1CAD4C98B}"/>
              </a:ext>
            </a:extLst>
          </p:cNvPr>
          <p:cNvSpPr/>
          <p:nvPr/>
        </p:nvSpPr>
        <p:spPr>
          <a:xfrm>
            <a:off x="2483371" y="2810104"/>
            <a:ext cx="2778177" cy="258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825661-5F91-70AD-1CDB-90337D0A9D2E}"/>
              </a:ext>
            </a:extLst>
          </p:cNvPr>
          <p:cNvSpPr/>
          <p:nvPr/>
        </p:nvSpPr>
        <p:spPr>
          <a:xfrm>
            <a:off x="5737174" y="1863710"/>
            <a:ext cx="661246" cy="18463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59A6FD-07D6-8E56-D5EF-1FA91AD227F3}"/>
              </a:ext>
            </a:extLst>
          </p:cNvPr>
          <p:cNvSpPr/>
          <p:nvPr/>
        </p:nvSpPr>
        <p:spPr>
          <a:xfrm>
            <a:off x="6888956" y="1863710"/>
            <a:ext cx="552450" cy="18463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F57709-7788-4715-F8AA-1F0709B84154}"/>
              </a:ext>
            </a:extLst>
          </p:cNvPr>
          <p:cNvSpPr/>
          <p:nvPr/>
        </p:nvSpPr>
        <p:spPr>
          <a:xfrm>
            <a:off x="4999220" y="3560164"/>
            <a:ext cx="547141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E5F8AD-9A7F-638B-9CD2-50C1F0EDA98B}"/>
              </a:ext>
            </a:extLst>
          </p:cNvPr>
          <p:cNvSpPr/>
          <p:nvPr/>
        </p:nvSpPr>
        <p:spPr>
          <a:xfrm>
            <a:off x="1668190" y="3830742"/>
            <a:ext cx="1015049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D9008-8B63-F640-0081-6C0E9DD15360}"/>
              </a:ext>
            </a:extLst>
          </p:cNvPr>
          <p:cNvSpPr txBox="1"/>
          <p:nvPr/>
        </p:nvSpPr>
        <p:spPr>
          <a:xfrm>
            <a:off x="789580" y="4909701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6C0AE-B256-242C-248A-FE2B2DF972A6}"/>
              </a:ext>
            </a:extLst>
          </p:cNvPr>
          <p:cNvSpPr txBox="1"/>
          <p:nvPr/>
        </p:nvSpPr>
        <p:spPr>
          <a:xfrm>
            <a:off x="789580" y="5525037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EAE79-0996-7430-1170-8B9F9403E370}"/>
              </a:ext>
            </a:extLst>
          </p:cNvPr>
          <p:cNvSpPr txBox="1"/>
          <p:nvPr/>
        </p:nvSpPr>
        <p:spPr>
          <a:xfrm>
            <a:off x="799215" y="5807312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11203C-D5D1-201D-C3EE-A5A2B6C5C745}"/>
              </a:ext>
            </a:extLst>
          </p:cNvPr>
          <p:cNvGrpSpPr/>
          <p:nvPr/>
        </p:nvGrpSpPr>
        <p:grpSpPr>
          <a:xfrm>
            <a:off x="6090166" y="6053304"/>
            <a:ext cx="884419" cy="537992"/>
            <a:chOff x="6090166" y="6053304"/>
            <a:chExt cx="884419" cy="5379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9C7C2B-A89F-0FA3-0209-ACF15FFDF10B}"/>
                </a:ext>
              </a:extLst>
            </p:cNvPr>
            <p:cNvSpPr txBox="1"/>
            <p:nvPr/>
          </p:nvSpPr>
          <p:spPr>
            <a:xfrm>
              <a:off x="6090166" y="6283519"/>
              <a:ext cx="884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constant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FDB38C8-3DC5-8ECD-7EDB-313735ADE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874" y="6053304"/>
              <a:ext cx="0" cy="32923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90796D7-C6E0-B2E3-230B-3EC2AC617863}"/>
              </a:ext>
            </a:extLst>
          </p:cNvPr>
          <p:cNvSpPr txBox="1"/>
          <p:nvPr/>
        </p:nvSpPr>
        <p:spPr>
          <a:xfrm>
            <a:off x="3703183" y="4922397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pascals (Pa)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8C1FE-D129-6D7D-D1E3-76400194707E}"/>
              </a:ext>
            </a:extLst>
          </p:cNvPr>
          <p:cNvSpPr txBox="1"/>
          <p:nvPr/>
        </p:nvSpPr>
        <p:spPr>
          <a:xfrm>
            <a:off x="3703182" y="5225861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meters</a:t>
            </a:r>
            <a:r>
              <a:rPr lang="en-US" sz="1400" b="1" baseline="30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AE1A8-F132-8F3A-1FFF-75E380288C7C}"/>
              </a:ext>
            </a:extLst>
          </p:cNvPr>
          <p:cNvSpPr txBox="1"/>
          <p:nvPr/>
        </p:nvSpPr>
        <p:spPr>
          <a:xfrm>
            <a:off x="3665401" y="6115089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kelvin (K)</a:t>
            </a:r>
            <a:endParaRPr lang="en-US" sz="1400" b="1" baseline="300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2BB3F4-3A8F-C2E6-D8A2-5095C106BC10}"/>
              </a:ext>
            </a:extLst>
          </p:cNvPr>
          <p:cNvSpPr txBox="1"/>
          <p:nvPr/>
        </p:nvSpPr>
        <p:spPr>
          <a:xfrm>
            <a:off x="3703182" y="4494702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SI Units</a:t>
            </a:r>
          </a:p>
        </p:txBody>
      </p:sp>
    </p:spTree>
    <p:extLst>
      <p:ext uri="{BB962C8B-B14F-4D97-AF65-F5344CB8AC3E}">
        <p14:creationId xmlns:p14="http://schemas.microsoft.com/office/powerpoint/2010/main" val="409709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171414-FA2E-35FA-9079-6C1DF607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47" y="2675266"/>
            <a:ext cx="6822907" cy="34182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11132D-E9B0-59A8-7DDB-7BD3D52A55E0}"/>
              </a:ext>
            </a:extLst>
          </p:cNvPr>
          <p:cNvSpPr txBox="1"/>
          <p:nvPr/>
        </p:nvSpPr>
        <p:spPr>
          <a:xfrm>
            <a:off x="2029747" y="1894110"/>
            <a:ext cx="508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CSV</a:t>
            </a:r>
            <a:r>
              <a:rPr lang="en-US" dirty="0"/>
              <a:t> = </a:t>
            </a:r>
            <a:r>
              <a:rPr lang="en-US" b="1" dirty="0"/>
              <a:t>C</a:t>
            </a:r>
            <a:r>
              <a:rPr lang="en-US" dirty="0"/>
              <a:t>omma </a:t>
            </a:r>
            <a:r>
              <a:rPr lang="en-US" b="1" dirty="0"/>
              <a:t>S</a:t>
            </a:r>
            <a:r>
              <a:rPr lang="en-US" dirty="0"/>
              <a:t>eparated </a:t>
            </a:r>
            <a:r>
              <a:rPr lang="en-US" b="1" dirty="0"/>
              <a:t>V</a:t>
            </a:r>
            <a:r>
              <a:rPr lang="en-US" dirty="0"/>
              <a:t>alue (a "text" file)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B88566-5A4F-61D7-81B2-8627AE44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59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Data</a:t>
            </a:r>
          </a:p>
        </p:txBody>
      </p:sp>
    </p:spTree>
    <p:extLst>
      <p:ext uri="{BB962C8B-B14F-4D97-AF65-F5344CB8AC3E}">
        <p14:creationId xmlns:p14="http://schemas.microsoft.com/office/powerpoint/2010/main" val="289500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6CD770-FDB7-C20D-25E9-3ABC5A37A8AF}"/>
              </a:ext>
            </a:extLst>
          </p:cNvPr>
          <p:cNvGrpSpPr/>
          <p:nvPr/>
        </p:nvGrpSpPr>
        <p:grpSpPr>
          <a:xfrm>
            <a:off x="271052" y="714716"/>
            <a:ext cx="1200473" cy="1979497"/>
            <a:chOff x="271052" y="714716"/>
            <a:chExt cx="1200473" cy="19794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9EF4B8-7B4F-BADA-C84E-A2218919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040" y="714716"/>
              <a:ext cx="1150496" cy="13077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4766A7-DAA9-673B-9702-2C3EAE9DF8D3}"/>
                </a:ext>
              </a:extLst>
            </p:cNvPr>
            <p:cNvSpPr txBox="1"/>
            <p:nvPr/>
          </p:nvSpPr>
          <p:spPr>
            <a:xfrm>
              <a:off x="271052" y="2047882"/>
              <a:ext cx="12004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Carl Friedrich 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Linux Libertine"/>
                </a:rPr>
                <a:t>Gauss</a:t>
              </a:r>
            </a:p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(1777-1855)</a:t>
              </a:r>
              <a:endParaRPr lang="en-US" sz="12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AB3D3B5-B482-D8C9-4E61-4FC850F6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78" y="1368569"/>
            <a:ext cx="6004843" cy="4987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FF9B28-BE87-5476-9E03-67A480C3F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86" y="4600773"/>
            <a:ext cx="2091765" cy="1777316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448BF-5D63-C32D-2EFA-5E2E2F152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360" y="4579035"/>
            <a:ext cx="1420579" cy="1777316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FBC66C-EC34-3C10-B69B-3C6A569BE2C3}"/>
              </a:ext>
            </a:extLst>
          </p:cNvPr>
          <p:cNvSpPr/>
          <p:nvPr/>
        </p:nvSpPr>
        <p:spPr>
          <a:xfrm>
            <a:off x="3312826" y="4519534"/>
            <a:ext cx="2522605" cy="1973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4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46533-33D7-F5CE-5AB3-DB8E41A01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65" y="1877071"/>
            <a:ext cx="6843070" cy="29869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DC1A71-6DE7-DB8B-C6DE-371D5EC47C01}"/>
              </a:ext>
            </a:extLst>
          </p:cNvPr>
          <p:cNvSpPr/>
          <p:nvPr/>
        </p:nvSpPr>
        <p:spPr>
          <a:xfrm>
            <a:off x="3380282" y="3436143"/>
            <a:ext cx="517161" cy="2136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635F1-B83E-E796-5DF5-2079DDA3AF8F}"/>
              </a:ext>
            </a:extLst>
          </p:cNvPr>
          <p:cNvSpPr/>
          <p:nvPr/>
        </p:nvSpPr>
        <p:spPr>
          <a:xfrm>
            <a:off x="2955560" y="4393406"/>
            <a:ext cx="517161" cy="236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52B4BF-1E4B-CAEF-CD74-9AE5E5B6A13B}"/>
                  </a:ext>
                </a:extLst>
              </p:cNvPr>
              <p:cNvSpPr txBox="1"/>
              <p:nvPr/>
            </p:nvSpPr>
            <p:spPr>
              <a:xfrm>
                <a:off x="3763862" y="5208825"/>
                <a:ext cx="16162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52B4BF-1E4B-CAEF-CD74-9AE5E5B6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862" y="5208825"/>
                <a:ext cx="1616276" cy="369332"/>
              </a:xfrm>
              <a:prstGeom prst="rect">
                <a:avLst/>
              </a:prstGeom>
              <a:blipFill>
                <a:blip r:embed="rId4"/>
                <a:stretch>
                  <a:fillRect l="-4135" r="-33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48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5F1F4-F1D7-C921-6F30-262B2F71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1" y="1513449"/>
            <a:ext cx="6033507" cy="479803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E63A969-7814-D900-2A80-43468AB684F9}"/>
              </a:ext>
            </a:extLst>
          </p:cNvPr>
          <p:cNvGrpSpPr/>
          <p:nvPr/>
        </p:nvGrpSpPr>
        <p:grpSpPr>
          <a:xfrm>
            <a:off x="6351356" y="2687958"/>
            <a:ext cx="2370359" cy="523220"/>
            <a:chOff x="795753" y="5993289"/>
            <a:chExt cx="237035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442E4FF-3A70-F866-BE2C-C974BFAEA736}"/>
                    </a:ext>
                  </a:extLst>
                </p:cNvPr>
                <p:cNvSpPr txBox="1"/>
                <p:nvPr/>
              </p:nvSpPr>
              <p:spPr>
                <a:xfrm>
                  <a:off x="1889289" y="5994700"/>
                  <a:ext cx="1276823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97894F9-BD0E-3FC0-5588-310E66156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9289" y="5994700"/>
                  <a:ext cx="1276823" cy="5203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665917-9E31-4024-4072-B99093A85318}"/>
                </a:ext>
              </a:extLst>
            </p:cNvPr>
            <p:cNvSpPr txBox="1"/>
            <p:nvPr/>
          </p:nvSpPr>
          <p:spPr>
            <a:xfrm>
              <a:off x="795753" y="5993289"/>
              <a:ext cx="11542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30A0"/>
                  </a:solidFill>
                </a:rPr>
                <a:t>Slope</a:t>
              </a:r>
              <a:r>
                <a:rPr lang="en-US" sz="1400" dirty="0">
                  <a:solidFill>
                    <a:srgbClr val="7030A0"/>
                  </a:solidFill>
                </a:rPr>
                <a:t> of line of best fit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805B31-6577-FA9A-9510-9B9E12015A7A}"/>
                  </a:ext>
                </a:extLst>
              </p:cNvPr>
              <p:cNvSpPr txBox="1"/>
              <p:nvPr/>
            </p:nvSpPr>
            <p:spPr>
              <a:xfrm>
                <a:off x="7076783" y="3436788"/>
                <a:ext cx="1071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805B31-6577-FA9A-9510-9B9E12015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783" y="3436788"/>
                <a:ext cx="1071960" cy="276999"/>
              </a:xfrm>
              <a:prstGeom prst="rect">
                <a:avLst/>
              </a:prstGeom>
              <a:blipFill>
                <a:blip r:embed="rId9"/>
                <a:stretch>
                  <a:fillRect l="-5114" r="-454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343CC-4356-5331-ED10-D674ACC92F62}"/>
                  </a:ext>
                </a:extLst>
              </p:cNvPr>
              <p:cNvSpPr txBox="1"/>
              <p:nvPr/>
            </p:nvSpPr>
            <p:spPr>
              <a:xfrm>
                <a:off x="6518233" y="3850299"/>
                <a:ext cx="2189061" cy="524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343CC-4356-5331-ED10-D674ACC92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233" y="3850299"/>
                <a:ext cx="2189061" cy="5244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0180655-BA04-AFE0-07B6-A61022CEE4D8}"/>
              </a:ext>
            </a:extLst>
          </p:cNvPr>
          <p:cNvGrpSpPr/>
          <p:nvPr/>
        </p:nvGrpSpPr>
        <p:grpSpPr>
          <a:xfrm>
            <a:off x="4245257" y="1600482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B94B27D-C640-CA25-282A-1505BBD51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68E374-D734-0CD5-44CD-F03807AE274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335BF8-E70F-4E81-066A-0F9E8348B821}"/>
              </a:ext>
            </a:extLst>
          </p:cNvPr>
          <p:cNvGrpSpPr/>
          <p:nvPr/>
        </p:nvGrpSpPr>
        <p:grpSpPr>
          <a:xfrm>
            <a:off x="5130160" y="2194048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CF5E06D-D65F-7430-5A72-E31468F0D4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231379-4337-FFD6-795A-72AA583C3CD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E9E116F-9EB7-A9D4-861E-3BD4EDD859D4}"/>
              </a:ext>
            </a:extLst>
          </p:cNvPr>
          <p:cNvSpPr/>
          <p:nvPr/>
        </p:nvSpPr>
        <p:spPr>
          <a:xfrm>
            <a:off x="2295525" y="2233071"/>
            <a:ext cx="142406" cy="138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5F8E24-CA23-8D73-2434-B6872AC4CE4B}"/>
              </a:ext>
            </a:extLst>
          </p:cNvPr>
          <p:cNvSpPr/>
          <p:nvPr/>
        </p:nvSpPr>
        <p:spPr>
          <a:xfrm>
            <a:off x="1916907" y="2400143"/>
            <a:ext cx="142406" cy="138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78A663-9670-B739-15B7-4C824E262D47}"/>
              </a:ext>
            </a:extLst>
          </p:cNvPr>
          <p:cNvGrpSpPr/>
          <p:nvPr/>
        </p:nvGrpSpPr>
        <p:grpSpPr>
          <a:xfrm>
            <a:off x="4069012" y="2787615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4FF4A8-DD86-39AF-CE7F-53B95C98241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152D77D-D8B0-78C2-5287-797EBF003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D081EA-577B-38D4-25A8-B5400B32A232}"/>
              </a:ext>
            </a:extLst>
          </p:cNvPr>
          <p:cNvGrpSpPr/>
          <p:nvPr/>
        </p:nvGrpSpPr>
        <p:grpSpPr>
          <a:xfrm>
            <a:off x="5823334" y="3205251"/>
            <a:ext cx="911480" cy="515270"/>
            <a:chOff x="3988651" y="5275135"/>
            <a:chExt cx="911480" cy="51527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850AAC-F25C-A320-CDA8-CA806F68E5EA}"/>
                </a:ext>
              </a:extLst>
            </p:cNvPr>
            <p:cNvSpPr txBox="1"/>
            <p:nvPr/>
          </p:nvSpPr>
          <p:spPr>
            <a:xfrm>
              <a:off x="4516673" y="527513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EC2F807-E78F-8B5D-FA3D-1D2042972A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8651" y="5498529"/>
              <a:ext cx="607157" cy="2918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33554A-A699-7B43-246D-7C7642854AD5}"/>
              </a:ext>
            </a:extLst>
          </p:cNvPr>
          <p:cNvGrpSpPr/>
          <p:nvPr/>
        </p:nvGrpSpPr>
        <p:grpSpPr>
          <a:xfrm>
            <a:off x="5848555" y="4338778"/>
            <a:ext cx="1068643" cy="369332"/>
            <a:chOff x="3647644" y="5359159"/>
            <a:chExt cx="1068643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0733A4-430C-4963-60EB-FF99A1565AE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18046E4-1253-55B1-9253-037397479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8AFF23-B967-0DB5-084F-63A4076AB81F}"/>
              </a:ext>
            </a:extLst>
          </p:cNvPr>
          <p:cNvGrpSpPr/>
          <p:nvPr/>
        </p:nvGrpSpPr>
        <p:grpSpPr>
          <a:xfrm>
            <a:off x="4163426" y="4816334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58698C-61E4-9185-6AD7-425DE3A56EB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552629F-7047-15C2-E3B4-45C359078C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4FF38E-03B7-C24E-DF24-1681844540A9}"/>
              </a:ext>
            </a:extLst>
          </p:cNvPr>
          <p:cNvGrpSpPr/>
          <p:nvPr/>
        </p:nvGrpSpPr>
        <p:grpSpPr>
          <a:xfrm>
            <a:off x="2449053" y="4993505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568345-F006-3392-C0BC-F3F7D4DA129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6F9DCD3-FBAE-F04F-A2E1-D085A18EE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F016F9-7631-B54F-AA28-56401EB75A9A}"/>
              </a:ext>
            </a:extLst>
          </p:cNvPr>
          <p:cNvGrpSpPr/>
          <p:nvPr/>
        </p:nvGrpSpPr>
        <p:grpSpPr>
          <a:xfrm>
            <a:off x="2910115" y="5152390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B91381-2700-59B3-14E1-3629519DA7C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7C320B9-F52F-56C3-813A-AA09DD5E81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F8C3FD-3C06-850A-6AA0-EFFF89C5C287}"/>
              </a:ext>
            </a:extLst>
          </p:cNvPr>
          <p:cNvGrpSpPr/>
          <p:nvPr/>
        </p:nvGrpSpPr>
        <p:grpSpPr>
          <a:xfrm>
            <a:off x="4127665" y="5326429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7D7E69-2B1D-A354-4160-7BEB4F311F5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1C5709A-081E-EF43-D744-9E0D26F1A7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57ADE0-BF0E-664D-EF20-AE88E746DEAA}"/>
              </a:ext>
            </a:extLst>
          </p:cNvPr>
          <p:cNvGrpSpPr/>
          <p:nvPr/>
        </p:nvGrpSpPr>
        <p:grpSpPr>
          <a:xfrm>
            <a:off x="1466228" y="5840162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1E8F89-56C8-E9C6-F832-7A109DE7D31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C75807C-FF64-9D0B-A281-B22E07ACC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108A9B68-3FC9-32A2-93B8-7F72858FD970}"/>
              </a:ext>
            </a:extLst>
          </p:cNvPr>
          <p:cNvSpPr/>
          <p:nvPr/>
        </p:nvSpPr>
        <p:spPr>
          <a:xfrm>
            <a:off x="2483644" y="5441845"/>
            <a:ext cx="1428750" cy="138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9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7F28F7-7741-E7DE-A55E-AA6CBF85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19246"/>
            <a:ext cx="6114286" cy="51523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5F9A5D-CDC0-3D3D-0DC3-0BEBED4F13FC}"/>
              </a:ext>
            </a:extLst>
          </p:cNvPr>
          <p:cNvSpPr/>
          <p:nvPr/>
        </p:nvSpPr>
        <p:spPr>
          <a:xfrm>
            <a:off x="4775201" y="2247900"/>
            <a:ext cx="911224" cy="31115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1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F20F6D-42D3-C971-865B-4294712F454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289"/>
          <a:stretch/>
        </p:blipFill>
        <p:spPr>
          <a:xfrm>
            <a:off x="297207" y="681340"/>
            <a:ext cx="8549587" cy="54953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380FE-CD68-573D-D82D-19C649D59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238" y="367095"/>
            <a:ext cx="4609524" cy="61238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C0F4BA-FDDA-807D-3992-E557B5C3942B}"/>
              </a:ext>
            </a:extLst>
          </p:cNvPr>
          <p:cNvCxnSpPr>
            <a:cxnSpLocks/>
          </p:cNvCxnSpPr>
          <p:nvPr/>
        </p:nvCxnSpPr>
        <p:spPr>
          <a:xfrm flipH="1">
            <a:off x="6513226" y="2926720"/>
            <a:ext cx="1919666" cy="1210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31F6B-25E6-8990-B0EC-C669DBC70DE1}"/>
              </a:ext>
            </a:extLst>
          </p:cNvPr>
          <p:cNvSpPr/>
          <p:nvPr/>
        </p:nvSpPr>
        <p:spPr>
          <a:xfrm>
            <a:off x="5433934" y="4616450"/>
            <a:ext cx="689548" cy="2853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E713E-CA34-B2E5-8830-ACD9BC7B9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18" y="501649"/>
            <a:ext cx="3438095" cy="485714"/>
          </a:xfrm>
          <a:prstGeom prst="rect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43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3A6F95-D05D-DF5A-1B44-F40D37660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19246"/>
            <a:ext cx="6114286" cy="51523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Fun Facts about Argon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3AF40-9323-5DF4-D661-263378294444}"/>
              </a:ext>
            </a:extLst>
          </p:cNvPr>
          <p:cNvSpPr txBox="1"/>
          <p:nvPr/>
        </p:nvSpPr>
        <p:spPr>
          <a:xfrm>
            <a:off x="5154758" y="4201010"/>
            <a:ext cx="3606993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Argon is the third-most abundant gas in Earth's atmosphere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70C0"/>
                </a:solidFill>
              </a:rPr>
              <a:t>water vapor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23x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B050"/>
                </a:solidFill>
              </a:rPr>
              <a:t>carbon dioxide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D841D7-160A-4189-2CFE-A92C270362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0725" y="3302256"/>
            <a:ext cx="1254753" cy="125475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58C9E1B-C429-C5EB-1386-2B0045B6E6C7}"/>
              </a:ext>
            </a:extLst>
          </p:cNvPr>
          <p:cNvSpPr/>
          <p:nvPr/>
        </p:nvSpPr>
        <p:spPr>
          <a:xfrm>
            <a:off x="3064348" y="3367068"/>
            <a:ext cx="377526" cy="15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DB3D64-6E0C-006C-1142-8782A67CD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599" y="2724999"/>
            <a:ext cx="3028571" cy="390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2DA411-3B51-0030-7F81-04CF44363475}"/>
              </a:ext>
            </a:extLst>
          </p:cNvPr>
          <p:cNvSpPr/>
          <p:nvPr/>
        </p:nvSpPr>
        <p:spPr>
          <a:xfrm>
            <a:off x="4736623" y="2754444"/>
            <a:ext cx="635221" cy="15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96A6824-A7CB-586A-CF0E-80B6BFDDD32E}"/>
              </a:ext>
            </a:extLst>
          </p:cNvPr>
          <p:cNvCxnSpPr>
            <a:cxnSpLocks/>
            <a:stCxn id="15" idx="2"/>
            <a:endCxn id="14" idx="3"/>
          </p:cNvCxnSpPr>
          <p:nvPr/>
        </p:nvCxnSpPr>
        <p:spPr>
          <a:xfrm rot="5400000">
            <a:off x="3980203" y="2369959"/>
            <a:ext cx="535702" cy="161236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67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02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read CSV data files into a Numpy array</a:t>
            </a:r>
          </a:p>
          <a:p>
            <a:r>
              <a:rPr lang="en-US" sz="2400" dirty="0"/>
              <a:t>How to find the “line of best fit” through data using the Method of Least Squares</a:t>
            </a:r>
          </a:p>
          <a:p>
            <a:r>
              <a:rPr lang="en-US" sz="2400" dirty="0"/>
              <a:t>How to use the Ideal Gas Law to determine the identity of an unknown element by calculating its atomic mass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8434</TotalTime>
  <Words>223</Words>
  <Application>Microsoft Office PowerPoint</Application>
  <PresentationFormat>On-screen Show (4:3)</PresentationFormat>
  <Paragraphs>69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Linux Libertine</vt:lpstr>
      <vt:lpstr>Office Theme</vt:lpstr>
      <vt:lpstr>PowerPoint Presentation</vt:lpstr>
      <vt:lpstr>Our Challenge: Identify an Unknown Element</vt:lpstr>
      <vt:lpstr>Our Data</vt:lpstr>
      <vt:lpstr>Method of Least Squares</vt:lpstr>
      <vt:lpstr>Our Solution</vt:lpstr>
      <vt:lpstr>Our Solution</vt:lpstr>
      <vt:lpstr>Our Result</vt:lpstr>
      <vt:lpstr>PowerPoint Presentation</vt:lpstr>
      <vt:lpstr>Fun Facts about Argon</vt:lpstr>
      <vt:lpstr>Team 02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1022</cp:revision>
  <cp:lastPrinted>2015-06-01T00:45:11Z</cp:lastPrinted>
  <dcterms:created xsi:type="dcterms:W3CDTF">2014-09-21T17:58:26Z</dcterms:created>
  <dcterms:modified xsi:type="dcterms:W3CDTF">2023-12-19T00:11:17Z</dcterms:modified>
</cp:coreProperties>
</file>