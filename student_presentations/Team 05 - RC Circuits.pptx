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1301" r:id="rId2"/>
    <p:sldId id="1237" r:id="rId3"/>
    <p:sldId id="1054" r:id="rId4"/>
    <p:sldId id="1055" r:id="rId5"/>
    <p:sldId id="1235" r:id="rId6"/>
    <p:sldId id="1129" r:id="rId7"/>
    <p:sldId id="1234" r:id="rId8"/>
    <p:sldId id="1017" r:id="rId9"/>
    <p:sldId id="973" r:id="rId10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0"/>
    <a:srgbClr val="F84DE5"/>
    <a:srgbClr val="EF6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654" autoAdjust="0"/>
  </p:normalViewPr>
  <p:slideViewPr>
    <p:cSldViewPr snapToGrid="0">
      <p:cViewPr varScale="1">
        <p:scale>
          <a:sx n="120" d="100"/>
          <a:sy n="120" d="100"/>
        </p:scale>
        <p:origin x="13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9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2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72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 dirty="0"/>
                <a:t>Student #3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05</a:t>
              </a:r>
            </a:p>
            <a:p>
              <a:pPr algn="ctr"/>
              <a:r>
                <a:rPr lang="en-US" dirty="0"/>
                <a:t>Resistor-Capacitor Circuits</a:t>
              </a:r>
            </a:p>
            <a:p>
              <a:pPr algn="ctr"/>
              <a:r>
                <a:rPr lang="en-US" dirty="0"/>
                <a:t>ADC and DAC Converters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201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Build an RC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066D4-D8A5-6F36-DC9B-723DA40AD2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596" y="1653540"/>
            <a:ext cx="4021676" cy="38601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654480-BCAF-91F7-A5A7-25FC72D7F3F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54" t="6215"/>
          <a:stretch/>
        </p:blipFill>
        <p:spPr>
          <a:xfrm>
            <a:off x="5301577" y="2103507"/>
            <a:ext cx="3084976" cy="24642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5C7F94-8F70-2B62-F2EF-F35410D2C932}"/>
              </a:ext>
            </a:extLst>
          </p:cNvPr>
          <p:cNvSpPr txBox="1"/>
          <p:nvPr/>
        </p:nvSpPr>
        <p:spPr>
          <a:xfrm>
            <a:off x="940634" y="3141254"/>
            <a:ext cx="50217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ABC0D2-9111-E8DA-122B-56C0BCA31BB4}"/>
              </a:ext>
            </a:extLst>
          </p:cNvPr>
          <p:cNvCxnSpPr>
            <a:cxnSpLocks/>
          </p:cNvCxnSpPr>
          <p:nvPr/>
        </p:nvCxnSpPr>
        <p:spPr>
          <a:xfrm>
            <a:off x="1583492" y="3306872"/>
            <a:ext cx="0" cy="137688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894CBA-D090-6680-90A4-4A2DE253D79B}"/>
              </a:ext>
            </a:extLst>
          </p:cNvPr>
          <p:cNvCxnSpPr>
            <a:cxnSpLocks/>
          </p:cNvCxnSpPr>
          <p:nvPr/>
        </p:nvCxnSpPr>
        <p:spPr>
          <a:xfrm>
            <a:off x="1583492" y="4666036"/>
            <a:ext cx="40231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E3B642-E564-0E9E-3521-ED12F8B200AB}"/>
              </a:ext>
            </a:extLst>
          </p:cNvPr>
          <p:cNvCxnSpPr/>
          <p:nvPr/>
        </p:nvCxnSpPr>
        <p:spPr>
          <a:xfrm flipV="1">
            <a:off x="5793463" y="2239564"/>
            <a:ext cx="0" cy="74201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A5AA47-EDAD-B1C3-9E9F-1DE6A75637EF}"/>
              </a:ext>
            </a:extLst>
          </p:cNvPr>
          <p:cNvCxnSpPr>
            <a:cxnSpLocks/>
          </p:cNvCxnSpPr>
          <p:nvPr/>
        </p:nvCxnSpPr>
        <p:spPr>
          <a:xfrm>
            <a:off x="5793463" y="2265042"/>
            <a:ext cx="2164465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41283B-3D26-4C7E-55D0-199E411A125A}"/>
              </a:ext>
            </a:extLst>
          </p:cNvPr>
          <p:cNvCxnSpPr>
            <a:cxnSpLocks/>
          </p:cNvCxnSpPr>
          <p:nvPr/>
        </p:nvCxnSpPr>
        <p:spPr>
          <a:xfrm>
            <a:off x="1559564" y="3293913"/>
            <a:ext cx="225086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D9E6C18-35C3-A8AB-D2D7-5E3E52AF807C}"/>
              </a:ext>
            </a:extLst>
          </p:cNvPr>
          <p:cNvCxnSpPr>
            <a:cxnSpLocks/>
          </p:cNvCxnSpPr>
          <p:nvPr/>
        </p:nvCxnSpPr>
        <p:spPr>
          <a:xfrm flipV="1">
            <a:off x="1947835" y="4648314"/>
            <a:ext cx="1794292" cy="1772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09E6FF-1963-46D3-A0B0-FBD2301F770F}"/>
              </a:ext>
            </a:extLst>
          </p:cNvPr>
          <p:cNvCxnSpPr>
            <a:cxnSpLocks/>
          </p:cNvCxnSpPr>
          <p:nvPr/>
        </p:nvCxnSpPr>
        <p:spPr>
          <a:xfrm>
            <a:off x="7953165" y="2255518"/>
            <a:ext cx="0" cy="134047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3C31CBE-1B6C-D970-0D03-7FC77EBBEE03}"/>
              </a:ext>
            </a:extLst>
          </p:cNvPr>
          <p:cNvCxnSpPr>
            <a:cxnSpLocks/>
          </p:cNvCxnSpPr>
          <p:nvPr/>
        </p:nvCxnSpPr>
        <p:spPr>
          <a:xfrm>
            <a:off x="3715805" y="4634937"/>
            <a:ext cx="0" cy="62270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B2F66CE-FC34-F8B3-4C06-9425F1664168}"/>
              </a:ext>
            </a:extLst>
          </p:cNvPr>
          <p:cNvCxnSpPr>
            <a:cxnSpLocks/>
          </p:cNvCxnSpPr>
          <p:nvPr/>
        </p:nvCxnSpPr>
        <p:spPr>
          <a:xfrm flipV="1">
            <a:off x="1947835" y="5231057"/>
            <a:ext cx="1794292" cy="17722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546EA0-E884-93AE-A8F2-2094D4787706}"/>
              </a:ext>
            </a:extLst>
          </p:cNvPr>
          <p:cNvCxnSpPr>
            <a:cxnSpLocks/>
          </p:cNvCxnSpPr>
          <p:nvPr/>
        </p:nvCxnSpPr>
        <p:spPr>
          <a:xfrm>
            <a:off x="7953165" y="3538680"/>
            <a:ext cx="0" cy="9041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6364910-EF3F-C8F5-3C8C-40E0B39C91D7}"/>
              </a:ext>
            </a:extLst>
          </p:cNvPr>
          <p:cNvCxnSpPr>
            <a:cxnSpLocks/>
          </p:cNvCxnSpPr>
          <p:nvPr/>
        </p:nvCxnSpPr>
        <p:spPr>
          <a:xfrm>
            <a:off x="980920" y="5248172"/>
            <a:ext cx="1004888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F110390-2342-7658-6E8E-8DC83F077C3B}"/>
              </a:ext>
            </a:extLst>
          </p:cNvPr>
          <p:cNvCxnSpPr>
            <a:cxnSpLocks/>
          </p:cNvCxnSpPr>
          <p:nvPr/>
        </p:nvCxnSpPr>
        <p:spPr>
          <a:xfrm>
            <a:off x="5774322" y="4417925"/>
            <a:ext cx="2178843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DC3B5F3-07E5-8BA4-A854-C2F7A6A067AB}"/>
              </a:ext>
            </a:extLst>
          </p:cNvPr>
          <p:cNvCxnSpPr/>
          <p:nvPr/>
        </p:nvCxnSpPr>
        <p:spPr>
          <a:xfrm flipV="1">
            <a:off x="5793555" y="3700779"/>
            <a:ext cx="0" cy="74201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7CDB68E-49A2-24B0-31D6-122252D7562F}"/>
              </a:ext>
            </a:extLst>
          </p:cNvPr>
          <p:cNvCxnSpPr>
            <a:cxnSpLocks/>
          </p:cNvCxnSpPr>
          <p:nvPr/>
        </p:nvCxnSpPr>
        <p:spPr>
          <a:xfrm>
            <a:off x="3136327" y="3306872"/>
            <a:ext cx="0" cy="1376886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2C3CDEA-B73F-2D18-7BCF-3FF613C7F6B6}"/>
              </a:ext>
            </a:extLst>
          </p:cNvPr>
          <p:cNvSpPr txBox="1"/>
          <p:nvPr/>
        </p:nvSpPr>
        <p:spPr>
          <a:xfrm>
            <a:off x="3320330" y="3109247"/>
            <a:ext cx="50217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A1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80EDBE4-832C-429D-D4E9-A15035A22B27}"/>
              </a:ext>
            </a:extLst>
          </p:cNvPr>
          <p:cNvCxnSpPr>
            <a:cxnSpLocks/>
          </p:cNvCxnSpPr>
          <p:nvPr/>
        </p:nvCxnSpPr>
        <p:spPr>
          <a:xfrm>
            <a:off x="2934339" y="3306872"/>
            <a:ext cx="225086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DD7459F4-DE9B-5404-8F71-2D2424470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05" y="5839774"/>
            <a:ext cx="4342857" cy="838095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38B320C-0D77-0264-92AA-530531018AE4}"/>
              </a:ext>
            </a:extLst>
          </p:cNvPr>
          <p:cNvSpPr/>
          <p:nvPr/>
        </p:nvSpPr>
        <p:spPr>
          <a:xfrm>
            <a:off x="462775" y="6256407"/>
            <a:ext cx="483629" cy="4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1C8E841-B64F-B37B-56C2-F93D02B5BBF9}"/>
              </a:ext>
            </a:extLst>
          </p:cNvPr>
          <p:cNvSpPr/>
          <p:nvPr/>
        </p:nvSpPr>
        <p:spPr>
          <a:xfrm>
            <a:off x="3232176" y="6065556"/>
            <a:ext cx="483629" cy="1618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C9CFA09-111B-1AB5-BABC-4DD2EBD616D6}"/>
              </a:ext>
            </a:extLst>
          </p:cNvPr>
          <p:cNvCxnSpPr>
            <a:cxnSpLocks/>
            <a:stCxn id="7" idx="1"/>
            <a:endCxn id="78" idx="1"/>
          </p:cNvCxnSpPr>
          <p:nvPr/>
        </p:nvCxnSpPr>
        <p:spPr>
          <a:xfrm rot="10800000" flipV="1">
            <a:off x="462776" y="3325919"/>
            <a:ext cx="477859" cy="3140011"/>
          </a:xfrm>
          <a:prstGeom prst="bentConnector3">
            <a:avLst>
              <a:gd name="adj1" fmla="val 147838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6635EAD-C032-1D16-F738-7A305ADA7271}"/>
              </a:ext>
            </a:extLst>
          </p:cNvPr>
          <p:cNvCxnSpPr>
            <a:stCxn id="79" idx="3"/>
            <a:endCxn id="74" idx="3"/>
          </p:cNvCxnSpPr>
          <p:nvPr/>
        </p:nvCxnSpPr>
        <p:spPr>
          <a:xfrm flipV="1">
            <a:off x="3715805" y="3293913"/>
            <a:ext cx="106695" cy="2852547"/>
          </a:xfrm>
          <a:prstGeom prst="bentConnector3">
            <a:avLst>
              <a:gd name="adj1" fmla="val 314256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0647501-57D6-1611-2DDE-2D03019E2624}"/>
              </a:ext>
            </a:extLst>
          </p:cNvPr>
          <p:cNvSpPr txBox="1"/>
          <p:nvPr/>
        </p:nvSpPr>
        <p:spPr>
          <a:xfrm>
            <a:off x="4994431" y="270593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+3.3V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CA17370-6BF8-2DC8-F7EF-80DFC58E10B5}"/>
              </a:ext>
            </a:extLst>
          </p:cNvPr>
          <p:cNvSpPr txBox="1"/>
          <p:nvPr/>
        </p:nvSpPr>
        <p:spPr>
          <a:xfrm>
            <a:off x="6992208" y="285468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10K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7962F3A-2332-F18E-22DB-430B25CE4A2E}"/>
                  </a:ext>
                </a:extLst>
              </p:cNvPr>
              <p:cNvSpPr txBox="1"/>
              <p:nvPr/>
            </p:nvSpPr>
            <p:spPr>
              <a:xfrm>
                <a:off x="6992208" y="3783690"/>
                <a:ext cx="671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F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7962F3A-2332-F18E-22DB-430B25CE4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208" y="3783690"/>
                <a:ext cx="671979" cy="369332"/>
              </a:xfrm>
              <a:prstGeom prst="rect">
                <a:avLst/>
              </a:prstGeom>
              <a:blipFill>
                <a:blip r:embed="rId6"/>
                <a:stretch>
                  <a:fillRect l="-7273" t="-10000" r="-72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Picture 94">
            <a:extLst>
              <a:ext uri="{FF2B5EF4-FFF2-40B4-BE49-F238E27FC236}">
                <a16:creationId xmlns:a16="http://schemas.microsoft.com/office/drawing/2014/main" id="{26A6AF66-C5A2-1969-C628-17C6E2E51C4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8076" y="4617312"/>
            <a:ext cx="2681722" cy="2097529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262A45A-F26F-13EB-1B0B-5A10D37808BD}"/>
              </a:ext>
            </a:extLst>
          </p:cNvPr>
          <p:cNvSpPr txBox="1"/>
          <p:nvPr/>
        </p:nvSpPr>
        <p:spPr>
          <a:xfrm>
            <a:off x="8276960" y="3288495"/>
            <a:ext cx="63638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A1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B46D32D-42EE-64D1-CB4A-6EF3156A1E29}"/>
              </a:ext>
            </a:extLst>
          </p:cNvPr>
          <p:cNvCxnSpPr>
            <a:cxnSpLocks/>
            <a:stCxn id="97" idx="1"/>
          </p:cNvCxnSpPr>
          <p:nvPr/>
        </p:nvCxnSpPr>
        <p:spPr>
          <a:xfrm flipH="1">
            <a:off x="7912739" y="3473161"/>
            <a:ext cx="364221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6AADB605-FF6C-89BC-5D4D-A8CB66A36AB9}"/>
              </a:ext>
            </a:extLst>
          </p:cNvPr>
          <p:cNvSpPr txBox="1"/>
          <p:nvPr/>
        </p:nvSpPr>
        <p:spPr>
          <a:xfrm>
            <a:off x="5044926" y="361432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A9A89F2-FB85-3E4C-7ACA-C5E5F22C0EF7}"/>
              </a:ext>
            </a:extLst>
          </p:cNvPr>
          <p:cNvSpPr txBox="1"/>
          <p:nvPr/>
        </p:nvSpPr>
        <p:spPr>
          <a:xfrm>
            <a:off x="5333801" y="1533666"/>
            <a:ext cx="3083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We measured via an </a:t>
            </a:r>
            <a:r>
              <a:rPr lang="en-US" sz="1600" b="1" dirty="0">
                <a:solidFill>
                  <a:srgbClr val="7030A0"/>
                </a:solidFill>
              </a:rPr>
              <a:t>ADC</a:t>
            </a:r>
            <a:r>
              <a:rPr lang="en-US" sz="1600" dirty="0">
                <a:solidFill>
                  <a:srgbClr val="7030A0"/>
                </a:solidFill>
              </a:rPr>
              <a:t> the</a:t>
            </a:r>
          </a:p>
          <a:p>
            <a:pPr algn="ctr"/>
            <a:r>
              <a:rPr lang="en-US" sz="1600" b="1" dirty="0">
                <a:solidFill>
                  <a:srgbClr val="7030A0"/>
                </a:solidFill>
              </a:rPr>
              <a:t>voltage drop a</a:t>
            </a:r>
            <a:r>
              <a:rPr lang="en-US" sz="1600" dirty="0">
                <a:solidFill>
                  <a:srgbClr val="7030A0"/>
                </a:solidFill>
              </a:rPr>
              <a:t>cross the resistor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9CF462-9FE8-9E8F-E0C5-D05B73B017FB}"/>
              </a:ext>
            </a:extLst>
          </p:cNvPr>
          <p:cNvSpPr txBox="1"/>
          <p:nvPr/>
        </p:nvSpPr>
        <p:spPr>
          <a:xfrm>
            <a:off x="529000" y="1358738"/>
            <a:ext cx="4195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Pin D4 → </a:t>
            </a:r>
            <a:r>
              <a:rPr lang="en-US" sz="1600" b="1" dirty="0">
                <a:solidFill>
                  <a:srgbClr val="7030A0"/>
                </a:solidFill>
              </a:rPr>
              <a:t>DAC</a:t>
            </a:r>
            <a:r>
              <a:rPr lang="en-US" sz="1600" dirty="0">
                <a:solidFill>
                  <a:srgbClr val="7030A0"/>
                </a:solidFill>
              </a:rPr>
              <a:t> mode, Pin A1 → </a:t>
            </a:r>
            <a:r>
              <a:rPr lang="en-US" sz="1600" b="1" dirty="0">
                <a:solidFill>
                  <a:srgbClr val="7030A0"/>
                </a:solidFill>
              </a:rPr>
              <a:t>ADC</a:t>
            </a:r>
            <a:r>
              <a:rPr lang="en-US" sz="1600" dirty="0">
                <a:solidFill>
                  <a:srgbClr val="7030A0"/>
                </a:solidFill>
              </a:rPr>
              <a:t> mode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0744CA0-F997-E066-8768-9ED33E65BCCA}"/>
              </a:ext>
            </a:extLst>
          </p:cNvPr>
          <p:cNvCxnSpPr>
            <a:cxnSpLocks/>
          </p:cNvCxnSpPr>
          <p:nvPr/>
        </p:nvCxnSpPr>
        <p:spPr>
          <a:xfrm>
            <a:off x="4181320" y="6618423"/>
            <a:ext cx="5429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60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Series Resistor-Capacitor (</a:t>
            </a:r>
            <a:r>
              <a:rPr lang="en-US" sz="3200" b="1" dirty="0">
                <a:latin typeface="+mn-lt"/>
              </a:rPr>
              <a:t>RC</a:t>
            </a:r>
            <a:r>
              <a:rPr lang="en-US" sz="3200" dirty="0">
                <a:latin typeface="+mn-lt"/>
              </a:rPr>
              <a:t>)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BC925D-BEC3-1332-E963-F4C22F68F1E3}"/>
                  </a:ext>
                </a:extLst>
              </p:cNvPr>
              <p:cNvSpPr txBox="1"/>
              <p:nvPr/>
            </p:nvSpPr>
            <p:spPr>
              <a:xfrm>
                <a:off x="4572000" y="1690689"/>
                <a:ext cx="1801775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BC925D-BEC3-1332-E963-F4C22F68F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690689"/>
                <a:ext cx="1801775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1A35EC-2C41-ED44-F865-383544AD20D3}"/>
                  </a:ext>
                </a:extLst>
              </p:cNvPr>
              <p:cNvSpPr txBox="1"/>
              <p:nvPr/>
            </p:nvSpPr>
            <p:spPr>
              <a:xfrm>
                <a:off x="4572000" y="2553631"/>
                <a:ext cx="146783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1A35EC-2C41-ED44-F865-383544AD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553631"/>
                <a:ext cx="1467838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DC89DC-0E38-C4E6-44D1-1751EB7007B8}"/>
                  </a:ext>
                </a:extLst>
              </p:cNvPr>
              <p:cNvSpPr txBox="1"/>
              <p:nvPr/>
            </p:nvSpPr>
            <p:spPr>
              <a:xfrm>
                <a:off x="4572000" y="3416573"/>
                <a:ext cx="1649169" cy="57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DC89DC-0E38-C4E6-44D1-1751EB700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16573"/>
                <a:ext cx="1649169" cy="5730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F77358-C9C5-80EC-6976-C33FABC569E6}"/>
                  </a:ext>
                </a:extLst>
              </p:cNvPr>
              <p:cNvSpPr txBox="1"/>
              <p:nvPr/>
            </p:nvSpPr>
            <p:spPr>
              <a:xfrm>
                <a:off x="4572000" y="4326644"/>
                <a:ext cx="2346796" cy="619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F77358-C9C5-80EC-6976-C33FABC5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326644"/>
                <a:ext cx="2346796" cy="619400"/>
              </a:xfrm>
              <a:prstGeom prst="rect">
                <a:avLst/>
              </a:prstGeom>
              <a:blipFill>
                <a:blip r:embed="rId5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/>
              <p:nvPr/>
            </p:nvSpPr>
            <p:spPr>
              <a:xfrm>
                <a:off x="4572000" y="5283071"/>
                <a:ext cx="2608599" cy="498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83071"/>
                <a:ext cx="2608599" cy="4985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shape">
            <a:extLst>
              <a:ext uri="{FF2B5EF4-FFF2-40B4-BE49-F238E27FC236}">
                <a16:creationId xmlns:a16="http://schemas.microsoft.com/office/drawing/2014/main" id="{3868F771-6333-E93F-8745-905789ECED3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602" y="1576304"/>
            <a:ext cx="3455861" cy="262789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8DEE9F-1CA7-0140-C11B-6F5508C64502}"/>
              </a:ext>
            </a:extLst>
          </p:cNvPr>
          <p:cNvGrpSpPr/>
          <p:nvPr/>
        </p:nvGrpSpPr>
        <p:grpSpPr>
          <a:xfrm>
            <a:off x="919975" y="4321695"/>
            <a:ext cx="2885486" cy="369332"/>
            <a:chOff x="919975" y="4321695"/>
            <a:chExt cx="2885486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/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06" r="-935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C18413-0B4D-4109-D2E0-2FD452FBB450}"/>
                </a:ext>
              </a:extLst>
            </p:cNvPr>
            <p:cNvSpPr txBox="1"/>
            <p:nvPr/>
          </p:nvSpPr>
          <p:spPr>
            <a:xfrm>
              <a:off x="2475598" y="4321695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7521A2-3BBB-9B4C-F4D7-CD0D49AE9345}"/>
              </a:ext>
            </a:extLst>
          </p:cNvPr>
          <p:cNvGrpSpPr/>
          <p:nvPr/>
        </p:nvGrpSpPr>
        <p:grpSpPr>
          <a:xfrm>
            <a:off x="919975" y="4833059"/>
            <a:ext cx="2885488" cy="369332"/>
            <a:chOff x="919975" y="4833059"/>
            <a:chExt cx="288548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/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85" r="-445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EA53CB-3F05-6B72-B8DA-2B0FC26DC175}"/>
                </a:ext>
              </a:extLst>
            </p:cNvPr>
            <p:cNvSpPr txBox="1"/>
            <p:nvPr/>
          </p:nvSpPr>
          <p:spPr>
            <a:xfrm>
              <a:off x="2475599" y="4833059"/>
              <a:ext cx="1329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1AD373-5F82-0EAD-372F-9C937F892A2D}"/>
              </a:ext>
            </a:extLst>
          </p:cNvPr>
          <p:cNvGrpSpPr/>
          <p:nvPr/>
        </p:nvGrpSpPr>
        <p:grpSpPr>
          <a:xfrm>
            <a:off x="919975" y="5344423"/>
            <a:ext cx="2885485" cy="369332"/>
            <a:chOff x="919975" y="5344423"/>
            <a:chExt cx="288548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/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77" r="-16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D8CC44-D768-24D9-12B9-AE35F9168756}"/>
                </a:ext>
              </a:extLst>
            </p:cNvPr>
            <p:cNvSpPr txBox="1"/>
            <p:nvPr/>
          </p:nvSpPr>
          <p:spPr>
            <a:xfrm>
              <a:off x="2475597" y="5344423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KCL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B51872-747E-428F-1DFE-BF6DF15792AF}"/>
              </a:ext>
            </a:extLst>
          </p:cNvPr>
          <p:cNvGrpSpPr/>
          <p:nvPr/>
        </p:nvGrpSpPr>
        <p:grpSpPr>
          <a:xfrm>
            <a:off x="919975" y="5846543"/>
            <a:ext cx="2885486" cy="646331"/>
            <a:chOff x="919975" y="5846543"/>
            <a:chExt cx="288548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/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A54EFD-589F-66E6-8648-96FD496230F9}"/>
                </a:ext>
              </a:extLst>
            </p:cNvPr>
            <p:cNvSpPr txBox="1"/>
            <p:nvPr/>
          </p:nvSpPr>
          <p:spPr>
            <a:xfrm>
              <a:off x="2475597" y="5846543"/>
              <a:ext cx="1329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Capacitive Current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C6980C-BAFA-8EA5-13A2-0349E252CE55}"/>
              </a:ext>
            </a:extLst>
          </p:cNvPr>
          <p:cNvSpPr txBox="1"/>
          <p:nvPr/>
        </p:nvSpPr>
        <p:spPr>
          <a:xfrm>
            <a:off x="2743201" y="2401912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29A3D-8BCC-294B-A45E-0F63D21756DF}"/>
              </a:ext>
            </a:extLst>
          </p:cNvPr>
          <p:cNvSpPr txBox="1"/>
          <p:nvPr/>
        </p:nvSpPr>
        <p:spPr>
          <a:xfrm>
            <a:off x="2743201" y="3416406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867678-F4D6-7579-5A8E-2DFCE20835B4}"/>
              </a:ext>
            </a:extLst>
          </p:cNvPr>
          <p:cNvSpPr/>
          <p:nvPr/>
        </p:nvSpPr>
        <p:spPr>
          <a:xfrm>
            <a:off x="3303300" y="3163276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C2901E-1CDB-43A9-3AEE-21C84C960A62}"/>
              </a:ext>
            </a:extLst>
          </p:cNvPr>
          <p:cNvCxnSpPr/>
          <p:nvPr/>
        </p:nvCxnSpPr>
        <p:spPr>
          <a:xfrm>
            <a:off x="3371528" y="2083633"/>
            <a:ext cx="0" cy="9884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B5ECC2-7C67-F355-2D68-21DCE3CC1583}"/>
              </a:ext>
            </a:extLst>
          </p:cNvPr>
          <p:cNvCxnSpPr>
            <a:cxnSpLocks/>
          </p:cNvCxnSpPr>
          <p:nvPr/>
        </p:nvCxnSpPr>
        <p:spPr>
          <a:xfrm>
            <a:off x="3370269" y="2938463"/>
            <a:ext cx="0" cy="224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42506B-D9C2-36C3-FDEA-6DA8EB18C58A}"/>
              </a:ext>
            </a:extLst>
          </p:cNvPr>
          <p:cNvCxnSpPr>
            <a:cxnSpLocks/>
          </p:cNvCxnSpPr>
          <p:nvPr/>
        </p:nvCxnSpPr>
        <p:spPr>
          <a:xfrm>
            <a:off x="3372650" y="3300436"/>
            <a:ext cx="0" cy="2595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D10809-9732-69FE-82FA-E35DB208133F}"/>
              </a:ext>
            </a:extLst>
          </p:cNvPr>
          <p:cNvCxnSpPr>
            <a:cxnSpLocks/>
          </p:cNvCxnSpPr>
          <p:nvPr/>
        </p:nvCxnSpPr>
        <p:spPr>
          <a:xfrm>
            <a:off x="3372650" y="3505224"/>
            <a:ext cx="0" cy="5500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59CAFA-4032-4EC1-5B84-D13303EE9671}"/>
              </a:ext>
            </a:extLst>
          </p:cNvPr>
          <p:cNvCxnSpPr/>
          <p:nvPr/>
        </p:nvCxnSpPr>
        <p:spPr>
          <a:xfrm flipV="1">
            <a:off x="1214203" y="1891494"/>
            <a:ext cx="0" cy="7570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4BFD04-6F92-4349-E290-0FF40F40F54B}"/>
              </a:ext>
            </a:extLst>
          </p:cNvPr>
          <p:cNvCxnSpPr>
            <a:cxnSpLocks/>
          </p:cNvCxnSpPr>
          <p:nvPr/>
        </p:nvCxnSpPr>
        <p:spPr>
          <a:xfrm>
            <a:off x="1204678" y="1894669"/>
            <a:ext cx="21830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4BFC356-0005-A055-15F2-1FAA2E1E5D1E}"/>
              </a:ext>
            </a:extLst>
          </p:cNvPr>
          <p:cNvCxnSpPr>
            <a:cxnSpLocks/>
          </p:cNvCxnSpPr>
          <p:nvPr/>
        </p:nvCxnSpPr>
        <p:spPr>
          <a:xfrm>
            <a:off x="3372650" y="1884351"/>
            <a:ext cx="0" cy="21863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CB4554-FBBA-7558-64BB-4AD2BF3B29C1}"/>
              </a:ext>
            </a:extLst>
          </p:cNvPr>
          <p:cNvCxnSpPr>
            <a:cxnSpLocks/>
          </p:cNvCxnSpPr>
          <p:nvPr/>
        </p:nvCxnSpPr>
        <p:spPr>
          <a:xfrm flipH="1">
            <a:off x="1181100" y="4061975"/>
            <a:ext cx="220335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8B596B-B2A4-83EF-4E12-5581A13CB94E}"/>
              </a:ext>
            </a:extLst>
          </p:cNvPr>
          <p:cNvCxnSpPr>
            <a:cxnSpLocks/>
          </p:cNvCxnSpPr>
          <p:nvPr/>
        </p:nvCxnSpPr>
        <p:spPr>
          <a:xfrm flipH="1" flipV="1">
            <a:off x="1213705" y="3300436"/>
            <a:ext cx="0" cy="7548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4BBBB94-2FA5-1842-2624-B6223C3C12E2}"/>
              </a:ext>
            </a:extLst>
          </p:cNvPr>
          <p:cNvSpPr txBox="1"/>
          <p:nvPr/>
        </p:nvSpPr>
        <p:spPr>
          <a:xfrm>
            <a:off x="399738" y="2786449"/>
            <a:ext cx="42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r>
              <a:rPr lang="en-US" b="1" baseline="-250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6676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Series Resistor-Capacitor (</a:t>
            </a:r>
            <a:r>
              <a:rPr lang="en-US" sz="3200" b="1" dirty="0">
                <a:latin typeface="+mn-lt"/>
              </a:rPr>
              <a:t>RC</a:t>
            </a:r>
            <a:r>
              <a:rPr lang="en-US" sz="3200" dirty="0">
                <a:latin typeface="+mn-lt"/>
              </a:rPr>
              <a:t>)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/>
              <p:nvPr/>
            </p:nvSpPr>
            <p:spPr>
              <a:xfrm>
                <a:off x="4661785" y="1962749"/>
                <a:ext cx="2608599" cy="498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785" y="1962749"/>
                <a:ext cx="2608599" cy="4985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0BA19-B7E5-8F2B-BE7C-2FFF8B69D619}"/>
                  </a:ext>
                </a:extLst>
              </p:cNvPr>
              <p:cNvSpPr txBox="1"/>
              <p:nvPr/>
            </p:nvSpPr>
            <p:spPr>
              <a:xfrm>
                <a:off x="5028744" y="3013177"/>
                <a:ext cx="187468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0BA19-B7E5-8F2B-BE7C-2FFF8B69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744" y="3013177"/>
                <a:ext cx="1874680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535B-F8B1-701B-963B-E26D93D96F8C}"/>
                  </a:ext>
                </a:extLst>
              </p:cNvPr>
              <p:cNvSpPr txBox="1"/>
              <p:nvPr/>
            </p:nvSpPr>
            <p:spPr>
              <a:xfrm>
                <a:off x="5112517" y="4187421"/>
                <a:ext cx="1707134" cy="565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535B-F8B1-701B-963B-E26D93D9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517" y="4187421"/>
                <a:ext cx="1707134" cy="5656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17C1B-5C3E-64E3-059E-6B297B1EE9A1}"/>
                  </a:ext>
                </a:extLst>
              </p:cNvPr>
              <p:cNvSpPr txBox="1"/>
              <p:nvPr/>
            </p:nvSpPr>
            <p:spPr>
              <a:xfrm>
                <a:off x="4945452" y="5304982"/>
                <a:ext cx="2041264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17C1B-5C3E-64E3-059E-6B297B1EE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452" y="5304982"/>
                <a:ext cx="2041264" cy="414537"/>
              </a:xfrm>
              <a:prstGeom prst="rect">
                <a:avLst/>
              </a:prstGeom>
              <a:blipFill>
                <a:blip r:embed="rId5"/>
                <a:stretch>
                  <a:fillRect l="-1194" t="-104412" r="-15224" b="-1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shape">
            <a:extLst>
              <a:ext uri="{FF2B5EF4-FFF2-40B4-BE49-F238E27FC236}">
                <a16:creationId xmlns:a16="http://schemas.microsoft.com/office/drawing/2014/main" id="{8799EE61-E12D-4436-22AF-54331981826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602" y="1576304"/>
            <a:ext cx="3455861" cy="26278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D4535-23E8-5651-E538-D6D4571D6356}"/>
              </a:ext>
            </a:extLst>
          </p:cNvPr>
          <p:cNvSpPr txBox="1"/>
          <p:nvPr/>
        </p:nvSpPr>
        <p:spPr>
          <a:xfrm>
            <a:off x="2743201" y="2401912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E8B4AE-D8F0-FC2B-127A-30B68BF07DBD}"/>
              </a:ext>
            </a:extLst>
          </p:cNvPr>
          <p:cNvSpPr txBox="1"/>
          <p:nvPr/>
        </p:nvSpPr>
        <p:spPr>
          <a:xfrm>
            <a:off x="2743201" y="3416406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AA0B6-EAC1-FE01-D4E8-5D8CB73C7C3A}"/>
              </a:ext>
            </a:extLst>
          </p:cNvPr>
          <p:cNvSpPr txBox="1"/>
          <p:nvPr/>
        </p:nvSpPr>
        <p:spPr>
          <a:xfrm>
            <a:off x="399738" y="2786449"/>
            <a:ext cx="42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r>
              <a:rPr lang="en-US" b="1" baseline="-25000" dirty="0"/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9CF74-6944-3205-C995-428A7BB4ED96}"/>
              </a:ext>
            </a:extLst>
          </p:cNvPr>
          <p:cNvSpPr txBox="1"/>
          <p:nvPr/>
        </p:nvSpPr>
        <p:spPr>
          <a:xfrm>
            <a:off x="4144931" y="5804458"/>
            <a:ext cx="3642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voltage across the </a:t>
            </a:r>
            <a:r>
              <a:rPr lang="en-US" b="1" dirty="0">
                <a:solidFill>
                  <a:srgbClr val="7030A0"/>
                </a:solidFill>
              </a:rPr>
              <a:t>charging</a:t>
            </a:r>
            <a:r>
              <a:rPr lang="en-US" dirty="0">
                <a:solidFill>
                  <a:srgbClr val="7030A0"/>
                </a:solidFill>
              </a:rPr>
              <a:t> capacitor as a function of 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B0676-EBDE-521C-01E4-2320FDB3577E}"/>
              </a:ext>
            </a:extLst>
          </p:cNvPr>
          <p:cNvCxnSpPr/>
          <p:nvPr/>
        </p:nvCxnSpPr>
        <p:spPr>
          <a:xfrm>
            <a:off x="3372787" y="3324352"/>
            <a:ext cx="0" cy="640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06C0C0-C5FF-B5FB-5D0B-98684C2B45C0}"/>
              </a:ext>
            </a:extLst>
          </p:cNvPr>
          <p:cNvGrpSpPr/>
          <p:nvPr/>
        </p:nvGrpSpPr>
        <p:grpSpPr>
          <a:xfrm>
            <a:off x="919975" y="4321695"/>
            <a:ext cx="2885486" cy="369332"/>
            <a:chOff x="919975" y="4321695"/>
            <a:chExt cx="2885486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68FD806-081B-F0CE-341E-56AB458B7698}"/>
                    </a:ext>
                  </a:extLst>
                </p:cNvPr>
                <p:cNvSpPr txBox="1"/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06" r="-935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C79067-B32F-3BC0-0DC8-88F601B32762}"/>
                </a:ext>
              </a:extLst>
            </p:cNvPr>
            <p:cNvSpPr txBox="1"/>
            <p:nvPr/>
          </p:nvSpPr>
          <p:spPr>
            <a:xfrm>
              <a:off x="2475598" y="4321695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20FB41-F3E6-6D74-E9B9-DD33CF824421}"/>
              </a:ext>
            </a:extLst>
          </p:cNvPr>
          <p:cNvGrpSpPr/>
          <p:nvPr/>
        </p:nvGrpSpPr>
        <p:grpSpPr>
          <a:xfrm>
            <a:off x="919975" y="4833059"/>
            <a:ext cx="2885488" cy="369332"/>
            <a:chOff x="919975" y="4833059"/>
            <a:chExt cx="288548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2387D81-7CF3-963A-9DBB-D1BFCE7EC9D2}"/>
                    </a:ext>
                  </a:extLst>
                </p:cNvPr>
                <p:cNvSpPr txBox="1"/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85" r="-445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F7E031-D6EE-4854-F6FD-14ED6A975F89}"/>
                </a:ext>
              </a:extLst>
            </p:cNvPr>
            <p:cNvSpPr txBox="1"/>
            <p:nvPr/>
          </p:nvSpPr>
          <p:spPr>
            <a:xfrm>
              <a:off x="2475599" y="4833059"/>
              <a:ext cx="1329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5FECA7-48A1-3262-80F8-50F10DFACA6F}"/>
              </a:ext>
            </a:extLst>
          </p:cNvPr>
          <p:cNvGrpSpPr/>
          <p:nvPr/>
        </p:nvGrpSpPr>
        <p:grpSpPr>
          <a:xfrm>
            <a:off x="919975" y="5344423"/>
            <a:ext cx="2885485" cy="369332"/>
            <a:chOff x="919975" y="5344423"/>
            <a:chExt cx="288548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9D6D28-9B44-A6A7-95DA-77C5740A6253}"/>
                    </a:ext>
                  </a:extLst>
                </p:cNvPr>
                <p:cNvSpPr txBox="1"/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77" r="-16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543C49-3773-1FB3-E344-8685D4C290E1}"/>
                </a:ext>
              </a:extLst>
            </p:cNvPr>
            <p:cNvSpPr txBox="1"/>
            <p:nvPr/>
          </p:nvSpPr>
          <p:spPr>
            <a:xfrm>
              <a:off x="2475597" y="5344423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KCL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26454-8143-A5C8-7773-D73ED6F720DA}"/>
              </a:ext>
            </a:extLst>
          </p:cNvPr>
          <p:cNvGrpSpPr/>
          <p:nvPr/>
        </p:nvGrpSpPr>
        <p:grpSpPr>
          <a:xfrm>
            <a:off x="919975" y="5846543"/>
            <a:ext cx="2885486" cy="646331"/>
            <a:chOff x="919975" y="5846543"/>
            <a:chExt cx="288548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44CC3BC-CA3D-33D9-40B9-466CAE6E33B5}"/>
                    </a:ext>
                  </a:extLst>
                </p:cNvPr>
                <p:cNvSpPr txBox="1"/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DCF267-785C-F005-74A0-B2655038C2F9}"/>
                </a:ext>
              </a:extLst>
            </p:cNvPr>
            <p:cNvSpPr txBox="1"/>
            <p:nvPr/>
          </p:nvSpPr>
          <p:spPr>
            <a:xfrm>
              <a:off x="2475597" y="5846543"/>
              <a:ext cx="1329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Capacitive Current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AC2814F-9299-DF3B-AE40-8BC30B051B7D}"/>
              </a:ext>
            </a:extLst>
          </p:cNvPr>
          <p:cNvSpPr/>
          <p:nvPr/>
        </p:nvSpPr>
        <p:spPr>
          <a:xfrm>
            <a:off x="4907756" y="5276545"/>
            <a:ext cx="2181225" cy="49853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9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RP2040 </a:t>
            </a:r>
            <a:r>
              <a:rPr lang="en-US" sz="3200" b="1" dirty="0">
                <a:latin typeface="+mn-lt"/>
              </a:rPr>
              <a:t>ADC</a:t>
            </a:r>
            <a:r>
              <a:rPr lang="en-US" sz="3200" dirty="0">
                <a:latin typeface="+mn-lt"/>
              </a:rPr>
              <a:t> (input) vs. </a:t>
            </a:r>
            <a:r>
              <a:rPr lang="en-US" sz="3200" b="1" dirty="0">
                <a:latin typeface="+mn-lt"/>
              </a:rPr>
              <a:t>DAC</a:t>
            </a:r>
            <a:r>
              <a:rPr lang="en-US" sz="3200" dirty="0">
                <a:latin typeface="+mn-lt"/>
              </a:rPr>
              <a:t> (output)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A856448-D51B-2824-F1AC-6283E144E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78" y="1648417"/>
            <a:ext cx="7783643" cy="267923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0311FBF-A513-E9D8-58B0-E9C10E82BCC1}"/>
              </a:ext>
            </a:extLst>
          </p:cNvPr>
          <p:cNvSpPr txBox="1"/>
          <p:nvPr/>
        </p:nvSpPr>
        <p:spPr>
          <a:xfrm>
            <a:off x="347273" y="4670213"/>
            <a:ext cx="413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ADC</a:t>
            </a:r>
            <a:r>
              <a:rPr lang="en-US" dirty="0"/>
              <a:t> = </a:t>
            </a:r>
            <a:r>
              <a:rPr lang="en-US" b="1" dirty="0"/>
              <a:t>A</a:t>
            </a:r>
            <a:r>
              <a:rPr lang="en-US" dirty="0"/>
              <a:t>nalog to </a:t>
            </a:r>
            <a:r>
              <a:rPr lang="en-US" b="1" dirty="0"/>
              <a:t>D</a:t>
            </a:r>
            <a:r>
              <a:rPr lang="en-US" dirty="0"/>
              <a:t>igital </a:t>
            </a:r>
            <a:r>
              <a:rPr lang="en-US" b="1" dirty="0"/>
              <a:t>C</a:t>
            </a:r>
            <a:r>
              <a:rPr lang="en-US" dirty="0"/>
              <a:t>onverter</a:t>
            </a:r>
          </a:p>
          <a:p>
            <a:pPr algn="ctr"/>
            <a:r>
              <a:rPr lang="en-US" dirty="0"/>
              <a:t>Reads a voltage between +3.3V to </a:t>
            </a:r>
            <a:r>
              <a:rPr lang="en-US" b="1" dirty="0"/>
              <a:t>GND</a:t>
            </a:r>
            <a:r>
              <a:rPr lang="en-US" dirty="0"/>
              <a:t> and returns an integer between 0-65,535:</a:t>
            </a:r>
          </a:p>
          <a:p>
            <a:pPr algn="ctr"/>
            <a:r>
              <a:rPr lang="en-US" dirty="0"/>
              <a:t>65,535 = </a:t>
            </a:r>
            <a:r>
              <a:rPr lang="en-US" dirty="0">
                <a:solidFill>
                  <a:srgbClr val="FF0000"/>
                </a:solidFill>
              </a:rPr>
              <a:t>+3.3V</a:t>
            </a:r>
            <a:r>
              <a:rPr lang="en-US" dirty="0"/>
              <a:t>, 0 = </a:t>
            </a:r>
            <a:r>
              <a:rPr lang="en-US" b="1" dirty="0"/>
              <a:t>GND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033C42-80AC-95FA-A30B-3CCECFE0DE51}"/>
              </a:ext>
            </a:extLst>
          </p:cNvPr>
          <p:cNvSpPr txBox="1"/>
          <p:nvPr/>
        </p:nvSpPr>
        <p:spPr>
          <a:xfrm>
            <a:off x="4659443" y="4683129"/>
            <a:ext cx="413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DAC</a:t>
            </a:r>
            <a:r>
              <a:rPr lang="en-US" dirty="0"/>
              <a:t> = </a:t>
            </a:r>
            <a:r>
              <a:rPr lang="en-US" b="1" dirty="0"/>
              <a:t>D</a:t>
            </a:r>
            <a:r>
              <a:rPr lang="en-US" dirty="0"/>
              <a:t>igital to </a:t>
            </a:r>
            <a:r>
              <a:rPr lang="en-US" b="1" dirty="0"/>
              <a:t>A</a:t>
            </a:r>
            <a:r>
              <a:rPr lang="en-US" dirty="0"/>
              <a:t>nalog </a:t>
            </a:r>
            <a:r>
              <a:rPr lang="en-US" b="1" dirty="0"/>
              <a:t>C</a:t>
            </a:r>
            <a:r>
              <a:rPr lang="en-US" dirty="0"/>
              <a:t>onverter</a:t>
            </a:r>
          </a:p>
          <a:p>
            <a:pPr algn="ctr"/>
            <a:r>
              <a:rPr lang="en-US" dirty="0"/>
              <a:t>Given an integer between 0 and 65,535 the MCU outputs a fixed voltage:</a:t>
            </a:r>
          </a:p>
          <a:p>
            <a:pPr algn="ctr"/>
            <a:r>
              <a:rPr lang="en-US" dirty="0"/>
              <a:t>65,535 = </a:t>
            </a:r>
            <a:r>
              <a:rPr lang="en-US" dirty="0">
                <a:solidFill>
                  <a:srgbClr val="FF0000"/>
                </a:solidFill>
              </a:rPr>
              <a:t>+3.3V</a:t>
            </a:r>
            <a:r>
              <a:rPr lang="en-US" dirty="0"/>
              <a:t>, 0 = </a:t>
            </a:r>
            <a:r>
              <a:rPr lang="en-US" b="1" dirty="0"/>
              <a:t>GND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C501E4-EA23-1183-2B99-7255D1AB0DD3}"/>
              </a:ext>
            </a:extLst>
          </p:cNvPr>
          <p:cNvCxnSpPr>
            <a:stCxn id="42" idx="0"/>
          </p:cNvCxnSpPr>
          <p:nvPr/>
        </p:nvCxnSpPr>
        <p:spPr>
          <a:xfrm flipV="1">
            <a:off x="2415916" y="3949908"/>
            <a:ext cx="776989" cy="7203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53DB27-B1C1-E97D-4D28-19CEC2FC2260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5546361" y="3949908"/>
            <a:ext cx="1181725" cy="7332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18D187D-CECD-D37B-02BF-3C2F38C59E02}"/>
              </a:ext>
            </a:extLst>
          </p:cNvPr>
          <p:cNvSpPr txBox="1"/>
          <p:nvPr/>
        </p:nvSpPr>
        <p:spPr>
          <a:xfrm>
            <a:off x="390993" y="5922367"/>
            <a:ext cx="4049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RP2040 can sense only 4,096 </a:t>
            </a:r>
            <a:r>
              <a:rPr lang="en-US" sz="1400" i="1" dirty="0">
                <a:solidFill>
                  <a:srgbClr val="7030A0"/>
                </a:solidFill>
              </a:rPr>
              <a:t>distinct</a:t>
            </a:r>
            <a:r>
              <a:rPr lang="en-US" sz="1400" dirty="0">
                <a:solidFill>
                  <a:srgbClr val="7030A0"/>
                </a:solidFill>
              </a:rPr>
              <a:t> voltage levels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17817-9B22-0F20-3C31-0F030B636866}"/>
              </a:ext>
            </a:extLst>
          </p:cNvPr>
          <p:cNvSpPr txBox="1"/>
          <p:nvPr/>
        </p:nvSpPr>
        <p:spPr>
          <a:xfrm>
            <a:off x="4703164" y="5909451"/>
            <a:ext cx="4049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RP2040 can output only 4,096 </a:t>
            </a:r>
            <a:r>
              <a:rPr lang="en-US" sz="1400" i="1" dirty="0">
                <a:solidFill>
                  <a:srgbClr val="7030A0"/>
                </a:solidFill>
              </a:rPr>
              <a:t>distinct</a:t>
            </a:r>
            <a:r>
              <a:rPr lang="en-US" sz="1400" dirty="0">
                <a:solidFill>
                  <a:srgbClr val="7030A0"/>
                </a:solidFill>
              </a:rPr>
              <a:t> voltage levels</a:t>
            </a:r>
          </a:p>
        </p:txBody>
      </p:sp>
    </p:spTree>
    <p:extLst>
      <p:ext uri="{BB962C8B-B14F-4D97-AF65-F5344CB8AC3E}">
        <p14:creationId xmlns:p14="http://schemas.microsoft.com/office/powerpoint/2010/main" val="421700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Approach</a:t>
            </a:r>
            <a:endParaRPr lang="en-US" sz="32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457E4-BB96-7419-9144-A02730903D2A}"/>
              </a:ext>
            </a:extLst>
          </p:cNvPr>
          <p:cNvSpPr txBox="1"/>
          <p:nvPr/>
        </p:nvSpPr>
        <p:spPr>
          <a:xfrm>
            <a:off x="984852" y="1935059"/>
            <a:ext cx="30274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a serial (USB) port connection from the laptop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ED18-3562-D3FE-8D1F-208426885AE8}"/>
              </a:ext>
            </a:extLst>
          </p:cNvPr>
          <p:cNvSpPr txBox="1"/>
          <p:nvPr/>
        </p:nvSpPr>
        <p:spPr>
          <a:xfrm>
            <a:off x="4808976" y="1935058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Connects to the KB2040 over the serial (USB) 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DBFC5-E3F1-8407-5571-31A957CA028C}"/>
              </a:ext>
            </a:extLst>
          </p:cNvPr>
          <p:cNvSpPr txBox="1"/>
          <p:nvPr/>
        </p:nvSpPr>
        <p:spPr>
          <a:xfrm>
            <a:off x="984852" y="2975486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the command "</a:t>
            </a:r>
            <a:r>
              <a:rPr lang="en-US" b="1" dirty="0"/>
              <a:t>r</a:t>
            </a:r>
            <a:r>
              <a:rPr lang="en-US" dirty="0"/>
              <a:t>" to  be sent by the laptop over the USB (CDC Data) 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C2D0F-E51D-56AE-6B1F-E1CD813C8946}"/>
              </a:ext>
            </a:extLst>
          </p:cNvPr>
          <p:cNvSpPr txBox="1"/>
          <p:nvPr/>
        </p:nvSpPr>
        <p:spPr>
          <a:xfrm>
            <a:off x="4808976" y="2887670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Sends the string "r" to the KB2040 over the </a:t>
            </a:r>
            <a:r>
              <a:rPr lang="en-US" b="1" dirty="0"/>
              <a:t>CDC Data</a:t>
            </a:r>
            <a:r>
              <a:rPr lang="en-US" dirty="0"/>
              <a:t> 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AA221-43CF-645B-DC9A-3D38D9C3F201}"/>
              </a:ext>
            </a:extLst>
          </p:cNvPr>
          <p:cNvSpPr txBox="1"/>
          <p:nvPr/>
        </p:nvSpPr>
        <p:spPr>
          <a:xfrm>
            <a:off x="984852" y="4185321"/>
            <a:ext cx="30274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Sets NeoPixel to </a:t>
            </a:r>
            <a:r>
              <a:rPr lang="en-US" b="1" dirty="0">
                <a:solidFill>
                  <a:srgbClr val="0070C0"/>
                </a:solidFill>
              </a:rPr>
              <a:t>BLUE</a:t>
            </a:r>
            <a:r>
              <a:rPr lang="en-US" dirty="0"/>
              <a:t> to fully discharge capacitor, then to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as it recharges the circuit while measuring volts &amp; times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2ACD0-6EC3-05D6-EF1B-ACE3B545C19F}"/>
              </a:ext>
            </a:extLst>
          </p:cNvPr>
          <p:cNvSpPr txBox="1"/>
          <p:nvPr/>
        </p:nvSpPr>
        <p:spPr>
          <a:xfrm>
            <a:off x="4808976" y="3840282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to receive the volts and times from the KB2040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F88A4-99BF-0C24-FAD7-7D4FD577F5EE}"/>
              </a:ext>
            </a:extLst>
          </p:cNvPr>
          <p:cNvSpPr txBox="1"/>
          <p:nvPr/>
        </p:nvSpPr>
        <p:spPr>
          <a:xfrm>
            <a:off x="984852" y="5610337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Sets NeoPixel to </a:t>
            </a:r>
            <a:r>
              <a:rPr lang="en-US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YELLOW</a:t>
            </a:r>
            <a:r>
              <a:rPr lang="en-US" dirty="0"/>
              <a:t> as it sends the volts and times to the laptop over the USB 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8777A-7FFF-8E05-AB57-2AFB98DB48D6}"/>
              </a:ext>
            </a:extLst>
          </p:cNvPr>
          <p:cNvSpPr txBox="1"/>
          <p:nvPr/>
        </p:nvSpPr>
        <p:spPr>
          <a:xfrm>
            <a:off x="4808976" y="4792894"/>
            <a:ext cx="33501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Plots the voltage vs. time graph for the RC circuit and saves a PNG file of the plot window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562AB-3B54-2066-A1E6-C960328A56F3}"/>
              </a:ext>
            </a:extLst>
          </p:cNvPr>
          <p:cNvSpPr txBox="1"/>
          <p:nvPr/>
        </p:nvSpPr>
        <p:spPr>
          <a:xfrm>
            <a:off x="984851" y="1430328"/>
            <a:ext cx="297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code.py </a:t>
            </a:r>
            <a:r>
              <a:rPr lang="en-US" dirty="0"/>
              <a:t>running on </a:t>
            </a:r>
            <a:r>
              <a:rPr lang="en-US" b="1" dirty="0"/>
              <a:t>KB2040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96E4C-2721-3BF0-93F8-C0389265491A}"/>
              </a:ext>
            </a:extLst>
          </p:cNvPr>
          <p:cNvSpPr txBox="1"/>
          <p:nvPr/>
        </p:nvSpPr>
        <p:spPr>
          <a:xfrm>
            <a:off x="4808977" y="1430328"/>
            <a:ext cx="335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rc_decay.py </a:t>
            </a:r>
            <a:r>
              <a:rPr lang="en-US" dirty="0"/>
              <a:t>running on </a:t>
            </a:r>
            <a:r>
              <a:rPr lang="en-US" b="1" dirty="0"/>
              <a:t>Laptop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7E7ED10-96F2-C9F7-E97D-0F9DEEF1C457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>
          <a:xfrm rot="10800000">
            <a:off x="792466" y="2782904"/>
            <a:ext cx="192386" cy="3289098"/>
          </a:xfrm>
          <a:prstGeom prst="bentConnector3">
            <a:avLst>
              <a:gd name="adj1" fmla="val 28115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977FE4-2DFC-62D1-4424-B6C547A19FAF}"/>
              </a:ext>
            </a:extLst>
          </p:cNvPr>
          <p:cNvSpPr txBox="1"/>
          <p:nvPr/>
        </p:nvSpPr>
        <p:spPr>
          <a:xfrm>
            <a:off x="792466" y="2629015"/>
            <a:ext cx="1603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NeoPixel is </a:t>
            </a:r>
            <a:r>
              <a:rPr lang="en-US" sz="14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GREEN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33A1FF-9653-DA01-F95A-363701F4DCF3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4012324" y="2258224"/>
            <a:ext cx="796652" cy="1"/>
          </a:xfrm>
          <a:prstGeom prst="bentConnector3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8919D7-6910-E01A-A469-1C7D975CDBB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498588" y="2581390"/>
            <a:ext cx="0" cy="39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E4510C-80F9-130B-B7BE-3FC721AC45E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484062" y="2581389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E4B1873-837B-6DCD-99B4-C2ACD67159E5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rot="10800000" flipV="1">
            <a:off x="4012324" y="3210835"/>
            <a:ext cx="796652" cy="226315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D9B0B8-8AA6-7C2B-0595-07AF08D4868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498588" y="3898816"/>
            <a:ext cx="0" cy="2865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B69B1B-344C-036B-B21A-34F37B41E71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484062" y="3534001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E9CB952-B72D-B0F5-C592-0637651FD8E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498588" y="5385650"/>
            <a:ext cx="0" cy="2246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3483784-49AF-35FD-0990-CAB0CC4E3D6C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4012324" y="4163448"/>
            <a:ext cx="796652" cy="190855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53B67BA-6757-38B8-7694-C0966928D79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484062" y="4486613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37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BF84D-CCE6-F428-B7DA-4A39738795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7281" y="1287548"/>
            <a:ext cx="6445217" cy="52887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40AD22-639F-D2CB-56B8-C51ECFCB4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26" y="4582109"/>
            <a:ext cx="2818712" cy="76943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A0685C-DD0B-C847-76B0-5A1DAA6E9DF5}"/>
                  </a:ext>
                </a:extLst>
              </p:cNvPr>
              <p:cNvSpPr txBox="1"/>
              <p:nvPr/>
            </p:nvSpPr>
            <p:spPr>
              <a:xfrm>
                <a:off x="5718348" y="3267608"/>
                <a:ext cx="2548005" cy="6448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A0685C-DD0B-C847-76B0-5A1DAA6E9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48" y="3267608"/>
                <a:ext cx="2548005" cy="6448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61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BF9F23-B411-1A42-55A0-9F056D67FB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977" y="726745"/>
            <a:ext cx="3406443" cy="2555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8B70C1-69EA-6877-2FEF-1D7C0B23D09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69" y="865211"/>
            <a:ext cx="3797504" cy="2278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8B6EA-B697-767C-DAA4-68C9E13E47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27883" y="3134415"/>
            <a:ext cx="2555434" cy="3407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4CB82-C2B5-C5E8-6D6C-7E8F6C5357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69" y="3544818"/>
            <a:ext cx="3806455" cy="2586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05356E-2808-D064-2B5C-B2C09C0DC6A3}"/>
                  </a:ext>
                </a:extLst>
              </p:cNvPr>
              <p:cNvSpPr txBox="1"/>
              <p:nvPr/>
            </p:nvSpPr>
            <p:spPr>
              <a:xfrm>
                <a:off x="1515704" y="603745"/>
                <a:ext cx="1904194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$450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𝑂𝑠𝑐𝑖𝑙𝑙𝑜𝑠𝑐𝑜𝑝𝑒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05356E-2808-D064-2B5C-B2C09C0DC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04" y="603745"/>
                <a:ext cx="190419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0B5D24-093D-A01D-FD10-BB2B3A8060A6}"/>
                  </a:ext>
                </a:extLst>
              </p:cNvPr>
              <p:cNvSpPr txBox="1"/>
              <p:nvPr/>
            </p:nvSpPr>
            <p:spPr>
              <a:xfrm>
                <a:off x="1515704" y="5912761"/>
                <a:ext cx="1904194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$10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0B5D24-093D-A01D-FD10-BB2B3A806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04" y="5912761"/>
                <a:ext cx="190419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12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05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calculate the “voltage over time” of a resistor-capacitor circuit as it charges and then discharges</a:t>
            </a:r>
          </a:p>
          <a:p>
            <a:r>
              <a:rPr lang="en-US" sz="2400" dirty="0"/>
              <a:t>How to apply Kirchhoff's Voltage Law (KVL) and Kirchhoff's Current Law (KCL) to evaluate a circuit</a:t>
            </a:r>
          </a:p>
          <a:p>
            <a:r>
              <a:rPr lang="en-US" sz="2400" dirty="0"/>
              <a:t>How to model a circuit’s voltage and current using differential equations</a:t>
            </a:r>
          </a:p>
          <a:p>
            <a:r>
              <a:rPr lang="en-US" sz="2400" dirty="0"/>
              <a:t>The purpose and function of an analog-to-digital (ADC) converter and a digital-to-analog (DAC) converter</a:t>
            </a:r>
          </a:p>
          <a:p>
            <a:r>
              <a:rPr lang="en-US" sz="2400" dirty="0"/>
              <a:t>How a $10 microcontroller can perform many of the same functions as a $450 oscilloscope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10450</TotalTime>
  <Words>509</Words>
  <Application>Microsoft Office PowerPoint</Application>
  <PresentationFormat>On-screen Show (4:3)</PresentationFormat>
  <Paragraphs>95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Our Challenge: Build an RC Circuit</vt:lpstr>
      <vt:lpstr>Series Resistor-Capacitor (RC) Circuit</vt:lpstr>
      <vt:lpstr>Series Resistor-Capacitor (RC) Circuit</vt:lpstr>
      <vt:lpstr>RP2040 ADC (input) vs. DAC (output)</vt:lpstr>
      <vt:lpstr>Our Approach</vt:lpstr>
      <vt:lpstr>Our Result</vt:lpstr>
      <vt:lpstr>PowerPoint Presentation</vt:lpstr>
      <vt:lpstr>Team 05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1049</cp:revision>
  <cp:lastPrinted>2015-06-01T00:45:11Z</cp:lastPrinted>
  <dcterms:created xsi:type="dcterms:W3CDTF">2014-09-21T17:58:26Z</dcterms:created>
  <dcterms:modified xsi:type="dcterms:W3CDTF">2023-12-19T00:13:19Z</dcterms:modified>
</cp:coreProperties>
</file>