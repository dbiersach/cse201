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1054" r:id="rId2"/>
    <p:sldId id="1055" r:id="rId3"/>
    <p:sldId id="1237" r:id="rId4"/>
    <p:sldId id="1129" r:id="rId5"/>
    <p:sldId id="1045" r:id="rId6"/>
    <p:sldId id="1108" r:id="rId7"/>
    <p:sldId id="1248" r:id="rId8"/>
    <p:sldId id="1249" r:id="rId9"/>
    <p:sldId id="1234" r:id="rId10"/>
    <p:sldId id="1017" r:id="rId11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C8C0"/>
    <a:srgbClr val="F84DE5"/>
    <a:srgbClr val="EF6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18.png"/><Relationship Id="rId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2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4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72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Deriving the RC Circuit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BC925D-BEC3-1332-E963-F4C22F68F1E3}"/>
                  </a:ext>
                </a:extLst>
              </p:cNvPr>
              <p:cNvSpPr txBox="1"/>
              <p:nvPr/>
            </p:nvSpPr>
            <p:spPr>
              <a:xfrm>
                <a:off x="4572000" y="1690689"/>
                <a:ext cx="1801775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𝑅𝐶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BC925D-BEC3-1332-E963-F4C22F68F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690689"/>
                <a:ext cx="1801775" cy="5259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C1A35EC-2C41-ED44-F865-383544AD20D3}"/>
                  </a:ext>
                </a:extLst>
              </p:cNvPr>
              <p:cNvSpPr txBox="1"/>
              <p:nvPr/>
            </p:nvSpPr>
            <p:spPr>
              <a:xfrm>
                <a:off x="4572000" y="2553631"/>
                <a:ext cx="1467838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C1A35EC-2C41-ED44-F865-383544AD2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553631"/>
                <a:ext cx="1467838" cy="5259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DC89DC-0E38-C4E6-44D1-1751EB7007B8}"/>
                  </a:ext>
                </a:extLst>
              </p:cNvPr>
              <p:cNvSpPr txBox="1"/>
              <p:nvPr/>
            </p:nvSpPr>
            <p:spPr>
              <a:xfrm>
                <a:off x="4572000" y="3416573"/>
                <a:ext cx="1649169" cy="573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DC89DC-0E38-C4E6-44D1-1751EB700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416573"/>
                <a:ext cx="1649169" cy="5730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5F77358-C9C5-80EC-6976-C33FABC569E6}"/>
                  </a:ext>
                </a:extLst>
              </p:cNvPr>
              <p:cNvSpPr txBox="1"/>
              <p:nvPr/>
            </p:nvSpPr>
            <p:spPr>
              <a:xfrm>
                <a:off x="4572000" y="4326644"/>
                <a:ext cx="2346796" cy="6194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5F77358-C9C5-80EC-6976-C33FABC56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326644"/>
                <a:ext cx="2346796" cy="619400"/>
              </a:xfrm>
              <a:prstGeom prst="rect">
                <a:avLst/>
              </a:prstGeom>
              <a:blipFill>
                <a:blip r:embed="rId5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9399CF-1A33-2FD2-BAC2-88B2A6297E49}"/>
                  </a:ext>
                </a:extLst>
              </p:cNvPr>
              <p:cNvSpPr txBox="1"/>
              <p:nvPr/>
            </p:nvSpPr>
            <p:spPr>
              <a:xfrm>
                <a:off x="4572000" y="5283071"/>
                <a:ext cx="2608599" cy="4985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9399CF-1A33-2FD2-BAC2-88B2A6297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283071"/>
                <a:ext cx="2608599" cy="4985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Diagram, shape">
            <a:extLst>
              <a:ext uri="{FF2B5EF4-FFF2-40B4-BE49-F238E27FC236}">
                <a16:creationId xmlns:a16="http://schemas.microsoft.com/office/drawing/2014/main" id="{3868F771-6333-E93F-8745-905789ECED3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602" y="1576304"/>
            <a:ext cx="3455861" cy="262789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28DEE9F-1CA7-0140-C11B-6F5508C64502}"/>
              </a:ext>
            </a:extLst>
          </p:cNvPr>
          <p:cNvGrpSpPr/>
          <p:nvPr/>
        </p:nvGrpSpPr>
        <p:grpSpPr>
          <a:xfrm>
            <a:off x="919975" y="4321695"/>
            <a:ext cx="2885486" cy="369332"/>
            <a:chOff x="919975" y="4321695"/>
            <a:chExt cx="2885486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39601F3-ED34-67D1-1581-B09177AE094B}"/>
                    </a:ext>
                  </a:extLst>
                </p:cNvPr>
                <p:cNvSpPr txBox="1"/>
                <p:nvPr/>
              </p:nvSpPr>
              <p:spPr>
                <a:xfrm>
                  <a:off x="919975" y="4367862"/>
                  <a:ext cx="130522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39601F3-ED34-67D1-1581-B09177AE09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75" y="4367862"/>
                  <a:ext cx="130522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4206" r="-935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3C18413-0B4D-4109-D2E0-2FD452FBB450}"/>
                </a:ext>
              </a:extLst>
            </p:cNvPr>
            <p:cNvSpPr txBox="1"/>
            <p:nvPr/>
          </p:nvSpPr>
          <p:spPr>
            <a:xfrm>
              <a:off x="2475598" y="4321695"/>
              <a:ext cx="1329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KVL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A7521A2-3BBB-9B4C-F4D7-CD0D49AE9345}"/>
              </a:ext>
            </a:extLst>
          </p:cNvPr>
          <p:cNvGrpSpPr/>
          <p:nvPr/>
        </p:nvGrpSpPr>
        <p:grpSpPr>
          <a:xfrm>
            <a:off x="919975" y="4833059"/>
            <a:ext cx="2885488" cy="369332"/>
            <a:chOff x="919975" y="4833059"/>
            <a:chExt cx="2885488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9D67A46-CC80-5045-0E82-3F41B34C3C8A}"/>
                    </a:ext>
                  </a:extLst>
                </p:cNvPr>
                <p:cNvSpPr txBox="1"/>
                <p:nvPr/>
              </p:nvSpPr>
              <p:spPr>
                <a:xfrm>
                  <a:off x="919975" y="4879226"/>
                  <a:ext cx="95545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9D67A46-CC80-5045-0E82-3F41B34C3C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75" y="4879226"/>
                  <a:ext cx="95545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185" r="-4459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8EA53CB-3F05-6B72-B8DA-2B0FC26DC175}"/>
                </a:ext>
              </a:extLst>
            </p:cNvPr>
            <p:cNvSpPr txBox="1"/>
            <p:nvPr/>
          </p:nvSpPr>
          <p:spPr>
            <a:xfrm>
              <a:off x="2475599" y="4833059"/>
              <a:ext cx="13298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Ohm's Law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01AD373-5F82-0EAD-372F-9C937F892A2D}"/>
              </a:ext>
            </a:extLst>
          </p:cNvPr>
          <p:cNvGrpSpPr/>
          <p:nvPr/>
        </p:nvGrpSpPr>
        <p:grpSpPr>
          <a:xfrm>
            <a:off x="919975" y="5344423"/>
            <a:ext cx="2885485" cy="369332"/>
            <a:chOff x="919975" y="5344423"/>
            <a:chExt cx="2885485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1EF8873-8DCC-E1F9-81DB-E66877FD83AD}"/>
                    </a:ext>
                  </a:extLst>
                </p:cNvPr>
                <p:cNvSpPr txBox="1"/>
                <p:nvPr/>
              </p:nvSpPr>
              <p:spPr>
                <a:xfrm>
                  <a:off x="919975" y="5390590"/>
                  <a:ext cx="74648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1EF8873-8DCC-E1F9-81DB-E66877FD83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75" y="5390590"/>
                  <a:ext cx="746486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7377" r="-1639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9D8CC44-D768-24D9-12B9-AE35F9168756}"/>
                </a:ext>
              </a:extLst>
            </p:cNvPr>
            <p:cNvSpPr txBox="1"/>
            <p:nvPr/>
          </p:nvSpPr>
          <p:spPr>
            <a:xfrm>
              <a:off x="2475597" y="5344423"/>
              <a:ext cx="1329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KCL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FB51872-747E-428F-1DFE-BF6DF15792AF}"/>
              </a:ext>
            </a:extLst>
          </p:cNvPr>
          <p:cNvGrpSpPr/>
          <p:nvPr/>
        </p:nvGrpSpPr>
        <p:grpSpPr>
          <a:xfrm>
            <a:off x="919975" y="5846543"/>
            <a:ext cx="2885486" cy="646331"/>
            <a:chOff x="919975" y="5846543"/>
            <a:chExt cx="2885486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3FB7726-43C8-2F0D-30DA-4642C5C093F9}"/>
                    </a:ext>
                  </a:extLst>
                </p:cNvPr>
                <p:cNvSpPr txBox="1"/>
                <p:nvPr/>
              </p:nvSpPr>
              <p:spPr>
                <a:xfrm>
                  <a:off x="919975" y="5906752"/>
                  <a:ext cx="1116652" cy="5259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3FB7726-43C8-2F0D-30DA-4642C5C093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75" y="5906752"/>
                  <a:ext cx="1116652" cy="52591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2A54EFD-589F-66E6-8648-96FD496230F9}"/>
                </a:ext>
              </a:extLst>
            </p:cNvPr>
            <p:cNvSpPr txBox="1"/>
            <p:nvPr/>
          </p:nvSpPr>
          <p:spPr>
            <a:xfrm>
              <a:off x="2475597" y="5846543"/>
              <a:ext cx="13298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Capacitive Current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C6980C-BAFA-8EA5-13A2-0349E252CE55}"/>
              </a:ext>
            </a:extLst>
          </p:cNvPr>
          <p:cNvSpPr txBox="1"/>
          <p:nvPr/>
        </p:nvSpPr>
        <p:spPr>
          <a:xfrm>
            <a:off x="2743201" y="2401912"/>
            <a:ext cx="307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829A3D-8BCC-294B-A45E-0F63D21756DF}"/>
              </a:ext>
            </a:extLst>
          </p:cNvPr>
          <p:cNvSpPr txBox="1"/>
          <p:nvPr/>
        </p:nvSpPr>
        <p:spPr>
          <a:xfrm>
            <a:off x="2743201" y="3416406"/>
            <a:ext cx="307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867678-F4D6-7579-5A8E-2DFCE20835B4}"/>
              </a:ext>
            </a:extLst>
          </p:cNvPr>
          <p:cNvSpPr/>
          <p:nvPr/>
        </p:nvSpPr>
        <p:spPr>
          <a:xfrm>
            <a:off x="3303300" y="3163276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3C2901E-1CDB-43A9-3AEE-21C84C960A62}"/>
              </a:ext>
            </a:extLst>
          </p:cNvPr>
          <p:cNvCxnSpPr/>
          <p:nvPr/>
        </p:nvCxnSpPr>
        <p:spPr>
          <a:xfrm>
            <a:off x="3371528" y="2083633"/>
            <a:ext cx="0" cy="9884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CB5ECC2-7C67-F355-2D68-21DCE3CC1583}"/>
              </a:ext>
            </a:extLst>
          </p:cNvPr>
          <p:cNvCxnSpPr>
            <a:cxnSpLocks/>
          </p:cNvCxnSpPr>
          <p:nvPr/>
        </p:nvCxnSpPr>
        <p:spPr>
          <a:xfrm>
            <a:off x="3370269" y="2938463"/>
            <a:ext cx="0" cy="2248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D42506B-D9C2-36C3-FDEA-6DA8EB18C58A}"/>
              </a:ext>
            </a:extLst>
          </p:cNvPr>
          <p:cNvCxnSpPr>
            <a:cxnSpLocks/>
          </p:cNvCxnSpPr>
          <p:nvPr/>
        </p:nvCxnSpPr>
        <p:spPr>
          <a:xfrm>
            <a:off x="3372650" y="3300436"/>
            <a:ext cx="0" cy="2595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7D10809-9732-69FE-82FA-E35DB208133F}"/>
              </a:ext>
            </a:extLst>
          </p:cNvPr>
          <p:cNvCxnSpPr>
            <a:cxnSpLocks/>
          </p:cNvCxnSpPr>
          <p:nvPr/>
        </p:nvCxnSpPr>
        <p:spPr>
          <a:xfrm>
            <a:off x="3372650" y="3505224"/>
            <a:ext cx="0" cy="5500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E59CAFA-4032-4EC1-5B84-D13303EE9671}"/>
              </a:ext>
            </a:extLst>
          </p:cNvPr>
          <p:cNvCxnSpPr/>
          <p:nvPr/>
        </p:nvCxnSpPr>
        <p:spPr>
          <a:xfrm flipV="1">
            <a:off x="1214203" y="1891494"/>
            <a:ext cx="0" cy="7570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34BFD04-6F92-4349-E290-0FF40F40F54B}"/>
              </a:ext>
            </a:extLst>
          </p:cNvPr>
          <p:cNvCxnSpPr>
            <a:cxnSpLocks/>
          </p:cNvCxnSpPr>
          <p:nvPr/>
        </p:nvCxnSpPr>
        <p:spPr>
          <a:xfrm>
            <a:off x="1204678" y="1894669"/>
            <a:ext cx="218304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4BFC356-0005-A055-15F2-1FAA2E1E5D1E}"/>
              </a:ext>
            </a:extLst>
          </p:cNvPr>
          <p:cNvCxnSpPr>
            <a:cxnSpLocks/>
          </p:cNvCxnSpPr>
          <p:nvPr/>
        </p:nvCxnSpPr>
        <p:spPr>
          <a:xfrm>
            <a:off x="3372650" y="1884351"/>
            <a:ext cx="0" cy="21863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CB4554-FBBA-7558-64BB-4AD2BF3B29C1}"/>
              </a:ext>
            </a:extLst>
          </p:cNvPr>
          <p:cNvCxnSpPr>
            <a:cxnSpLocks/>
          </p:cNvCxnSpPr>
          <p:nvPr/>
        </p:nvCxnSpPr>
        <p:spPr>
          <a:xfrm flipH="1">
            <a:off x="1181100" y="4061975"/>
            <a:ext cx="220335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78B596B-B2A4-83EF-4E12-5581A13CB94E}"/>
              </a:ext>
            </a:extLst>
          </p:cNvPr>
          <p:cNvCxnSpPr>
            <a:cxnSpLocks/>
          </p:cNvCxnSpPr>
          <p:nvPr/>
        </p:nvCxnSpPr>
        <p:spPr>
          <a:xfrm flipH="1" flipV="1">
            <a:off x="1213705" y="3300436"/>
            <a:ext cx="0" cy="7548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4BBBB94-2FA5-1842-2624-B6223C3C12E2}"/>
              </a:ext>
            </a:extLst>
          </p:cNvPr>
          <p:cNvSpPr txBox="1"/>
          <p:nvPr/>
        </p:nvSpPr>
        <p:spPr>
          <a:xfrm>
            <a:off x="399738" y="2786449"/>
            <a:ext cx="42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r>
              <a:rPr lang="en-US" b="1" baseline="-25000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76676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Deriving the RC Circuit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9399CF-1A33-2FD2-BAC2-88B2A6297E49}"/>
                  </a:ext>
                </a:extLst>
              </p:cNvPr>
              <p:cNvSpPr txBox="1"/>
              <p:nvPr/>
            </p:nvSpPr>
            <p:spPr>
              <a:xfrm>
                <a:off x="4661785" y="1962749"/>
                <a:ext cx="2608599" cy="4985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9399CF-1A33-2FD2-BAC2-88B2A6297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785" y="1962749"/>
                <a:ext cx="2608599" cy="4985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20BA19-B7E5-8F2B-BE7C-2FFF8B69D619}"/>
                  </a:ext>
                </a:extLst>
              </p:cNvPr>
              <p:cNvSpPr txBox="1"/>
              <p:nvPr/>
            </p:nvSpPr>
            <p:spPr>
              <a:xfrm>
                <a:off x="5028744" y="3013177"/>
                <a:ext cx="1874680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20BA19-B7E5-8F2B-BE7C-2FFF8B69D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744" y="3013177"/>
                <a:ext cx="1874680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C0535B-F8B1-701B-963B-E26D93D96F8C}"/>
                  </a:ext>
                </a:extLst>
              </p:cNvPr>
              <p:cNvSpPr txBox="1"/>
              <p:nvPr/>
            </p:nvSpPr>
            <p:spPr>
              <a:xfrm>
                <a:off x="5112517" y="4187421"/>
                <a:ext cx="1707134" cy="5656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type m:val="skw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C0535B-F8B1-701B-963B-E26D93D96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517" y="4187421"/>
                <a:ext cx="1707134" cy="5656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017C1B-5C3E-64E3-059E-6B297B1EE9A1}"/>
                  </a:ext>
                </a:extLst>
              </p:cNvPr>
              <p:cNvSpPr txBox="1"/>
              <p:nvPr/>
            </p:nvSpPr>
            <p:spPr>
              <a:xfrm>
                <a:off x="4945452" y="5304982"/>
                <a:ext cx="2041264" cy="414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skw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017C1B-5C3E-64E3-059E-6B297B1EE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452" y="5304982"/>
                <a:ext cx="2041264" cy="414537"/>
              </a:xfrm>
              <a:prstGeom prst="rect">
                <a:avLst/>
              </a:prstGeom>
              <a:blipFill>
                <a:blip r:embed="rId5"/>
                <a:stretch>
                  <a:fillRect l="-1194" t="-104412" r="-15224" b="-1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Diagram, shape">
            <a:extLst>
              <a:ext uri="{FF2B5EF4-FFF2-40B4-BE49-F238E27FC236}">
                <a16:creationId xmlns:a16="http://schemas.microsoft.com/office/drawing/2014/main" id="{8799EE61-E12D-4436-22AF-54331981826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602" y="1576304"/>
            <a:ext cx="3455861" cy="26278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3D4535-23E8-5651-E538-D6D4571D6356}"/>
              </a:ext>
            </a:extLst>
          </p:cNvPr>
          <p:cNvSpPr txBox="1"/>
          <p:nvPr/>
        </p:nvSpPr>
        <p:spPr>
          <a:xfrm>
            <a:off x="2743201" y="2401912"/>
            <a:ext cx="307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E8B4AE-D8F0-FC2B-127A-30B68BF07DBD}"/>
              </a:ext>
            </a:extLst>
          </p:cNvPr>
          <p:cNvSpPr txBox="1"/>
          <p:nvPr/>
        </p:nvSpPr>
        <p:spPr>
          <a:xfrm>
            <a:off x="2743201" y="3416406"/>
            <a:ext cx="307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4AA0B6-EAC1-FE01-D4E8-5D8CB73C7C3A}"/>
              </a:ext>
            </a:extLst>
          </p:cNvPr>
          <p:cNvSpPr txBox="1"/>
          <p:nvPr/>
        </p:nvSpPr>
        <p:spPr>
          <a:xfrm>
            <a:off x="399738" y="2786449"/>
            <a:ext cx="42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</a:t>
            </a:r>
            <a:r>
              <a:rPr lang="en-US" b="1" baseline="-25000" dirty="0"/>
              <a:t>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C9CF74-6944-3205-C995-428A7BB4ED96}"/>
              </a:ext>
            </a:extLst>
          </p:cNvPr>
          <p:cNvSpPr txBox="1"/>
          <p:nvPr/>
        </p:nvSpPr>
        <p:spPr>
          <a:xfrm>
            <a:off x="4581719" y="5839427"/>
            <a:ext cx="2833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Voltage across the capacitor as a function of time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DB0676-EBDE-521C-01E4-2320FDB3577E}"/>
              </a:ext>
            </a:extLst>
          </p:cNvPr>
          <p:cNvCxnSpPr/>
          <p:nvPr/>
        </p:nvCxnSpPr>
        <p:spPr>
          <a:xfrm>
            <a:off x="3372787" y="3324352"/>
            <a:ext cx="0" cy="64054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306C0C0-C5FF-B5FB-5D0B-98684C2B45C0}"/>
              </a:ext>
            </a:extLst>
          </p:cNvPr>
          <p:cNvGrpSpPr/>
          <p:nvPr/>
        </p:nvGrpSpPr>
        <p:grpSpPr>
          <a:xfrm>
            <a:off x="919975" y="4321695"/>
            <a:ext cx="2885486" cy="369332"/>
            <a:chOff x="919975" y="4321695"/>
            <a:chExt cx="2885486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68FD806-081B-F0CE-341E-56AB458B7698}"/>
                    </a:ext>
                  </a:extLst>
                </p:cNvPr>
                <p:cNvSpPr txBox="1"/>
                <p:nvPr/>
              </p:nvSpPr>
              <p:spPr>
                <a:xfrm>
                  <a:off x="919975" y="4367862"/>
                  <a:ext cx="130522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39601F3-ED34-67D1-1581-B09177AE09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75" y="4367862"/>
                  <a:ext cx="130522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4206" r="-935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EC79067-B32F-3BC0-0DC8-88F601B32762}"/>
                </a:ext>
              </a:extLst>
            </p:cNvPr>
            <p:cNvSpPr txBox="1"/>
            <p:nvPr/>
          </p:nvSpPr>
          <p:spPr>
            <a:xfrm>
              <a:off x="2475598" y="4321695"/>
              <a:ext cx="1329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KVL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420FB41-F3E6-6D74-E9B9-DD33CF824421}"/>
              </a:ext>
            </a:extLst>
          </p:cNvPr>
          <p:cNvGrpSpPr/>
          <p:nvPr/>
        </p:nvGrpSpPr>
        <p:grpSpPr>
          <a:xfrm>
            <a:off x="919975" y="4833059"/>
            <a:ext cx="2885488" cy="369332"/>
            <a:chOff x="919975" y="4833059"/>
            <a:chExt cx="2885488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2387D81-7CF3-963A-9DBB-D1BFCE7EC9D2}"/>
                    </a:ext>
                  </a:extLst>
                </p:cNvPr>
                <p:cNvSpPr txBox="1"/>
                <p:nvPr/>
              </p:nvSpPr>
              <p:spPr>
                <a:xfrm>
                  <a:off x="919975" y="4879226"/>
                  <a:ext cx="95545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9D67A46-CC80-5045-0E82-3F41B34C3C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75" y="4879226"/>
                  <a:ext cx="95545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185" r="-4459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F7E031-D6EE-4854-F6FD-14ED6A975F89}"/>
                </a:ext>
              </a:extLst>
            </p:cNvPr>
            <p:cNvSpPr txBox="1"/>
            <p:nvPr/>
          </p:nvSpPr>
          <p:spPr>
            <a:xfrm>
              <a:off x="2475599" y="4833059"/>
              <a:ext cx="13298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Ohm's Law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E5FECA7-48A1-3262-80F8-50F10DFACA6F}"/>
              </a:ext>
            </a:extLst>
          </p:cNvPr>
          <p:cNvGrpSpPr/>
          <p:nvPr/>
        </p:nvGrpSpPr>
        <p:grpSpPr>
          <a:xfrm>
            <a:off x="919975" y="5344423"/>
            <a:ext cx="2885485" cy="369332"/>
            <a:chOff x="919975" y="5344423"/>
            <a:chExt cx="2885485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89D6D28-9B44-A6A7-95DA-77C5740A6253}"/>
                    </a:ext>
                  </a:extLst>
                </p:cNvPr>
                <p:cNvSpPr txBox="1"/>
                <p:nvPr/>
              </p:nvSpPr>
              <p:spPr>
                <a:xfrm>
                  <a:off x="919975" y="5390590"/>
                  <a:ext cx="74648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1EF8873-8DCC-E1F9-81DB-E66877FD83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75" y="5390590"/>
                  <a:ext cx="746486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7377" r="-1639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0543C49-3773-1FB3-E344-8685D4C290E1}"/>
                </a:ext>
              </a:extLst>
            </p:cNvPr>
            <p:cNvSpPr txBox="1"/>
            <p:nvPr/>
          </p:nvSpPr>
          <p:spPr>
            <a:xfrm>
              <a:off x="2475597" y="5344423"/>
              <a:ext cx="1329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KCL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3026454-8143-A5C8-7773-D73ED6F720DA}"/>
              </a:ext>
            </a:extLst>
          </p:cNvPr>
          <p:cNvGrpSpPr/>
          <p:nvPr/>
        </p:nvGrpSpPr>
        <p:grpSpPr>
          <a:xfrm>
            <a:off x="919975" y="5846543"/>
            <a:ext cx="2885486" cy="646331"/>
            <a:chOff x="919975" y="5846543"/>
            <a:chExt cx="2885486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44CC3BC-CA3D-33D9-40B9-466CAE6E33B5}"/>
                    </a:ext>
                  </a:extLst>
                </p:cNvPr>
                <p:cNvSpPr txBox="1"/>
                <p:nvPr/>
              </p:nvSpPr>
              <p:spPr>
                <a:xfrm>
                  <a:off x="919975" y="5906752"/>
                  <a:ext cx="1116652" cy="5259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3FB7726-43C8-2F0D-30DA-4642C5C093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75" y="5906752"/>
                  <a:ext cx="1116652" cy="52591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BDCF267-785C-F005-74A0-B2655038C2F9}"/>
                </a:ext>
              </a:extLst>
            </p:cNvPr>
            <p:cNvSpPr txBox="1"/>
            <p:nvPr/>
          </p:nvSpPr>
          <p:spPr>
            <a:xfrm>
              <a:off x="2475597" y="5846543"/>
              <a:ext cx="13298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Capacitive Current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BAC2814F-9299-DF3B-AE40-8BC30B051B7D}"/>
              </a:ext>
            </a:extLst>
          </p:cNvPr>
          <p:cNvSpPr/>
          <p:nvPr/>
        </p:nvSpPr>
        <p:spPr>
          <a:xfrm>
            <a:off x="4907756" y="5276545"/>
            <a:ext cx="2181225" cy="498534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699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</a:t>
            </a:r>
            <a:r>
              <a:rPr lang="en-US" sz="3200" b="1" dirty="0">
                <a:latin typeface="+mn-lt"/>
              </a:rPr>
              <a:t> rc_decay</a:t>
            </a:r>
            <a:r>
              <a:rPr lang="en-US" sz="3200" dirty="0">
                <a:latin typeface="+mn-lt"/>
              </a:rPr>
              <a:t>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066D4-D8A5-6F36-DC9B-723DA40AD24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596" y="1574030"/>
            <a:ext cx="4021676" cy="386016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654480-BCAF-91F7-A5A7-25FC72D7F3F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754" t="6215"/>
          <a:stretch/>
        </p:blipFill>
        <p:spPr>
          <a:xfrm>
            <a:off x="5301577" y="1810609"/>
            <a:ext cx="3084976" cy="24642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5C7F94-8F70-2B62-F2EF-F35410D2C932}"/>
              </a:ext>
            </a:extLst>
          </p:cNvPr>
          <p:cNvSpPr txBox="1"/>
          <p:nvPr/>
        </p:nvSpPr>
        <p:spPr>
          <a:xfrm>
            <a:off x="940634" y="3061744"/>
            <a:ext cx="50217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D4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0ABC0D2-9111-E8DA-122B-56C0BCA31BB4}"/>
              </a:ext>
            </a:extLst>
          </p:cNvPr>
          <p:cNvCxnSpPr>
            <a:cxnSpLocks/>
          </p:cNvCxnSpPr>
          <p:nvPr/>
        </p:nvCxnSpPr>
        <p:spPr>
          <a:xfrm>
            <a:off x="1583492" y="3227362"/>
            <a:ext cx="0" cy="1376886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E894CBA-D090-6680-90A4-4A2DE253D79B}"/>
              </a:ext>
            </a:extLst>
          </p:cNvPr>
          <p:cNvCxnSpPr>
            <a:cxnSpLocks/>
          </p:cNvCxnSpPr>
          <p:nvPr/>
        </p:nvCxnSpPr>
        <p:spPr>
          <a:xfrm>
            <a:off x="1583492" y="4586526"/>
            <a:ext cx="402316" cy="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9E3B642-E564-0E9E-3521-ED12F8B200AB}"/>
              </a:ext>
            </a:extLst>
          </p:cNvPr>
          <p:cNvCxnSpPr/>
          <p:nvPr/>
        </p:nvCxnSpPr>
        <p:spPr>
          <a:xfrm flipV="1">
            <a:off x="5793463" y="1946666"/>
            <a:ext cx="0" cy="742014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AA5AA47-EDAD-B1C3-9E9F-1DE6A75637EF}"/>
              </a:ext>
            </a:extLst>
          </p:cNvPr>
          <p:cNvCxnSpPr>
            <a:cxnSpLocks/>
          </p:cNvCxnSpPr>
          <p:nvPr/>
        </p:nvCxnSpPr>
        <p:spPr>
          <a:xfrm>
            <a:off x="5793463" y="1972144"/>
            <a:ext cx="2164465" cy="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441283B-3D26-4C7E-55D0-199E411A125A}"/>
              </a:ext>
            </a:extLst>
          </p:cNvPr>
          <p:cNvCxnSpPr>
            <a:cxnSpLocks/>
          </p:cNvCxnSpPr>
          <p:nvPr/>
        </p:nvCxnSpPr>
        <p:spPr>
          <a:xfrm>
            <a:off x="1559564" y="3214403"/>
            <a:ext cx="225086" cy="0"/>
          </a:xfrm>
          <a:prstGeom prst="straightConnector1">
            <a:avLst/>
          </a:prstGeom>
          <a:ln w="3810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D9E6C18-35C3-A8AB-D2D7-5E3E52AF807C}"/>
              </a:ext>
            </a:extLst>
          </p:cNvPr>
          <p:cNvCxnSpPr>
            <a:cxnSpLocks/>
          </p:cNvCxnSpPr>
          <p:nvPr/>
        </p:nvCxnSpPr>
        <p:spPr>
          <a:xfrm flipV="1">
            <a:off x="1947835" y="4568804"/>
            <a:ext cx="1794292" cy="17722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709E6FF-1963-46D3-A0B0-FBD2301F770F}"/>
              </a:ext>
            </a:extLst>
          </p:cNvPr>
          <p:cNvCxnSpPr>
            <a:cxnSpLocks/>
          </p:cNvCxnSpPr>
          <p:nvPr/>
        </p:nvCxnSpPr>
        <p:spPr>
          <a:xfrm>
            <a:off x="7953165" y="1962620"/>
            <a:ext cx="0" cy="134047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3C31CBE-1B6C-D970-0D03-7FC77EBBEE03}"/>
              </a:ext>
            </a:extLst>
          </p:cNvPr>
          <p:cNvCxnSpPr>
            <a:cxnSpLocks/>
          </p:cNvCxnSpPr>
          <p:nvPr/>
        </p:nvCxnSpPr>
        <p:spPr>
          <a:xfrm>
            <a:off x="3715805" y="4555427"/>
            <a:ext cx="0" cy="622702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B2F66CE-FC34-F8B3-4C06-9425F1664168}"/>
              </a:ext>
            </a:extLst>
          </p:cNvPr>
          <p:cNvCxnSpPr>
            <a:cxnSpLocks/>
          </p:cNvCxnSpPr>
          <p:nvPr/>
        </p:nvCxnSpPr>
        <p:spPr>
          <a:xfrm flipV="1">
            <a:off x="1947835" y="5151547"/>
            <a:ext cx="1794292" cy="17722"/>
          </a:xfrm>
          <a:prstGeom prst="straightConnector1">
            <a:avLst/>
          </a:prstGeom>
          <a:ln w="3810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A546EA0-E884-93AE-A8F2-2094D4787706}"/>
              </a:ext>
            </a:extLst>
          </p:cNvPr>
          <p:cNvCxnSpPr>
            <a:cxnSpLocks/>
          </p:cNvCxnSpPr>
          <p:nvPr/>
        </p:nvCxnSpPr>
        <p:spPr>
          <a:xfrm>
            <a:off x="7953165" y="3245782"/>
            <a:ext cx="0" cy="904113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6364910-EF3F-C8F5-3C8C-40E0B39C91D7}"/>
              </a:ext>
            </a:extLst>
          </p:cNvPr>
          <p:cNvCxnSpPr>
            <a:cxnSpLocks/>
          </p:cNvCxnSpPr>
          <p:nvPr/>
        </p:nvCxnSpPr>
        <p:spPr>
          <a:xfrm>
            <a:off x="980920" y="5168662"/>
            <a:ext cx="1004888" cy="0"/>
          </a:xfrm>
          <a:prstGeom prst="straightConnector1">
            <a:avLst/>
          </a:prstGeom>
          <a:ln w="3810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F110390-2342-7658-6E8E-8DC83F077C3B}"/>
              </a:ext>
            </a:extLst>
          </p:cNvPr>
          <p:cNvCxnSpPr>
            <a:cxnSpLocks/>
          </p:cNvCxnSpPr>
          <p:nvPr/>
        </p:nvCxnSpPr>
        <p:spPr>
          <a:xfrm>
            <a:off x="5774322" y="4125027"/>
            <a:ext cx="2178843" cy="0"/>
          </a:xfrm>
          <a:prstGeom prst="straightConnector1">
            <a:avLst/>
          </a:prstGeom>
          <a:ln w="38100">
            <a:solidFill>
              <a:srgbClr val="FFFF00"/>
            </a:solidFill>
            <a:headEnd type="triangle" w="med" len="med"/>
            <a:tailEnd type="none" w="med" len="me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DC3B5F3-07E5-8BA4-A854-C2F7A6A067AB}"/>
              </a:ext>
            </a:extLst>
          </p:cNvPr>
          <p:cNvCxnSpPr/>
          <p:nvPr/>
        </p:nvCxnSpPr>
        <p:spPr>
          <a:xfrm flipV="1">
            <a:off x="5793555" y="3407881"/>
            <a:ext cx="0" cy="742014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7CDB68E-49A2-24B0-31D6-122252D7562F}"/>
              </a:ext>
            </a:extLst>
          </p:cNvPr>
          <p:cNvCxnSpPr>
            <a:cxnSpLocks/>
          </p:cNvCxnSpPr>
          <p:nvPr/>
        </p:nvCxnSpPr>
        <p:spPr>
          <a:xfrm>
            <a:off x="3136327" y="3227362"/>
            <a:ext cx="0" cy="1376886"/>
          </a:xfrm>
          <a:prstGeom prst="straightConnector1">
            <a:avLst/>
          </a:prstGeom>
          <a:ln w="3810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D2C3CDEA-B73F-2D18-7BCF-3FF613C7F6B6}"/>
              </a:ext>
            </a:extLst>
          </p:cNvPr>
          <p:cNvSpPr txBox="1"/>
          <p:nvPr/>
        </p:nvSpPr>
        <p:spPr>
          <a:xfrm>
            <a:off x="3320330" y="3029737"/>
            <a:ext cx="50217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A1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80EDBE4-832C-429D-D4E9-A15035A22B27}"/>
              </a:ext>
            </a:extLst>
          </p:cNvPr>
          <p:cNvCxnSpPr>
            <a:cxnSpLocks/>
          </p:cNvCxnSpPr>
          <p:nvPr/>
        </p:nvCxnSpPr>
        <p:spPr>
          <a:xfrm>
            <a:off x="2934339" y="3227362"/>
            <a:ext cx="225086" cy="0"/>
          </a:xfrm>
          <a:prstGeom prst="straightConnector1">
            <a:avLst/>
          </a:prstGeom>
          <a:ln w="3810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Picture 76">
            <a:extLst>
              <a:ext uri="{FF2B5EF4-FFF2-40B4-BE49-F238E27FC236}">
                <a16:creationId xmlns:a16="http://schemas.microsoft.com/office/drawing/2014/main" id="{DD7459F4-DE9B-5404-8F71-2D2424470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05" y="5760264"/>
            <a:ext cx="4342857" cy="838095"/>
          </a:xfrm>
          <a:prstGeom prst="rect">
            <a:avLst/>
          </a:prstGeom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D38B320C-0D77-0264-92AA-530531018AE4}"/>
              </a:ext>
            </a:extLst>
          </p:cNvPr>
          <p:cNvSpPr/>
          <p:nvPr/>
        </p:nvSpPr>
        <p:spPr>
          <a:xfrm>
            <a:off x="462775" y="6176897"/>
            <a:ext cx="483629" cy="419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1C8E841-B64F-B37B-56C2-F93D02B5BBF9}"/>
              </a:ext>
            </a:extLst>
          </p:cNvPr>
          <p:cNvSpPr/>
          <p:nvPr/>
        </p:nvSpPr>
        <p:spPr>
          <a:xfrm>
            <a:off x="3232176" y="5986046"/>
            <a:ext cx="483629" cy="1618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0C9CFA09-111B-1AB5-BABC-4DD2EBD616D6}"/>
              </a:ext>
            </a:extLst>
          </p:cNvPr>
          <p:cNvCxnSpPr>
            <a:cxnSpLocks/>
            <a:stCxn id="7" idx="1"/>
            <a:endCxn id="78" idx="1"/>
          </p:cNvCxnSpPr>
          <p:nvPr/>
        </p:nvCxnSpPr>
        <p:spPr>
          <a:xfrm rot="10800000" flipV="1">
            <a:off x="462776" y="3246409"/>
            <a:ext cx="477859" cy="3140011"/>
          </a:xfrm>
          <a:prstGeom prst="bentConnector3">
            <a:avLst>
              <a:gd name="adj1" fmla="val 147838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06635EAD-C032-1D16-F738-7A305ADA7271}"/>
              </a:ext>
            </a:extLst>
          </p:cNvPr>
          <p:cNvCxnSpPr>
            <a:stCxn id="79" idx="3"/>
            <a:endCxn id="74" idx="3"/>
          </p:cNvCxnSpPr>
          <p:nvPr/>
        </p:nvCxnSpPr>
        <p:spPr>
          <a:xfrm flipV="1">
            <a:off x="3715805" y="3214403"/>
            <a:ext cx="106695" cy="2852547"/>
          </a:xfrm>
          <a:prstGeom prst="bentConnector3">
            <a:avLst>
              <a:gd name="adj1" fmla="val 314256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0647501-57D6-1611-2DDE-2D03019E2624}"/>
              </a:ext>
            </a:extLst>
          </p:cNvPr>
          <p:cNvSpPr txBox="1"/>
          <p:nvPr/>
        </p:nvSpPr>
        <p:spPr>
          <a:xfrm>
            <a:off x="4994431" y="2413040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+3.3V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CA17370-6BF8-2DC8-F7EF-80DFC58E10B5}"/>
              </a:ext>
            </a:extLst>
          </p:cNvPr>
          <p:cNvSpPr txBox="1"/>
          <p:nvPr/>
        </p:nvSpPr>
        <p:spPr>
          <a:xfrm>
            <a:off x="6992208" y="2561791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10K</a:t>
            </a:r>
            <a:r>
              <a:rPr lang="el-GR" b="1" dirty="0">
                <a:solidFill>
                  <a:srgbClr val="FF0000"/>
                </a:solidFill>
              </a:rPr>
              <a:t>Ω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7962F3A-2332-F18E-22DB-430B25CE4A2E}"/>
                  </a:ext>
                </a:extLst>
              </p:cNvPr>
              <p:cNvSpPr txBox="1"/>
              <p:nvPr/>
            </p:nvSpPr>
            <p:spPr>
              <a:xfrm>
                <a:off x="6992208" y="3490792"/>
                <a:ext cx="6719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10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F</a:t>
                </a: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7962F3A-2332-F18E-22DB-430B25CE4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208" y="3490792"/>
                <a:ext cx="671979" cy="369332"/>
              </a:xfrm>
              <a:prstGeom prst="rect">
                <a:avLst/>
              </a:prstGeom>
              <a:blipFill>
                <a:blip r:embed="rId5"/>
                <a:stretch>
                  <a:fillRect l="-7273" t="-10000" r="-727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5" name="Picture 94">
            <a:extLst>
              <a:ext uri="{FF2B5EF4-FFF2-40B4-BE49-F238E27FC236}">
                <a16:creationId xmlns:a16="http://schemas.microsoft.com/office/drawing/2014/main" id="{26A6AF66-C5A2-1969-C628-17C6E2E51C4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98076" y="4395973"/>
            <a:ext cx="2681722" cy="2097529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8262A45A-F26F-13EB-1B0B-5A10D37808BD}"/>
              </a:ext>
            </a:extLst>
          </p:cNvPr>
          <p:cNvSpPr txBox="1"/>
          <p:nvPr/>
        </p:nvSpPr>
        <p:spPr>
          <a:xfrm>
            <a:off x="8276960" y="2995597"/>
            <a:ext cx="63638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A1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1B46D32D-42EE-64D1-CB4A-6EF3156A1E29}"/>
              </a:ext>
            </a:extLst>
          </p:cNvPr>
          <p:cNvCxnSpPr>
            <a:cxnSpLocks/>
            <a:stCxn id="97" idx="1"/>
          </p:cNvCxnSpPr>
          <p:nvPr/>
        </p:nvCxnSpPr>
        <p:spPr>
          <a:xfrm flipH="1">
            <a:off x="7912739" y="3180263"/>
            <a:ext cx="364221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6AADB605-FF6C-89BC-5D4D-A8CB66A36AB9}"/>
              </a:ext>
            </a:extLst>
          </p:cNvPr>
          <p:cNvSpPr txBox="1"/>
          <p:nvPr/>
        </p:nvSpPr>
        <p:spPr>
          <a:xfrm>
            <a:off x="5044926" y="3321424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GND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A9A89F2-FB85-3E4C-7ACA-C5E5F22C0EF7}"/>
              </a:ext>
            </a:extLst>
          </p:cNvPr>
          <p:cNvSpPr txBox="1"/>
          <p:nvPr/>
        </p:nvSpPr>
        <p:spPr>
          <a:xfrm>
            <a:off x="5725721" y="1224492"/>
            <a:ext cx="3083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We are measuring via an </a:t>
            </a:r>
            <a:r>
              <a:rPr lang="en-US" sz="1600" b="1" dirty="0">
                <a:solidFill>
                  <a:srgbClr val="7030A0"/>
                </a:solidFill>
              </a:rPr>
              <a:t>ADC</a:t>
            </a:r>
            <a:r>
              <a:rPr lang="en-US" sz="1600" dirty="0">
                <a:solidFill>
                  <a:srgbClr val="7030A0"/>
                </a:solidFill>
              </a:rPr>
              <a:t> the</a:t>
            </a:r>
          </a:p>
          <a:p>
            <a:pPr algn="ctr"/>
            <a:r>
              <a:rPr lang="en-US" sz="1600" b="1" dirty="0">
                <a:solidFill>
                  <a:srgbClr val="7030A0"/>
                </a:solidFill>
              </a:rPr>
              <a:t>voltage drop a</a:t>
            </a:r>
            <a:r>
              <a:rPr lang="en-US" sz="1600" dirty="0">
                <a:solidFill>
                  <a:srgbClr val="7030A0"/>
                </a:solidFill>
              </a:rPr>
              <a:t>cross the resistor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29CF462-9FE8-9E8F-E0C5-D05B73B017FB}"/>
              </a:ext>
            </a:extLst>
          </p:cNvPr>
          <p:cNvSpPr txBox="1"/>
          <p:nvPr/>
        </p:nvSpPr>
        <p:spPr>
          <a:xfrm>
            <a:off x="514116" y="826219"/>
            <a:ext cx="2315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Pin D4 → </a:t>
            </a:r>
            <a:r>
              <a:rPr lang="en-US" sz="1600" b="1" dirty="0">
                <a:solidFill>
                  <a:srgbClr val="7030A0"/>
                </a:solidFill>
              </a:rPr>
              <a:t>DAC</a:t>
            </a:r>
            <a:r>
              <a:rPr lang="en-US" sz="1600" dirty="0">
                <a:solidFill>
                  <a:srgbClr val="7030A0"/>
                </a:solidFill>
              </a:rPr>
              <a:t> mode</a:t>
            </a:r>
          </a:p>
          <a:p>
            <a:r>
              <a:rPr lang="en-US" sz="1600" dirty="0">
                <a:solidFill>
                  <a:srgbClr val="7030A0"/>
                </a:solidFill>
              </a:rPr>
              <a:t>Pin A1 → </a:t>
            </a:r>
            <a:r>
              <a:rPr lang="en-US" sz="1600" b="1" dirty="0">
                <a:solidFill>
                  <a:srgbClr val="7030A0"/>
                </a:solidFill>
              </a:rPr>
              <a:t>ADC</a:t>
            </a:r>
            <a:r>
              <a:rPr lang="en-US" sz="1600" dirty="0">
                <a:solidFill>
                  <a:srgbClr val="7030A0"/>
                </a:solidFill>
              </a:rPr>
              <a:t> mode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10744CA0-F997-E066-8768-9ED33E65BCCA}"/>
              </a:ext>
            </a:extLst>
          </p:cNvPr>
          <p:cNvCxnSpPr>
            <a:cxnSpLocks/>
          </p:cNvCxnSpPr>
          <p:nvPr/>
        </p:nvCxnSpPr>
        <p:spPr>
          <a:xfrm>
            <a:off x="4181320" y="6538913"/>
            <a:ext cx="5429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600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Big Picture of </a:t>
            </a:r>
            <a:r>
              <a:rPr lang="en-US" sz="3200" b="1" dirty="0">
                <a:latin typeface="+mn-lt"/>
              </a:rPr>
              <a:t>rc_decay</a:t>
            </a:r>
            <a:r>
              <a:rPr lang="en-US" sz="3200" dirty="0">
                <a:latin typeface="+mn-lt"/>
              </a:rPr>
              <a:t> Lab</a:t>
            </a:r>
            <a:endParaRPr lang="en-US" sz="3200" b="1" dirty="0">
              <a:solidFill>
                <a:srgbClr val="7030A0"/>
              </a:solidFill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457E4-BB96-7419-9144-A02730903D2A}"/>
              </a:ext>
            </a:extLst>
          </p:cNvPr>
          <p:cNvSpPr txBox="1"/>
          <p:nvPr/>
        </p:nvSpPr>
        <p:spPr>
          <a:xfrm>
            <a:off x="984852" y="1935059"/>
            <a:ext cx="30274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Waits for a serial (USB) port connection from the laptop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E9ED18-3562-D3FE-8D1F-208426885AE8}"/>
              </a:ext>
            </a:extLst>
          </p:cNvPr>
          <p:cNvSpPr txBox="1"/>
          <p:nvPr/>
        </p:nvSpPr>
        <p:spPr>
          <a:xfrm>
            <a:off x="4808976" y="1935058"/>
            <a:ext cx="33501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Connects to the KB2040 over the serial (USB) 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1DBFC5-E3F1-8407-5571-31A957CA028C}"/>
              </a:ext>
            </a:extLst>
          </p:cNvPr>
          <p:cNvSpPr txBox="1"/>
          <p:nvPr/>
        </p:nvSpPr>
        <p:spPr>
          <a:xfrm>
            <a:off x="984852" y="2975486"/>
            <a:ext cx="30274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Waits for the command "</a:t>
            </a:r>
            <a:r>
              <a:rPr lang="en-US" b="1" dirty="0"/>
              <a:t>r</a:t>
            </a:r>
            <a:r>
              <a:rPr lang="en-US" dirty="0"/>
              <a:t>" to  be sent by the laptop over the USB (CDC Data) 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2C2D0F-E51D-56AE-6B1F-E1CD813C8946}"/>
              </a:ext>
            </a:extLst>
          </p:cNvPr>
          <p:cNvSpPr txBox="1"/>
          <p:nvPr/>
        </p:nvSpPr>
        <p:spPr>
          <a:xfrm>
            <a:off x="4808976" y="2887670"/>
            <a:ext cx="33501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Sends the string "r" to the KB2040 over the </a:t>
            </a:r>
            <a:r>
              <a:rPr lang="en-US" b="1" dirty="0"/>
              <a:t>CDC Data</a:t>
            </a:r>
            <a:r>
              <a:rPr lang="en-US" dirty="0"/>
              <a:t> 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7AA221-43CF-645B-DC9A-3D38D9C3F201}"/>
              </a:ext>
            </a:extLst>
          </p:cNvPr>
          <p:cNvSpPr txBox="1"/>
          <p:nvPr/>
        </p:nvSpPr>
        <p:spPr>
          <a:xfrm>
            <a:off x="984852" y="4185321"/>
            <a:ext cx="302747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Sets NeoPixel to </a:t>
            </a:r>
            <a:r>
              <a:rPr lang="en-US" b="1" dirty="0">
                <a:solidFill>
                  <a:srgbClr val="0070C0"/>
                </a:solidFill>
              </a:rPr>
              <a:t>BLUE</a:t>
            </a:r>
            <a:r>
              <a:rPr lang="en-US" dirty="0"/>
              <a:t> to fully discharge capacitor, then to 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 as it recharges the circuit while measuring volts &amp; times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D2ACD0-6EC3-05D6-EF1B-ACE3B545C19F}"/>
              </a:ext>
            </a:extLst>
          </p:cNvPr>
          <p:cNvSpPr txBox="1"/>
          <p:nvPr/>
        </p:nvSpPr>
        <p:spPr>
          <a:xfrm>
            <a:off x="4808976" y="3840282"/>
            <a:ext cx="33501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Waits to receive the volts and times from the KB2040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1F88A4-99BF-0C24-FAD7-7D4FD577F5EE}"/>
              </a:ext>
            </a:extLst>
          </p:cNvPr>
          <p:cNvSpPr txBox="1"/>
          <p:nvPr/>
        </p:nvSpPr>
        <p:spPr>
          <a:xfrm>
            <a:off x="984852" y="5610337"/>
            <a:ext cx="30274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Sets NeoPixel to </a:t>
            </a:r>
            <a:r>
              <a:rPr lang="en-US" dirty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YELLOW</a:t>
            </a:r>
            <a:r>
              <a:rPr lang="en-US" dirty="0"/>
              <a:t> as it sends the volts and times to the laptop over the USB port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A8777A-7FFF-8E05-AB57-2AFB98DB48D6}"/>
              </a:ext>
            </a:extLst>
          </p:cNvPr>
          <p:cNvSpPr txBox="1"/>
          <p:nvPr/>
        </p:nvSpPr>
        <p:spPr>
          <a:xfrm>
            <a:off x="4808976" y="4792894"/>
            <a:ext cx="33501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Plots the voltage vs. time graph for the RC circuit and saves a PNG file of the plot window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2562AB-3B54-2066-A1E6-C960328A56F3}"/>
              </a:ext>
            </a:extLst>
          </p:cNvPr>
          <p:cNvSpPr txBox="1"/>
          <p:nvPr/>
        </p:nvSpPr>
        <p:spPr>
          <a:xfrm>
            <a:off x="984851" y="1430328"/>
            <a:ext cx="2971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code.py </a:t>
            </a:r>
            <a:r>
              <a:rPr lang="en-US" dirty="0"/>
              <a:t>running on </a:t>
            </a:r>
            <a:r>
              <a:rPr lang="en-US" b="1" dirty="0"/>
              <a:t>KB2040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96E4C-2721-3BF0-93F8-C0389265491A}"/>
              </a:ext>
            </a:extLst>
          </p:cNvPr>
          <p:cNvSpPr txBox="1"/>
          <p:nvPr/>
        </p:nvSpPr>
        <p:spPr>
          <a:xfrm>
            <a:off x="4808977" y="1430328"/>
            <a:ext cx="335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rc_decay.py </a:t>
            </a:r>
            <a:r>
              <a:rPr lang="en-US" dirty="0"/>
              <a:t>running on </a:t>
            </a:r>
            <a:r>
              <a:rPr lang="en-US" b="1" dirty="0"/>
              <a:t>Laptop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C7E7ED10-96F2-C9F7-E97D-0F9DEEF1C457}"/>
              </a:ext>
            </a:extLst>
          </p:cNvPr>
          <p:cNvCxnSpPr>
            <a:cxnSpLocks/>
            <a:stCxn id="11" idx="1"/>
            <a:endCxn id="15" idx="1"/>
          </p:cNvCxnSpPr>
          <p:nvPr/>
        </p:nvCxnSpPr>
        <p:spPr>
          <a:xfrm rot="10800000">
            <a:off x="792466" y="2782904"/>
            <a:ext cx="192386" cy="3289098"/>
          </a:xfrm>
          <a:prstGeom prst="bentConnector3">
            <a:avLst>
              <a:gd name="adj1" fmla="val 281158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977FE4-2DFC-62D1-4424-B6C547A19FAF}"/>
              </a:ext>
            </a:extLst>
          </p:cNvPr>
          <p:cNvSpPr txBox="1"/>
          <p:nvPr/>
        </p:nvSpPr>
        <p:spPr>
          <a:xfrm>
            <a:off x="792466" y="2629015"/>
            <a:ext cx="1603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NeoPixel is </a:t>
            </a:r>
            <a:r>
              <a:rPr lang="en-US" sz="1400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GREEN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033A1FF-9653-DA01-F95A-363701F4DCF3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4012324" y="2258224"/>
            <a:ext cx="796652" cy="1"/>
          </a:xfrm>
          <a:prstGeom prst="bentConnector3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8919D7-6910-E01A-A469-1C7D975CDBBD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2498588" y="2581390"/>
            <a:ext cx="0" cy="39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5E4510C-80F9-130B-B7BE-3FC721AC45EB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6484062" y="2581389"/>
            <a:ext cx="0" cy="3062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1E4B1873-837B-6DCD-99B4-C2ACD67159E5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rot="10800000" flipV="1">
            <a:off x="4012324" y="3210835"/>
            <a:ext cx="796652" cy="226315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AD9B0B8-8AA6-7C2B-0595-07AF08D48684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2498588" y="3898816"/>
            <a:ext cx="0" cy="2865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EB69B1B-344C-036B-B21A-34F37B41E71B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6484062" y="3534001"/>
            <a:ext cx="0" cy="3062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E9CB952-B72D-B0F5-C592-0637651FD8E0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2498588" y="5385650"/>
            <a:ext cx="0" cy="2246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93483784-49AF-35FD-0990-CAB0CC4E3D6C}"/>
              </a:ext>
            </a:extLst>
          </p:cNvPr>
          <p:cNvCxnSpPr>
            <a:stCxn id="11" idx="3"/>
            <a:endCxn id="10" idx="1"/>
          </p:cNvCxnSpPr>
          <p:nvPr/>
        </p:nvCxnSpPr>
        <p:spPr>
          <a:xfrm flipV="1">
            <a:off x="4012324" y="4163448"/>
            <a:ext cx="796652" cy="1908554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53B67BA-6757-38B8-7694-C0966928D79D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6484062" y="4486613"/>
            <a:ext cx="0" cy="3062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375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3CAAF4-7FEA-5062-5592-ACAB0D335E8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0435" y="1554657"/>
            <a:ext cx="3190847" cy="4938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076795-6C67-BB5E-4078-BB2CAF7AE14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9475" y="1554658"/>
            <a:ext cx="3174090" cy="4851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364" y="365126"/>
            <a:ext cx="6783986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Step 05 – KB2040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40FA5C-3210-8060-9553-1C0B7A426A59}"/>
              </a:ext>
            </a:extLst>
          </p:cNvPr>
          <p:cNvSpPr txBox="1"/>
          <p:nvPr/>
        </p:nvSpPr>
        <p:spPr>
          <a:xfrm>
            <a:off x="332168" y="301178"/>
            <a:ext cx="1511621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(1) KB2040</a:t>
            </a:r>
          </a:p>
          <a:p>
            <a:r>
              <a:rPr lang="en-US" sz="1400" dirty="0"/>
              <a:t>(1) USB Cable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450AC0-38B9-72B1-332B-8F4FC218654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9475" y="1071990"/>
            <a:ext cx="3190847" cy="53343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8E5051-4DCA-6BE2-ED16-69B8160ED7FF}"/>
              </a:ext>
            </a:extLst>
          </p:cNvPr>
          <p:cNvSpPr txBox="1"/>
          <p:nvPr/>
        </p:nvSpPr>
        <p:spPr>
          <a:xfrm>
            <a:off x="2603162" y="2252067"/>
            <a:ext cx="62570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+3.3V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A3832-F572-516A-FF09-AC11DE58C0E2}"/>
              </a:ext>
            </a:extLst>
          </p:cNvPr>
          <p:cNvSpPr txBox="1"/>
          <p:nvPr/>
        </p:nvSpPr>
        <p:spPr>
          <a:xfrm>
            <a:off x="427972" y="2252066"/>
            <a:ext cx="62570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GND</a:t>
            </a:r>
          </a:p>
        </p:txBody>
      </p:sp>
    </p:spTree>
    <p:extLst>
      <p:ext uri="{BB962C8B-B14F-4D97-AF65-F5344CB8AC3E}">
        <p14:creationId xmlns:p14="http://schemas.microsoft.com/office/powerpoint/2010/main" val="882724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3526443-3775-415E-3EDE-CB52800BB63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2279" y="1502362"/>
            <a:ext cx="6723089" cy="50423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Connect</a:t>
            </a:r>
            <a:r>
              <a:rPr lang="en-US" sz="3200" dirty="0">
                <a:latin typeface="+mn-lt"/>
              </a:rPr>
              <a:t> the KB2040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E7A0675-629F-398F-42E3-F510FA9623CE}"/>
              </a:ext>
            </a:extLst>
          </p:cNvPr>
          <p:cNvCxnSpPr>
            <a:cxnSpLocks/>
          </p:cNvCxnSpPr>
          <p:nvPr/>
        </p:nvCxnSpPr>
        <p:spPr>
          <a:xfrm>
            <a:off x="4092315" y="4002373"/>
            <a:ext cx="74201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679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DAQ device is working…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8CF8AA6-AEEF-BCEE-BB0F-FB952E8BFCEF}"/>
              </a:ext>
            </a:extLst>
          </p:cNvPr>
          <p:cNvGrpSpPr/>
          <p:nvPr/>
        </p:nvGrpSpPr>
        <p:grpSpPr>
          <a:xfrm>
            <a:off x="1884587" y="1964824"/>
            <a:ext cx="2226685" cy="4259843"/>
            <a:chOff x="1884587" y="1964824"/>
            <a:chExt cx="2226685" cy="425984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34EE8C7-C414-66A5-CD0E-763C1AC89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84587" y="2651258"/>
              <a:ext cx="2226685" cy="357340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B43497-D3AA-071E-EA2B-FB2D8F2EFF7F}"/>
                </a:ext>
              </a:extLst>
            </p:cNvPr>
            <p:cNvSpPr txBox="1"/>
            <p:nvPr/>
          </p:nvSpPr>
          <p:spPr>
            <a:xfrm>
              <a:off x="2062600" y="1964824"/>
              <a:ext cx="1870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</a:rPr>
                <a:t>Discharging</a:t>
              </a:r>
            </a:p>
            <a:p>
              <a:pPr algn="ctr"/>
              <a:r>
                <a:rPr lang="en-US" dirty="0">
                  <a:solidFill>
                    <a:srgbClr val="7030A0"/>
                  </a:solidFill>
                </a:rPr>
                <a:t>before starting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C9F6A8E-D4CC-5518-DAB2-2BB5E40A528F}"/>
              </a:ext>
            </a:extLst>
          </p:cNvPr>
          <p:cNvGrpSpPr/>
          <p:nvPr/>
        </p:nvGrpSpPr>
        <p:grpSpPr>
          <a:xfrm>
            <a:off x="5017324" y="1964824"/>
            <a:ext cx="2242090" cy="4284566"/>
            <a:chOff x="5017324" y="1964824"/>
            <a:chExt cx="2242090" cy="428456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B62081A-8527-4C50-6392-63187CE4F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17324" y="2651258"/>
              <a:ext cx="2242090" cy="359813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5E15690-FB21-4692-E315-9E9C1147EDB7}"/>
                </a:ext>
              </a:extLst>
            </p:cNvPr>
            <p:cNvSpPr txBox="1"/>
            <p:nvPr/>
          </p:nvSpPr>
          <p:spPr>
            <a:xfrm>
              <a:off x="5203041" y="1964824"/>
              <a:ext cx="1870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</a:rPr>
                <a:t>Measuring circuit voltage over 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275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6287C6-EC22-6902-0E6E-21D173886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94" y="1471357"/>
            <a:ext cx="7753321" cy="48849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rc_decay.py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21E46-57C4-9247-2D87-198A116A91D1}"/>
              </a:ext>
            </a:extLst>
          </p:cNvPr>
          <p:cNvSpPr/>
          <p:nvPr/>
        </p:nvSpPr>
        <p:spPr>
          <a:xfrm>
            <a:off x="767307" y="5131810"/>
            <a:ext cx="3032699" cy="5621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21EC36-21CB-7A23-EFD7-A415C515FBB8}"/>
              </a:ext>
            </a:extLst>
          </p:cNvPr>
          <p:cNvCxnSpPr/>
          <p:nvPr/>
        </p:nvCxnSpPr>
        <p:spPr>
          <a:xfrm flipV="1">
            <a:off x="993098" y="5595437"/>
            <a:ext cx="693295" cy="5621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19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AC9EC5A-AA30-0150-2625-81420FE9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+mn-lt"/>
              </a:rPr>
              <a:t>Check</a:t>
            </a:r>
            <a:r>
              <a:rPr lang="en-US" sz="3200" dirty="0">
                <a:latin typeface="+mn-lt"/>
              </a:rPr>
              <a:t> rc_decay.py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4BF84D-CCE6-F428-B7DA-4A397387953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7281" y="1287548"/>
            <a:ext cx="6445217" cy="528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61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BF9F23-B411-1A42-55A0-9F056D67FBF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977" y="726745"/>
            <a:ext cx="3406443" cy="25554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8B70C1-69EA-6877-2FEF-1D7C0B23D09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5569" y="865211"/>
            <a:ext cx="3797504" cy="22785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B8B6EA-B697-767C-DAA4-68C9E13E475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27883" y="3134415"/>
            <a:ext cx="2555434" cy="34072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4CB82-C2B5-C5E8-6D6C-7E8F6C5357B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5569" y="3544818"/>
            <a:ext cx="3806455" cy="25864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05356E-2808-D064-2B5C-B2C09C0DC6A3}"/>
                  </a:ext>
                </a:extLst>
              </p:cNvPr>
              <p:cNvSpPr txBox="1"/>
              <p:nvPr/>
            </p:nvSpPr>
            <p:spPr>
              <a:xfrm>
                <a:off x="1515704" y="603745"/>
                <a:ext cx="1904194" cy="276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$450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𝑂𝑠𝑐𝑖𝑙𝑙𝑜𝑠𝑐𝑜𝑝𝑒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05356E-2808-D064-2B5C-B2C09C0DC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5704" y="603745"/>
                <a:ext cx="190419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0B5D24-093D-A01D-FD10-BB2B3A8060A6}"/>
                  </a:ext>
                </a:extLst>
              </p:cNvPr>
              <p:cNvSpPr txBox="1"/>
              <p:nvPr/>
            </p:nvSpPr>
            <p:spPr>
              <a:xfrm>
                <a:off x="1515704" y="5912761"/>
                <a:ext cx="1904194" cy="276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$10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𝐶𝑜𝑚𝑝𝑢𝑡𝑒𝑟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0B5D24-093D-A01D-FD10-BB2B3A806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5704" y="5912761"/>
                <a:ext cx="1904194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712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9937</TotalTime>
  <Words>348</Words>
  <Application>Microsoft Office PowerPoint</Application>
  <PresentationFormat>On-screen Show (4:3)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Deriving the RC Circuit Model</vt:lpstr>
      <vt:lpstr>Deriving the RC Circuit Model</vt:lpstr>
      <vt:lpstr>The rc_decay Circuit</vt:lpstr>
      <vt:lpstr>Big Picture of rc_decay Lab</vt:lpstr>
      <vt:lpstr>Step 05 – KB2040</vt:lpstr>
      <vt:lpstr>Connect the KB2040</vt:lpstr>
      <vt:lpstr>The DAQ device is working…</vt:lpstr>
      <vt:lpstr>Run rc_decay.py</vt:lpstr>
      <vt:lpstr>Check rc_decay.py</vt:lpstr>
      <vt:lpstr>PowerPoint Presentation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1010</cp:revision>
  <cp:lastPrinted>2015-06-01T00:45:11Z</cp:lastPrinted>
  <dcterms:created xsi:type="dcterms:W3CDTF">2014-09-21T17:58:26Z</dcterms:created>
  <dcterms:modified xsi:type="dcterms:W3CDTF">2023-01-08T07:46:03Z</dcterms:modified>
</cp:coreProperties>
</file>