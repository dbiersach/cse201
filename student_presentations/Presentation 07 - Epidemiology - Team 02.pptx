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882" r:id="rId2"/>
    <p:sldId id="883" r:id="rId3"/>
    <p:sldId id="1143" r:id="rId4"/>
    <p:sldId id="1192" r:id="rId5"/>
    <p:sldId id="885" r:id="rId6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FC7FF-4B54-4B69-8CE7-B63A01B9C649}" v="7" dt="2023-01-12T05:21:28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  <pc:docChgLst>
    <pc:chgData name="David Biersach" userId="14a9feb0-85a7-4da4-be8a-c1e22b637acc" providerId="ADAL" clId="{02EFC7FF-4B54-4B69-8CE7-B63A01B9C649}"/>
    <pc:docChg chg="custSel addSld delSld modSld">
      <pc:chgData name="David Biersach" userId="14a9feb0-85a7-4da4-be8a-c1e22b637acc" providerId="ADAL" clId="{02EFC7FF-4B54-4B69-8CE7-B63A01B9C649}" dt="2023-01-12T05:21:38.072" v="9" actId="47"/>
      <pc:docMkLst>
        <pc:docMk/>
      </pc:docMkLst>
      <pc:sldChg chg="add modAnim">
        <pc:chgData name="David Biersach" userId="14a9feb0-85a7-4da4-be8a-c1e22b637acc" providerId="ADAL" clId="{02EFC7FF-4B54-4B69-8CE7-B63A01B9C649}" dt="2023-01-12T05:20:52.971" v="2"/>
        <pc:sldMkLst>
          <pc:docMk/>
          <pc:sldMk cId="2462404551" sldId="882"/>
        </pc:sldMkLst>
      </pc:sldChg>
      <pc:sldChg chg="add modAnim">
        <pc:chgData name="David Biersach" userId="14a9feb0-85a7-4da4-be8a-c1e22b637acc" providerId="ADAL" clId="{02EFC7FF-4B54-4B69-8CE7-B63A01B9C649}" dt="2023-01-12T05:20:57.110" v="3"/>
        <pc:sldMkLst>
          <pc:docMk/>
          <pc:sldMk cId="3747472682" sldId="883"/>
        </pc:sldMkLst>
      </pc:sldChg>
      <pc:sldChg chg="add modAnim">
        <pc:chgData name="David Biersach" userId="14a9feb0-85a7-4da4-be8a-c1e22b637acc" providerId="ADAL" clId="{02EFC7FF-4B54-4B69-8CE7-B63A01B9C649}" dt="2023-01-12T05:21:28.013" v="8"/>
        <pc:sldMkLst>
          <pc:docMk/>
          <pc:sldMk cId="2144996967" sldId="885"/>
        </pc:sldMkLst>
      </pc:sldChg>
      <pc:sldChg chg="del">
        <pc:chgData name="David Biersach" userId="14a9feb0-85a7-4da4-be8a-c1e22b637acc" providerId="ADAL" clId="{02EFC7FF-4B54-4B69-8CE7-B63A01B9C649}" dt="2023-01-12T05:16:36.120" v="1" actId="47"/>
        <pc:sldMkLst>
          <pc:docMk/>
          <pc:sldMk cId="2644214535" sldId="1068"/>
        </pc:sldMkLst>
      </pc:sldChg>
      <pc:sldChg chg="del">
        <pc:chgData name="David Biersach" userId="14a9feb0-85a7-4da4-be8a-c1e22b637acc" providerId="ADAL" clId="{02EFC7FF-4B54-4B69-8CE7-B63A01B9C649}" dt="2023-01-12T05:16:36.120" v="1" actId="47"/>
        <pc:sldMkLst>
          <pc:docMk/>
          <pc:sldMk cId="2679616540" sldId="1069"/>
        </pc:sldMkLst>
      </pc:sldChg>
      <pc:sldChg chg="add modAnim">
        <pc:chgData name="David Biersach" userId="14a9feb0-85a7-4da4-be8a-c1e22b637acc" providerId="ADAL" clId="{02EFC7FF-4B54-4B69-8CE7-B63A01B9C649}" dt="2023-01-12T05:21:02.367" v="4"/>
        <pc:sldMkLst>
          <pc:docMk/>
          <pc:sldMk cId="2581986467" sldId="1143"/>
        </pc:sldMkLst>
      </pc:sldChg>
      <pc:sldChg chg="delSp add del mod modAnim">
        <pc:chgData name="David Biersach" userId="14a9feb0-85a7-4da4-be8a-c1e22b637acc" providerId="ADAL" clId="{02EFC7FF-4B54-4B69-8CE7-B63A01B9C649}" dt="2023-01-12T05:21:38.072" v="9" actId="47"/>
        <pc:sldMkLst>
          <pc:docMk/>
          <pc:sldMk cId="4029433344" sldId="1144"/>
        </pc:sldMkLst>
        <pc:spChg chg="del">
          <ac:chgData name="David Biersach" userId="14a9feb0-85a7-4da4-be8a-c1e22b637acc" providerId="ADAL" clId="{02EFC7FF-4B54-4B69-8CE7-B63A01B9C649}" dt="2023-01-12T05:21:21.330" v="7" actId="478"/>
          <ac:spMkLst>
            <pc:docMk/>
            <pc:sldMk cId="4029433344" sldId="1144"/>
            <ac:spMk id="5" creationId="{D7BE1A33-762D-4931-8A67-4D8EAA841094}"/>
          </ac:spMkLst>
        </pc:spChg>
      </pc:sldChg>
      <pc:sldChg chg="add modAnim">
        <pc:chgData name="David Biersach" userId="14a9feb0-85a7-4da4-be8a-c1e22b637acc" providerId="ADAL" clId="{02EFC7FF-4B54-4B69-8CE7-B63A01B9C649}" dt="2023-01-12T05:21:08.801" v="5"/>
        <pc:sldMkLst>
          <pc:docMk/>
          <pc:sldMk cId="3278717300" sldId="1192"/>
        </pc:sldMkLst>
      </pc:sldChg>
      <pc:sldChg chg="del">
        <pc:chgData name="David Biersach" userId="14a9feb0-85a7-4da4-be8a-c1e22b637acc" providerId="ADAL" clId="{02EFC7FF-4B54-4B69-8CE7-B63A01B9C649}" dt="2023-01-12T05:16:36.120" v="1" actId="47"/>
        <pc:sldMkLst>
          <pc:docMk/>
          <pc:sldMk cId="718178985" sldId="1341"/>
        </pc:sldMkLst>
      </pc:sldChg>
      <pc:sldChg chg="del">
        <pc:chgData name="David Biersach" userId="14a9feb0-85a7-4da4-be8a-c1e22b637acc" providerId="ADAL" clId="{02EFC7FF-4B54-4B69-8CE7-B63A01B9C649}" dt="2023-01-12T05:16:36.120" v="1" actId="47"/>
        <pc:sldMkLst>
          <pc:docMk/>
          <pc:sldMk cId="4289486170" sldId="1361"/>
        </pc:sldMkLst>
      </pc:sldChg>
      <pc:sldChg chg="del">
        <pc:chgData name="David Biersach" userId="14a9feb0-85a7-4da4-be8a-c1e22b637acc" providerId="ADAL" clId="{02EFC7FF-4B54-4B69-8CE7-B63A01B9C649}" dt="2023-01-12T05:16:36.120" v="1" actId="47"/>
        <pc:sldMkLst>
          <pc:docMk/>
          <pc:sldMk cId="887955056" sldId="1383"/>
        </pc:sldMkLst>
      </pc:sldChg>
      <pc:sldChg chg="del">
        <pc:chgData name="David Biersach" userId="14a9feb0-85a7-4da4-be8a-c1e22b637acc" providerId="ADAL" clId="{02EFC7FF-4B54-4B69-8CE7-B63A01B9C649}" dt="2023-01-12T05:16:36.120" v="1" actId="47"/>
        <pc:sldMkLst>
          <pc:docMk/>
          <pc:sldMk cId="2842632507" sldId="1388"/>
        </pc:sldMkLst>
      </pc:sldChg>
      <pc:sldChg chg="del">
        <pc:chgData name="David Biersach" userId="14a9feb0-85a7-4da4-be8a-c1e22b637acc" providerId="ADAL" clId="{02EFC7FF-4B54-4B69-8CE7-B63A01B9C649}" dt="2023-01-12T05:16:36.120" v="1" actId="47"/>
        <pc:sldMkLst>
          <pc:docMk/>
          <pc:sldMk cId="3863130909" sldId="1391"/>
        </pc:sldMkLst>
      </pc:sldChg>
      <pc:sldChg chg="del">
        <pc:chgData name="David Biersach" userId="14a9feb0-85a7-4da4-be8a-c1e22b637acc" providerId="ADAL" clId="{02EFC7FF-4B54-4B69-8CE7-B63A01B9C649}" dt="2023-01-12T05:16:36.120" v="1" actId="47"/>
        <pc:sldMkLst>
          <pc:docMk/>
          <pc:sldMk cId="1152236280" sldId="1395"/>
        </pc:sldMkLst>
      </pc:sldChg>
      <pc:sldChg chg="del">
        <pc:chgData name="David Biersach" userId="14a9feb0-85a7-4da4-be8a-c1e22b637acc" providerId="ADAL" clId="{02EFC7FF-4B54-4B69-8CE7-B63A01B9C649}" dt="2023-01-12T05:16:36.120" v="1" actId="47"/>
        <pc:sldMkLst>
          <pc:docMk/>
          <pc:sldMk cId="4152691901" sldId="13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639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75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.png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2.png"/><Relationship Id="rId9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5.png"/><Relationship Id="rId12" Type="http://schemas.openxmlformats.org/officeDocument/2006/relationships/image" Target="../media/image6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00.png"/><Relationship Id="rId10" Type="http://schemas.openxmlformats.org/officeDocument/2006/relationships/image" Target="../media/image590.png"/><Relationship Id="rId9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772BE8-A870-45C4-9B49-E665735A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FFAD-783D-4810-A9CB-C51F00BE5B3E}" type="slidenum">
              <a:rPr lang="en-US" smtClean="0"/>
              <a:t>1</a:t>
            </a:fld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F78828-FA64-474B-91DF-D25D18C2296E}"/>
              </a:ext>
            </a:extLst>
          </p:cNvPr>
          <p:cNvSpPr txBox="1"/>
          <p:nvPr/>
        </p:nvSpPr>
        <p:spPr>
          <a:xfrm>
            <a:off x="2392735" y="1448036"/>
            <a:ext cx="5703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upon the work of Hudson and Ross, the </a:t>
            </a:r>
            <a:r>
              <a:rPr lang="en-US" b="1" dirty="0">
                <a:solidFill>
                  <a:srgbClr val="0070C0"/>
                </a:solidFill>
              </a:rPr>
              <a:t>Kermack-McKendrick</a:t>
            </a:r>
            <a:r>
              <a:rPr lang="en-US" dirty="0"/>
              <a:t> (1933) </a:t>
            </a:r>
            <a:r>
              <a:rPr lang="en-US" b="1" dirty="0"/>
              <a:t>S-I-R</a:t>
            </a:r>
            <a:r>
              <a:rPr lang="en-US" dirty="0"/>
              <a:t> equations model the spread of infectious diseases throughout a population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C7A849-805A-46B7-A531-73385C62EC31}"/>
                  </a:ext>
                </a:extLst>
              </p:cNvPr>
              <p:cNvSpPr txBox="1"/>
              <p:nvPr/>
            </p:nvSpPr>
            <p:spPr>
              <a:xfrm>
                <a:off x="2687126" y="5982526"/>
                <a:ext cx="5114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We seek the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C7A849-805A-46B7-A531-73385C62E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126" y="5982526"/>
                <a:ext cx="5114285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A8344051-D981-47A6-B722-079D479755F6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200" dirty="0">
                <a:latin typeface="+mn-lt"/>
              </a:rPr>
              <a:t>Modelling Infectious Diseases</a:t>
            </a:r>
            <a:endParaRPr lang="en-US" sz="3200" dirty="0">
              <a:latin typeface="+mn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9ACC71-D148-478B-B5CB-F9A4155AD9A7}"/>
              </a:ext>
            </a:extLst>
          </p:cNvPr>
          <p:cNvGrpSpPr/>
          <p:nvPr/>
        </p:nvGrpSpPr>
        <p:grpSpPr>
          <a:xfrm>
            <a:off x="669046" y="4107587"/>
            <a:ext cx="1491834" cy="2178585"/>
            <a:chOff x="423255" y="1642072"/>
            <a:chExt cx="1491834" cy="21785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30AB2D-E464-401B-9638-AA0DDE96F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963" y="1642072"/>
              <a:ext cx="1244419" cy="177046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511ED8-C1BE-4FFE-B253-CA9FF6E724C2}"/>
                </a:ext>
              </a:extLst>
            </p:cNvPr>
            <p:cNvSpPr txBox="1"/>
            <p:nvPr/>
          </p:nvSpPr>
          <p:spPr>
            <a:xfrm>
              <a:off x="423255" y="3512880"/>
              <a:ext cx="14918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Ronald Ross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D93DBE-FFDC-40FB-98AF-A8DD624D28EC}"/>
              </a:ext>
            </a:extLst>
          </p:cNvPr>
          <p:cNvGrpSpPr/>
          <p:nvPr/>
        </p:nvGrpSpPr>
        <p:grpSpPr>
          <a:xfrm>
            <a:off x="628650" y="1747217"/>
            <a:ext cx="1491834" cy="2081258"/>
            <a:chOff x="442584" y="4088498"/>
            <a:chExt cx="1491834" cy="208125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CD6F43-FB12-4427-A888-6EE562981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912" y="4088498"/>
              <a:ext cx="1429179" cy="1773481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20843E-A08B-4956-A6D1-C547981BCE4F}"/>
                </a:ext>
              </a:extLst>
            </p:cNvPr>
            <p:cNvSpPr txBox="1"/>
            <p:nvPr/>
          </p:nvSpPr>
          <p:spPr>
            <a:xfrm>
              <a:off x="442584" y="5861979"/>
              <a:ext cx="14918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Hilda Hudson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690E4B-9691-41BE-9ACB-7756E4C460C5}"/>
                  </a:ext>
                </a:extLst>
              </p:cNvPr>
              <p:cNvSpPr txBox="1"/>
              <p:nvPr/>
            </p:nvSpPr>
            <p:spPr>
              <a:xfrm>
                <a:off x="2614753" y="3332049"/>
                <a:ext cx="305153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Susceptible population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Infected population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Recovered population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690E4B-9691-41BE-9ACB-7756E4C46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753" y="3332049"/>
                <a:ext cx="3051530" cy="1077218"/>
              </a:xfrm>
              <a:prstGeom prst="rect">
                <a:avLst/>
              </a:prstGeom>
              <a:blipFill>
                <a:blip r:embed="rId5"/>
                <a:stretch>
                  <a:fillRect t="-3409" b="-8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3139D294-C12C-49B5-AE1A-AA24597B80A9}"/>
              </a:ext>
            </a:extLst>
          </p:cNvPr>
          <p:cNvGrpSpPr/>
          <p:nvPr/>
        </p:nvGrpSpPr>
        <p:grpSpPr>
          <a:xfrm>
            <a:off x="2990374" y="2533848"/>
            <a:ext cx="4507789" cy="525913"/>
            <a:chOff x="2763723" y="2453124"/>
            <a:chExt cx="4507789" cy="525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71A0B21-3561-42E6-B515-A3097B63E30C}"/>
                    </a:ext>
                  </a:extLst>
                </p:cNvPr>
                <p:cNvSpPr txBox="1"/>
                <p:nvPr/>
              </p:nvSpPr>
              <p:spPr>
                <a:xfrm>
                  <a:off x="2763723" y="2453124"/>
                  <a:ext cx="1168460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71A0B21-3561-42E6-B515-A3097B63E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3723" y="2453124"/>
                  <a:ext cx="1168460" cy="5259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F5A092-5A1A-4265-9471-0F88291FE93C}"/>
                    </a:ext>
                  </a:extLst>
                </p:cNvPr>
                <p:cNvSpPr txBox="1"/>
                <p:nvPr/>
              </p:nvSpPr>
              <p:spPr>
                <a:xfrm>
                  <a:off x="4432040" y="2453124"/>
                  <a:ext cx="1460656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F5A092-5A1A-4265-9471-0F88291FE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2040" y="2453124"/>
                  <a:ext cx="1460656" cy="52591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FFDB3D9-49E5-4D37-AF0F-E37BA3AD1968}"/>
                    </a:ext>
                  </a:extLst>
                </p:cNvPr>
                <p:cNvSpPr txBox="1"/>
                <p:nvPr/>
              </p:nvSpPr>
              <p:spPr>
                <a:xfrm>
                  <a:off x="6392553" y="2453124"/>
                  <a:ext cx="878959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FFDB3D9-49E5-4D37-AF0F-E37BA3AD19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2553" y="2453124"/>
                  <a:ext cx="878959" cy="5259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E61E291-2B04-4794-8936-7273243951EC}"/>
                  </a:ext>
                </a:extLst>
              </p:cNvPr>
              <p:cNvSpPr txBox="1"/>
              <p:nvPr/>
            </p:nvSpPr>
            <p:spPr>
              <a:xfrm>
                <a:off x="6002519" y="3509020"/>
                <a:ext cx="2481503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Infection rate </a:t>
                </a:r>
                <a:r>
                  <a:rPr lang="en-US" i="1" dirty="0"/>
                  <a:t>factor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Recovery rate </a:t>
                </a:r>
                <a:r>
                  <a:rPr lang="en-US" i="1" dirty="0"/>
                  <a:t>factor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E61E291-2B04-4794-8936-727324395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519" y="3509020"/>
                <a:ext cx="2481503" cy="723275"/>
              </a:xfrm>
              <a:prstGeom prst="rect">
                <a:avLst/>
              </a:prstGeom>
              <a:blipFill>
                <a:blip r:embed="rId9"/>
                <a:stretch>
                  <a:fillRect l="-737" t="-5085" r="-1966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F55F64-842F-4D02-843C-AF733B00C461}"/>
                  </a:ext>
                </a:extLst>
              </p:cNvPr>
              <p:cNvSpPr txBox="1"/>
              <p:nvPr/>
            </p:nvSpPr>
            <p:spPr>
              <a:xfrm>
                <a:off x="2392735" y="4689261"/>
                <a:ext cx="570306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As time progresses, the population changes from one </a:t>
                </a:r>
                <a:r>
                  <a:rPr lang="en-US" b="1" i="1" dirty="0">
                    <a:solidFill>
                      <a:srgbClr val="7030A0"/>
                    </a:solidFill>
                  </a:rPr>
                  <a:t>compartment</a:t>
                </a:r>
                <a:r>
                  <a:rPr lang="en-US" dirty="0"/>
                  <a:t> to the next: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Note:</a:t>
                </a:r>
                <a:r>
                  <a:rPr lang="en-US" dirty="0"/>
                  <a:t> the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total</a:t>
                </a:r>
                <a:r>
                  <a:rPr lang="en-US" dirty="0"/>
                  <a:t> population in this model </a:t>
                </a:r>
                <a:r>
                  <a:rPr lang="en-US" u="sng" dirty="0"/>
                  <a:t>does not</a:t>
                </a:r>
                <a:r>
                  <a:rPr lang="en-US" dirty="0"/>
                  <a:t> change</a:t>
                </a:r>
                <a:endParaRPr lang="en-US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F55F64-842F-4D02-843C-AF733B00C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735" y="4689261"/>
                <a:ext cx="5703067" cy="1077218"/>
              </a:xfrm>
              <a:prstGeom prst="rect">
                <a:avLst/>
              </a:prstGeom>
              <a:blipFill>
                <a:blip r:embed="rId10"/>
                <a:stretch>
                  <a:fillRect l="-963" t="-2825" b="-7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40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772BE8-A870-45C4-9B49-E665735A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FFAD-783D-4810-A9CB-C51F00BE5B3E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344051-D981-47A6-B722-079D479755F6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200" dirty="0">
                <a:latin typeface="+mn-lt"/>
              </a:rPr>
              <a:t>Modelling Infectious Diseases</a:t>
            </a:r>
            <a:endParaRPr lang="en-US" sz="32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1A0B21-3561-42E6-B515-A3097B63E30C}"/>
                  </a:ext>
                </a:extLst>
              </p:cNvPr>
              <p:cNvSpPr txBox="1"/>
              <p:nvPr/>
            </p:nvSpPr>
            <p:spPr>
              <a:xfrm>
                <a:off x="6815727" y="2488161"/>
                <a:ext cx="1168460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1A0B21-3561-42E6-B515-A3097B63E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727" y="2488161"/>
                <a:ext cx="1168460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F5A092-5A1A-4265-9471-0F88291FE93C}"/>
                  </a:ext>
                </a:extLst>
              </p:cNvPr>
              <p:cNvSpPr txBox="1"/>
              <p:nvPr/>
            </p:nvSpPr>
            <p:spPr>
              <a:xfrm>
                <a:off x="6815727" y="4229917"/>
                <a:ext cx="1460656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F5A092-5A1A-4265-9471-0F88291FE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727" y="4229917"/>
                <a:ext cx="1460656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FDB3D9-49E5-4D37-AF0F-E37BA3AD1968}"/>
                  </a:ext>
                </a:extLst>
              </p:cNvPr>
              <p:cNvSpPr txBox="1"/>
              <p:nvPr/>
            </p:nvSpPr>
            <p:spPr>
              <a:xfrm>
                <a:off x="6815727" y="5634170"/>
                <a:ext cx="878959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FDB3D9-49E5-4D37-AF0F-E37BA3AD1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727" y="5634170"/>
                <a:ext cx="878959" cy="525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A6EF79F-33BC-4067-8D02-97CDA7CF003E}"/>
              </a:ext>
            </a:extLst>
          </p:cNvPr>
          <p:cNvSpPr txBox="1"/>
          <p:nvPr/>
        </p:nvSpPr>
        <p:spPr>
          <a:xfrm>
            <a:off x="2495271" y="2112976"/>
            <a:ext cx="3898213" cy="12772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As people become infected, the susceptible population </a:t>
            </a:r>
            <a:r>
              <a:rPr lang="en-US" b="1" dirty="0"/>
              <a:t>decreases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As more people are infected, the faster the disease is spread to the susceptible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D518AD-2858-45F7-AC03-615AE29AD187}"/>
              </a:ext>
            </a:extLst>
          </p:cNvPr>
          <p:cNvGrpSpPr/>
          <p:nvPr/>
        </p:nvGrpSpPr>
        <p:grpSpPr>
          <a:xfrm>
            <a:off x="2762765" y="1394928"/>
            <a:ext cx="5137799" cy="369332"/>
            <a:chOff x="2762765" y="1270569"/>
            <a:chExt cx="5137799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EBB7D99-6CF4-4199-8BCF-F803287DC7F4}"/>
                    </a:ext>
                  </a:extLst>
                </p:cNvPr>
                <p:cNvSpPr txBox="1"/>
                <p:nvPr/>
              </p:nvSpPr>
              <p:spPr>
                <a:xfrm>
                  <a:off x="2762765" y="1270569"/>
                  <a:ext cx="24815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 Infection rate </a:t>
                  </a:r>
                  <a:r>
                    <a:rPr lang="en-US" i="1" dirty="0"/>
                    <a:t>factor</a:t>
                  </a: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EBB7D99-6CF4-4199-8BCF-F803287DC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2765" y="1270569"/>
                  <a:ext cx="248150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737" t="-10000" r="-2211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FC5DE07-C2F1-4FC5-A908-702EFCBC65F2}"/>
                    </a:ext>
                  </a:extLst>
                </p:cNvPr>
                <p:cNvSpPr txBox="1"/>
                <p:nvPr/>
              </p:nvSpPr>
              <p:spPr>
                <a:xfrm>
                  <a:off x="5419061" y="1270569"/>
                  <a:ext cx="24815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 Recovery rate </a:t>
                  </a:r>
                  <a:r>
                    <a:rPr lang="en-US" i="1" dirty="0"/>
                    <a:t>factor</a:t>
                  </a: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FC5DE07-C2F1-4FC5-A908-702EFCBC65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9061" y="1270569"/>
                  <a:ext cx="2481503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10000" r="-1966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ED0C54-5D96-4D55-BDC5-5575935DDAD5}"/>
                  </a:ext>
                </a:extLst>
              </p:cNvPr>
              <p:cNvSpPr txBox="1"/>
              <p:nvPr/>
            </p:nvSpPr>
            <p:spPr>
              <a:xfrm>
                <a:off x="2495270" y="3815591"/>
                <a:ext cx="4196102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Having more susceptible people makes it easier for the infection to find a new host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Susceptible people become infected (</a:t>
                </a:r>
                <a:r>
                  <a:rPr lang="en-US" b="1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𝜷)</a:t>
                </a:r>
                <a:r>
                  <a:rPr lang="en-US" dirty="0"/>
                  <a:t> and infected people become recovered 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ED0C54-5D96-4D55-BDC5-5575935DD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270" y="3815591"/>
                <a:ext cx="4196102" cy="1354217"/>
              </a:xfrm>
              <a:prstGeom prst="rect">
                <a:avLst/>
              </a:prstGeom>
              <a:blipFill>
                <a:blip r:embed="rId7"/>
                <a:stretch>
                  <a:fillRect l="-1161" t="-2703" r="-145" b="-63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0B8F5968-9CC4-42D8-A5ED-C5643E3AE4B2}"/>
              </a:ext>
            </a:extLst>
          </p:cNvPr>
          <p:cNvSpPr txBox="1"/>
          <p:nvPr/>
        </p:nvSpPr>
        <p:spPr>
          <a:xfrm>
            <a:off x="2532956" y="5573167"/>
            <a:ext cx="386052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The number of recovered people </a:t>
            </a:r>
            <a:r>
              <a:rPr lang="en-US" b="1" dirty="0"/>
              <a:t>increases</a:t>
            </a:r>
            <a:r>
              <a:rPr lang="en-US" dirty="0"/>
              <a:t> over time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0558C39-0903-4CB9-A885-41A5ABFF308C}"/>
              </a:ext>
            </a:extLst>
          </p:cNvPr>
          <p:cNvCxnSpPr>
            <a:cxnSpLocks/>
          </p:cNvCxnSpPr>
          <p:nvPr/>
        </p:nvCxnSpPr>
        <p:spPr>
          <a:xfrm flipV="1">
            <a:off x="6269129" y="2751118"/>
            <a:ext cx="422243" cy="4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0EB0DCB-7B10-4BE2-8CD7-87F71598049A}"/>
              </a:ext>
            </a:extLst>
          </p:cNvPr>
          <p:cNvCxnSpPr>
            <a:cxnSpLocks/>
          </p:cNvCxnSpPr>
          <p:nvPr/>
        </p:nvCxnSpPr>
        <p:spPr>
          <a:xfrm>
            <a:off x="6269128" y="4492700"/>
            <a:ext cx="422244" cy="1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D439190-3378-4203-85AE-4804D146CE1A}"/>
              </a:ext>
            </a:extLst>
          </p:cNvPr>
          <p:cNvCxnSpPr>
            <a:cxnSpLocks/>
          </p:cNvCxnSpPr>
          <p:nvPr/>
        </p:nvCxnSpPr>
        <p:spPr>
          <a:xfrm>
            <a:off x="6269129" y="5896333"/>
            <a:ext cx="422243" cy="7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D11B8D6-D464-417E-AB54-4919F921D34B}"/>
              </a:ext>
            </a:extLst>
          </p:cNvPr>
          <p:cNvGrpSpPr/>
          <p:nvPr/>
        </p:nvGrpSpPr>
        <p:grpSpPr>
          <a:xfrm>
            <a:off x="732839" y="4175727"/>
            <a:ext cx="1167308" cy="2363186"/>
            <a:chOff x="760303" y="1666480"/>
            <a:chExt cx="1167308" cy="236318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20843E-A08B-4956-A6D1-C547981BCE4F}"/>
                </a:ext>
              </a:extLst>
            </p:cNvPr>
            <p:cNvSpPr txBox="1"/>
            <p:nvPr/>
          </p:nvSpPr>
          <p:spPr>
            <a:xfrm>
              <a:off x="760303" y="3506446"/>
              <a:ext cx="11673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Anderson McKendrick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F5B13BB-6E0A-427A-8BC8-AE4D0F8504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0303" y="1666480"/>
              <a:ext cx="1167308" cy="182880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F1C20F8-12F5-41D4-8807-BE2CC3614FA4}"/>
              </a:ext>
            </a:extLst>
          </p:cNvPr>
          <p:cNvGrpSpPr/>
          <p:nvPr/>
        </p:nvGrpSpPr>
        <p:grpSpPr>
          <a:xfrm>
            <a:off x="740399" y="1684170"/>
            <a:ext cx="1152189" cy="2228295"/>
            <a:chOff x="767862" y="4273320"/>
            <a:chExt cx="1152189" cy="222829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511ED8-C1BE-4FFE-B253-CA9FF6E724C2}"/>
                </a:ext>
              </a:extLst>
            </p:cNvPr>
            <p:cNvSpPr txBox="1"/>
            <p:nvPr/>
          </p:nvSpPr>
          <p:spPr>
            <a:xfrm>
              <a:off x="767862" y="5978395"/>
              <a:ext cx="1152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William Kermack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B531045-C21A-4F4C-AAEF-517C3C44B0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0080"/>
            <a:stretch/>
          </p:blipFill>
          <p:spPr>
            <a:xfrm>
              <a:off x="767862" y="4273320"/>
              <a:ext cx="1152189" cy="16888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7472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20D35E-05AC-3419-AF66-2564CCEE4A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143" y="1700456"/>
            <a:ext cx="5685714" cy="26476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epidemiology.py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0872C54-DB9C-41B7-BB6A-7F2B304C7840}"/>
              </a:ext>
            </a:extLst>
          </p:cNvPr>
          <p:cNvGrpSpPr/>
          <p:nvPr/>
        </p:nvGrpSpPr>
        <p:grpSpPr>
          <a:xfrm>
            <a:off x="3320955" y="4793756"/>
            <a:ext cx="2502090" cy="728284"/>
            <a:chOff x="941548" y="1750857"/>
            <a:chExt cx="2502090" cy="728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FCD4B75-90D6-4048-B98A-BF919BC9147D}"/>
                    </a:ext>
                  </a:extLst>
                </p:cNvPr>
                <p:cNvSpPr txBox="1"/>
                <p:nvPr/>
              </p:nvSpPr>
              <p:spPr>
                <a:xfrm>
                  <a:off x="941548" y="1750857"/>
                  <a:ext cx="24815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 Infection rate </a:t>
                  </a:r>
                  <a:r>
                    <a:rPr lang="en-US" i="1" dirty="0"/>
                    <a:t>factor</a:t>
                  </a: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46FACC1-96C5-4844-958F-42C905B76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548" y="1750857"/>
                  <a:ext cx="2481503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737" t="-8197" r="-22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43C61A1-B1FF-45B2-B6FF-96A523AECD07}"/>
                    </a:ext>
                  </a:extLst>
                </p:cNvPr>
                <p:cNvSpPr txBox="1"/>
                <p:nvPr/>
              </p:nvSpPr>
              <p:spPr>
                <a:xfrm>
                  <a:off x="962135" y="2109809"/>
                  <a:ext cx="24815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/>
                    <a:t> Recovery rate </a:t>
                  </a:r>
                  <a:r>
                    <a:rPr lang="en-US" i="1" dirty="0"/>
                    <a:t>factor</a:t>
                  </a: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1E38365-72CC-4F47-8B86-8F2FB45F6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135" y="2109809"/>
                  <a:ext cx="2481503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9836" r="-196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386F8D1-F11E-4090-82CF-A52779B1E5CB}"/>
              </a:ext>
            </a:extLst>
          </p:cNvPr>
          <p:cNvGrpSpPr/>
          <p:nvPr/>
        </p:nvGrpSpPr>
        <p:grpSpPr>
          <a:xfrm>
            <a:off x="2667671" y="5723627"/>
            <a:ext cx="3808659" cy="525913"/>
            <a:chOff x="4785080" y="1916906"/>
            <a:chExt cx="3808659" cy="525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53A83EC-596E-488E-9B04-C7F6B0ACC674}"/>
                    </a:ext>
                  </a:extLst>
                </p:cNvPr>
                <p:cNvSpPr txBox="1"/>
                <p:nvPr/>
              </p:nvSpPr>
              <p:spPr>
                <a:xfrm>
                  <a:off x="4785080" y="1916906"/>
                  <a:ext cx="1168460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53A83EC-596E-488E-9B04-C7F6B0ACC6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5080" y="1916906"/>
                  <a:ext cx="1168460" cy="52591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A595016-A6BD-4496-AD7F-E773D38154CA}"/>
                    </a:ext>
                  </a:extLst>
                </p:cNvPr>
                <p:cNvSpPr txBox="1"/>
                <p:nvPr/>
              </p:nvSpPr>
              <p:spPr>
                <a:xfrm>
                  <a:off x="6103832" y="1916906"/>
                  <a:ext cx="1460656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A595016-A6BD-4496-AD7F-E773D3815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3832" y="1916906"/>
                  <a:ext cx="1460656" cy="52591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B9BE97B-28D8-46E7-B05A-5AAFE9B359FB}"/>
                    </a:ext>
                  </a:extLst>
                </p:cNvPr>
                <p:cNvSpPr txBox="1"/>
                <p:nvPr/>
              </p:nvSpPr>
              <p:spPr>
                <a:xfrm>
                  <a:off x="7714780" y="1916906"/>
                  <a:ext cx="878959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B9BE97B-28D8-46E7-B05A-5AAFE9B359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4780" y="1916906"/>
                  <a:ext cx="878959" cy="52591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C74B1C5-1BD9-A16E-18FB-D04883A51FF3}"/>
              </a:ext>
            </a:extLst>
          </p:cNvPr>
          <p:cNvGrpSpPr/>
          <p:nvPr/>
        </p:nvGrpSpPr>
        <p:grpSpPr>
          <a:xfrm>
            <a:off x="5553336" y="3009275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582FB38-AE8D-8FCF-BAA3-DED8B342D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7DD424-6BCA-D834-5A41-ADD11804A72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900BEE-A0FF-95CA-414C-A6370BC7460D}"/>
              </a:ext>
            </a:extLst>
          </p:cNvPr>
          <p:cNvGrpSpPr/>
          <p:nvPr/>
        </p:nvGrpSpPr>
        <p:grpSpPr>
          <a:xfrm>
            <a:off x="4111733" y="3196351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3596167-FB11-B877-EA88-C7D7CE2AC0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727C4A-1337-6A0C-45E6-E9E12691709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118786-A986-57EC-1471-DC027A7E9B6D}"/>
              </a:ext>
            </a:extLst>
          </p:cNvPr>
          <p:cNvGrpSpPr/>
          <p:nvPr/>
        </p:nvGrpSpPr>
        <p:grpSpPr>
          <a:xfrm>
            <a:off x="4888686" y="3580673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D245C3-AEB0-F866-F416-9A71FF5BB5C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331A5CB-C9CA-8F3E-09CA-DAA448CFFE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643477-775A-DC3E-4750-615F2206AC5C}"/>
              </a:ext>
            </a:extLst>
          </p:cNvPr>
          <p:cNvGrpSpPr/>
          <p:nvPr/>
        </p:nvGrpSpPr>
        <p:grpSpPr>
          <a:xfrm>
            <a:off x="3929856" y="3970855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24E6E9-D79F-8103-6F3A-3D65E01DC738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8FD7223-31B7-9885-B75D-13FAEB6093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139243B-7AFE-0ED1-4841-FDA1EB4B508A}"/>
              </a:ext>
            </a:extLst>
          </p:cNvPr>
          <p:cNvSpPr/>
          <p:nvPr/>
        </p:nvSpPr>
        <p:spPr>
          <a:xfrm>
            <a:off x="4321969" y="3057528"/>
            <a:ext cx="1022024" cy="26213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C15A72-3E9A-2284-2B5B-1F869567B817}"/>
              </a:ext>
            </a:extLst>
          </p:cNvPr>
          <p:cNvSpPr/>
          <p:nvPr/>
        </p:nvSpPr>
        <p:spPr>
          <a:xfrm>
            <a:off x="5597370" y="5041650"/>
            <a:ext cx="205087" cy="26213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77F795C-87EC-FEA3-4EAF-42CE32AE7947}"/>
              </a:ext>
            </a:extLst>
          </p:cNvPr>
          <p:cNvCxnSpPr>
            <a:stCxn id="23" idx="3"/>
            <a:endCxn id="22" idx="0"/>
          </p:cNvCxnSpPr>
          <p:nvPr/>
        </p:nvCxnSpPr>
        <p:spPr>
          <a:xfrm flipH="1" flipV="1">
            <a:off x="4832981" y="3057528"/>
            <a:ext cx="969476" cy="2115187"/>
          </a:xfrm>
          <a:prstGeom prst="bentConnector4">
            <a:avLst>
              <a:gd name="adj1" fmla="val -135680"/>
              <a:gd name="adj2" fmla="val 110808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2955458-F093-AA1C-6932-ECD7294823D7}"/>
              </a:ext>
            </a:extLst>
          </p:cNvPr>
          <p:cNvSpPr/>
          <p:nvPr/>
        </p:nvSpPr>
        <p:spPr>
          <a:xfrm>
            <a:off x="2060467" y="3476982"/>
            <a:ext cx="2723851" cy="58543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925B28-EA11-E652-C199-33DFFC7629F7}"/>
              </a:ext>
            </a:extLst>
          </p:cNvPr>
          <p:cNvSpPr/>
          <p:nvPr/>
        </p:nvSpPr>
        <p:spPr>
          <a:xfrm>
            <a:off x="2387438" y="5879594"/>
            <a:ext cx="205087" cy="26213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365E61B-8159-63B3-A6C8-D2FD90A2C6CD}"/>
              </a:ext>
            </a:extLst>
          </p:cNvPr>
          <p:cNvCxnSpPr>
            <a:cxnSpLocks/>
            <a:stCxn id="28" idx="1"/>
            <a:endCxn id="27" idx="1"/>
          </p:cNvCxnSpPr>
          <p:nvPr/>
        </p:nvCxnSpPr>
        <p:spPr>
          <a:xfrm rot="10800000">
            <a:off x="2060468" y="3769699"/>
            <a:ext cx="326971" cy="2240961"/>
          </a:xfrm>
          <a:prstGeom prst="bentConnector3">
            <a:avLst>
              <a:gd name="adj1" fmla="val 275359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98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epidemiology.py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5EE74E-7D9E-7589-5B7A-503B0098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61" y="1468581"/>
            <a:ext cx="4913078" cy="49994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6F3CC03-2C76-D632-922D-CD61C9807A7C}"/>
              </a:ext>
            </a:extLst>
          </p:cNvPr>
          <p:cNvGrpSpPr/>
          <p:nvPr/>
        </p:nvGrpSpPr>
        <p:grpSpPr>
          <a:xfrm>
            <a:off x="4942299" y="1908879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CFE258D-8B36-FC48-2F0D-93E7918AD0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47EBC0F-61B3-5827-4A04-452A1C933E1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DEA672-97BE-5294-2BE9-00A976526BA4}"/>
              </a:ext>
            </a:extLst>
          </p:cNvPr>
          <p:cNvGrpSpPr/>
          <p:nvPr/>
        </p:nvGrpSpPr>
        <p:grpSpPr>
          <a:xfrm>
            <a:off x="5553556" y="2718509"/>
            <a:ext cx="1076632" cy="369332"/>
            <a:chOff x="4704120" y="2356972"/>
            <a:chExt cx="1076632" cy="36933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4547B2E-E6D8-482F-8083-40DB9F5024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953FEA-B317-3918-364F-298A6988EAA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45831FB-F1D5-F25F-44E3-713FDB13E6A5}"/>
              </a:ext>
            </a:extLst>
          </p:cNvPr>
          <p:cNvGrpSpPr/>
          <p:nvPr/>
        </p:nvGrpSpPr>
        <p:grpSpPr>
          <a:xfrm>
            <a:off x="3930461" y="3568936"/>
            <a:ext cx="1068643" cy="369332"/>
            <a:chOff x="3647644" y="4910075"/>
            <a:chExt cx="1068643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080422-902F-F53C-41BF-E4F945C663E7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EC37D26-D1EC-B96B-2C43-FF7DC8F5B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C353338-A32E-E58B-BDF1-43318BFE8D8F}"/>
              </a:ext>
            </a:extLst>
          </p:cNvPr>
          <p:cNvGrpSpPr/>
          <p:nvPr/>
        </p:nvGrpSpPr>
        <p:grpSpPr>
          <a:xfrm>
            <a:off x="4933633" y="4445396"/>
            <a:ext cx="1064340" cy="369332"/>
            <a:chOff x="3647644" y="5421073"/>
            <a:chExt cx="1064340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6B0BD8-722E-DD25-D444-B9019EFCE361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670F322-7BCA-01C6-8905-8C7983D3FF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BEAB04-B3DB-E3A5-5ABC-155AF5C0BD37}"/>
              </a:ext>
            </a:extLst>
          </p:cNvPr>
          <p:cNvGrpSpPr/>
          <p:nvPr/>
        </p:nvGrpSpPr>
        <p:grpSpPr>
          <a:xfrm>
            <a:off x="5440280" y="4603707"/>
            <a:ext cx="1068643" cy="369332"/>
            <a:chOff x="3647644" y="5359159"/>
            <a:chExt cx="1068643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A43BD0B-4F70-D2A6-6254-B75EE2CFF2EF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A8369DA-0FAB-592A-6813-3A6E2F8990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D9879C2-9E91-16B0-FDB2-2308A0ABD5F2}"/>
              </a:ext>
            </a:extLst>
          </p:cNvPr>
          <p:cNvGrpSpPr/>
          <p:nvPr/>
        </p:nvGrpSpPr>
        <p:grpSpPr>
          <a:xfrm>
            <a:off x="4263167" y="4955778"/>
            <a:ext cx="1076632" cy="369332"/>
            <a:chOff x="2157212" y="5356391"/>
            <a:chExt cx="1076632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7C6E98-7499-4C2D-10B7-62B7EDF57E8A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FA6A582-F75C-46C6-214E-66E21537D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560116-2EE9-61C4-1975-97DEADC44308}"/>
              </a:ext>
            </a:extLst>
          </p:cNvPr>
          <p:cNvGrpSpPr/>
          <p:nvPr/>
        </p:nvGrpSpPr>
        <p:grpSpPr>
          <a:xfrm>
            <a:off x="3910792" y="5289023"/>
            <a:ext cx="1076632" cy="369332"/>
            <a:chOff x="2157212" y="5356391"/>
            <a:chExt cx="1076632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3FDDAFA-FBDA-510F-0D69-5CBBE1547B7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E88DB70-94EC-DC09-926A-CBA944912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D17B0EE-F926-4E0F-6D69-76430C4EB4B5}"/>
              </a:ext>
            </a:extLst>
          </p:cNvPr>
          <p:cNvGrpSpPr/>
          <p:nvPr/>
        </p:nvGrpSpPr>
        <p:grpSpPr>
          <a:xfrm>
            <a:off x="3686776" y="5459383"/>
            <a:ext cx="1076632" cy="369332"/>
            <a:chOff x="2157212" y="5356391"/>
            <a:chExt cx="1076632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92D3171-D0CB-815A-2E7D-3B08253D484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7278DD6-EBD7-4B92-7914-29B6D39055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FF7443C-91A6-6285-2207-41832C376F85}"/>
              </a:ext>
            </a:extLst>
          </p:cNvPr>
          <p:cNvGrpSpPr/>
          <p:nvPr/>
        </p:nvGrpSpPr>
        <p:grpSpPr>
          <a:xfrm>
            <a:off x="3899919" y="4762933"/>
            <a:ext cx="1076632" cy="369332"/>
            <a:chOff x="2157212" y="5356391"/>
            <a:chExt cx="1076632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48C38AC-DD9D-9A2C-77FF-7BBB8B0A179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7917399-892C-66B0-4B16-662AEBD635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2CD11DF-32EE-E677-ED47-EE67BBD88AEC}"/>
              </a:ext>
            </a:extLst>
          </p:cNvPr>
          <p:cNvGrpSpPr/>
          <p:nvPr/>
        </p:nvGrpSpPr>
        <p:grpSpPr>
          <a:xfrm>
            <a:off x="6699813" y="6011565"/>
            <a:ext cx="1076632" cy="369332"/>
            <a:chOff x="2157212" y="5356391"/>
            <a:chExt cx="1076632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17019F0-EEAA-68BD-BB41-F90DB8216CC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67B0128-BCD0-2CC5-30D9-001FEB4EF3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8717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91A4BF-AB88-6B62-BB02-3E99C46F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0" y="1560086"/>
            <a:ext cx="5663089" cy="4247317"/>
          </a:xfrm>
          <a:prstGeom prst="rect">
            <a:avLst/>
          </a:prstGeom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772BE8-A870-45C4-9B49-E665735A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FFAD-783D-4810-A9CB-C51F00BE5B3E}" type="slidenum">
              <a:rPr lang="en-US" smtClean="0"/>
              <a:t>5</a:t>
            </a:fld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CB46B60-B7FC-4EF8-8703-EBC8C9298589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SIR Model Epidemiology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9A569-4BC9-42D7-A376-5DB2BA8532D8}"/>
              </a:ext>
            </a:extLst>
          </p:cNvPr>
          <p:cNvSpPr txBox="1"/>
          <p:nvPr/>
        </p:nvSpPr>
        <p:spPr>
          <a:xfrm>
            <a:off x="5235677" y="1560086"/>
            <a:ext cx="35396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infected</a:t>
            </a:r>
            <a:r>
              <a:rPr lang="en-US" sz="2000" dirty="0"/>
              <a:t> population will decrease </a:t>
            </a:r>
            <a:r>
              <a:rPr lang="en-US" sz="2000" i="1" dirty="0"/>
              <a:t>more slowly</a:t>
            </a:r>
            <a:r>
              <a:rPr lang="en-US" sz="2000" dirty="0"/>
              <a:t> than it rises, hence it takes </a:t>
            </a:r>
            <a:r>
              <a:rPr lang="en-US" sz="2000" b="1" dirty="0"/>
              <a:t>much</a:t>
            </a:r>
            <a:r>
              <a:rPr lang="en-US" sz="2000" dirty="0"/>
              <a:t> </a:t>
            </a:r>
            <a:r>
              <a:rPr lang="en-US" sz="2000" b="1" dirty="0"/>
              <a:t>longer</a:t>
            </a:r>
            <a:r>
              <a:rPr lang="en-US" sz="2000" dirty="0"/>
              <a:t> to </a:t>
            </a:r>
            <a:r>
              <a:rPr lang="en-US" sz="2000" b="1" dirty="0">
                <a:solidFill>
                  <a:srgbClr val="00B050"/>
                </a:solidFill>
              </a:rPr>
              <a:t>rid</a:t>
            </a:r>
            <a:r>
              <a:rPr lang="en-US" sz="2000" dirty="0"/>
              <a:t> a population of an infection than it takes for the </a:t>
            </a:r>
            <a:r>
              <a:rPr lang="en-US" sz="2000" u="sng" dirty="0"/>
              <a:t>initial</a:t>
            </a:r>
            <a:r>
              <a:rPr lang="en-US" sz="2000" dirty="0"/>
              <a:t> infection to spread</a:t>
            </a:r>
          </a:p>
          <a:p>
            <a:pPr>
              <a:spcAft>
                <a:spcPts val="600"/>
              </a:spcAf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percentage of people will remain </a:t>
            </a:r>
            <a:r>
              <a:rPr lang="en-US" sz="2000" b="1" dirty="0">
                <a:solidFill>
                  <a:srgbClr val="0070C0"/>
                </a:solidFill>
              </a:rPr>
              <a:t>susceptible</a:t>
            </a:r>
            <a:r>
              <a:rPr lang="en-US" sz="2000" dirty="0"/>
              <a:t> for a </a:t>
            </a:r>
            <a:r>
              <a:rPr lang="en-US" sz="2000" b="1" dirty="0"/>
              <a:t>very long time</a:t>
            </a:r>
            <a:r>
              <a:rPr lang="en-US" sz="2000" dirty="0"/>
              <a:t> - hence the need for an </a:t>
            </a:r>
            <a:r>
              <a:rPr lang="en-US" sz="2000" i="1" dirty="0"/>
              <a:t>ongoing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vaccination</a:t>
            </a:r>
            <a:r>
              <a:rPr lang="en-US" sz="2000" dirty="0"/>
              <a:t> program – think about smallpox, polio, etc.</a:t>
            </a:r>
          </a:p>
        </p:txBody>
      </p:sp>
    </p:spTree>
    <p:extLst>
      <p:ext uri="{BB962C8B-B14F-4D97-AF65-F5344CB8AC3E}">
        <p14:creationId xmlns:p14="http://schemas.microsoft.com/office/powerpoint/2010/main" val="2144996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7877</TotalTime>
  <Words>327</Words>
  <Application>Microsoft Office PowerPoint</Application>
  <PresentationFormat>On-screen Show (4:3)</PresentationFormat>
  <Paragraphs>60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Open epidemiology.py</vt:lpstr>
      <vt:lpstr>View epidemiology.py</vt:lpstr>
      <vt:lpstr>PowerPoint Presentation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946</cp:revision>
  <cp:lastPrinted>2015-06-01T00:45:11Z</cp:lastPrinted>
  <dcterms:created xsi:type="dcterms:W3CDTF">2014-09-21T17:58:26Z</dcterms:created>
  <dcterms:modified xsi:type="dcterms:W3CDTF">2023-01-12T05:21:41Z</dcterms:modified>
</cp:coreProperties>
</file>