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1361" r:id="rId2"/>
    <p:sldId id="1280" r:id="rId3"/>
    <p:sldId id="1260" r:id="rId4"/>
    <p:sldId id="1288" r:id="rId5"/>
    <p:sldId id="1289" r:id="rId6"/>
    <p:sldId id="1290" r:id="rId7"/>
    <p:sldId id="1292" r:id="rId8"/>
    <p:sldId id="1257" r:id="rId9"/>
    <p:sldId id="1297" r:id="rId10"/>
    <p:sldId id="1264" r:id="rId11"/>
    <p:sldId id="1299" r:id="rId12"/>
    <p:sldId id="1287" r:id="rId13"/>
    <p:sldId id="1344" r:id="rId14"/>
    <p:sldId id="973" r:id="rId15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3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12/18/2023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0.png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www.ti.com/lit/gpn/tlv246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eg"/><Relationship Id="rId5" Type="http://schemas.openxmlformats.org/officeDocument/2006/relationships/hyperlink" Target="https://en.wikipedia.org/wiki/Fantasound" TargetMode="External"/><Relationship Id="rId4" Type="http://schemas.openxmlformats.org/officeDocument/2006/relationships/image" Target="../media/image43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33B3E1-0D87-D6A9-78FC-3EA6D47CB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00" y="698474"/>
            <a:ext cx="5298279" cy="353788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4B64E8C-7BF5-78F5-2ED4-4DC9E406511F}"/>
              </a:ext>
            </a:extLst>
          </p:cNvPr>
          <p:cNvGrpSpPr/>
          <p:nvPr/>
        </p:nvGrpSpPr>
        <p:grpSpPr>
          <a:xfrm>
            <a:off x="5725008" y="926279"/>
            <a:ext cx="3172691" cy="4200717"/>
            <a:chOff x="5697345" y="814191"/>
            <a:chExt cx="3172691" cy="420071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E72BF4-1C3A-D1AC-9CA3-5FE2E816B79E}"/>
                </a:ext>
              </a:extLst>
            </p:cNvPr>
            <p:cNvSpPr txBox="1"/>
            <p:nvPr/>
          </p:nvSpPr>
          <p:spPr>
            <a:xfrm>
              <a:off x="6023301" y="2308225"/>
              <a:ext cx="2520778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Student #1</a:t>
              </a:r>
            </a:p>
            <a:p>
              <a:pPr algn="ctr"/>
              <a:r>
                <a:rPr lang="en-US" dirty="0"/>
                <a:t>Student #2</a:t>
              </a:r>
            </a:p>
            <a:p>
              <a:pPr algn="ctr"/>
              <a:r>
                <a:rPr lang="en-US" dirty="0"/>
                <a:t>Student #3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7C7F66-FBD2-4BF6-62E5-8A37BCFAF7E0}"/>
                </a:ext>
              </a:extLst>
            </p:cNvPr>
            <p:cNvSpPr txBox="1"/>
            <p:nvPr/>
          </p:nvSpPr>
          <p:spPr>
            <a:xfrm>
              <a:off x="5697345" y="814191"/>
              <a:ext cx="3172691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Control Systems</a:t>
              </a:r>
            </a:p>
            <a:p>
              <a:pPr algn="ctr"/>
              <a:r>
                <a:rPr lang="en-US" sz="2000" b="1" dirty="0"/>
                <a:t>Engineering</a:t>
              </a:r>
            </a:p>
            <a:p>
              <a:pPr algn="ctr"/>
              <a:r>
                <a:rPr lang="en-US" sz="2000" dirty="0"/>
                <a:t>(CSE 201)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DD062F-CCDE-C11A-48EF-C4C1D3DD1BFD}"/>
                </a:ext>
              </a:extLst>
            </p:cNvPr>
            <p:cNvSpPr txBox="1"/>
            <p:nvPr/>
          </p:nvSpPr>
          <p:spPr>
            <a:xfrm>
              <a:off x="5961841" y="4091578"/>
              <a:ext cx="2643698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Team 06</a:t>
              </a:r>
            </a:p>
            <a:p>
              <a:pPr algn="ctr"/>
              <a:r>
                <a:rPr lang="en-US" dirty="0"/>
                <a:t>Operational Amplifiers</a:t>
              </a:r>
            </a:p>
            <a:p>
              <a:pPr algn="ctr"/>
              <a:r>
                <a:rPr lang="en-US" dirty="0"/>
                <a:t>Negative Feedback Loops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F027732-83E6-04A2-5845-6ACA361CC4C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6028" y="5701304"/>
            <a:ext cx="2330650" cy="5688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03CD4A6-FFBC-151B-CD40-F585ACB1099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301" y="4390130"/>
            <a:ext cx="3281713" cy="17219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24EAD51-C7F2-8CD6-13FA-37E97B1526D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8260" y="5126996"/>
            <a:ext cx="2786319" cy="12461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87851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AC9EC5A-AA30-0150-2625-81420FE9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Our Challenge: </a:t>
            </a:r>
            <a:r>
              <a:rPr lang="en-US" sz="3200" b="1" dirty="0">
                <a:latin typeface="+mn-lt"/>
              </a:rPr>
              <a:t>Build a Signal Generator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D7B7B7-D6F9-7A61-6641-E30BF9549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98" y="1265843"/>
            <a:ext cx="6642633" cy="545563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332F1BB-CF24-79ED-83EF-54044477FCD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41"/>
          <a:stretch/>
        </p:blipFill>
        <p:spPr>
          <a:xfrm>
            <a:off x="2316604" y="2364778"/>
            <a:ext cx="1978702" cy="23204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DEF287-53F7-80D7-DEA1-DFE6C5172FAF}"/>
              </a:ext>
            </a:extLst>
          </p:cNvPr>
          <p:cNvSpPr txBox="1"/>
          <p:nvPr/>
        </p:nvSpPr>
        <p:spPr>
          <a:xfrm>
            <a:off x="4939825" y="2364778"/>
            <a:ext cx="1978702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 light emitting diode (LED) requires </a:t>
            </a:r>
            <a:r>
              <a:rPr lang="en-US" b="1" dirty="0">
                <a:solidFill>
                  <a:srgbClr val="FF0000"/>
                </a:solidFill>
              </a:rPr>
              <a:t>+2.0V</a:t>
            </a:r>
            <a:r>
              <a:rPr lang="en-US" dirty="0"/>
              <a:t> to shine visible light, so we had to find a way to </a:t>
            </a:r>
            <a:r>
              <a:rPr lang="en-US" b="1" dirty="0"/>
              <a:t>boost</a:t>
            </a:r>
            <a:r>
              <a:rPr lang="en-US" dirty="0"/>
              <a:t> the output </a:t>
            </a:r>
            <a:r>
              <a:rPr lang="en-US" u="sng" dirty="0"/>
              <a:t>voltage</a:t>
            </a:r>
            <a:r>
              <a:rPr lang="en-US" dirty="0"/>
              <a:t> of the AD9833 chip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94CD0C1-2BB4-84BC-047F-89404D59D0DC}"/>
              </a:ext>
            </a:extLst>
          </p:cNvPr>
          <p:cNvCxnSpPr>
            <a:cxnSpLocks/>
          </p:cNvCxnSpPr>
          <p:nvPr/>
        </p:nvCxnSpPr>
        <p:spPr>
          <a:xfrm>
            <a:off x="2036164" y="5201587"/>
            <a:ext cx="5418007" cy="0"/>
          </a:xfrm>
          <a:prstGeom prst="straightConnector1">
            <a:avLst/>
          </a:prstGeom>
          <a:ln w="38100">
            <a:solidFill>
              <a:schemeClr val="bg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274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A760C96D-C69A-5811-7C54-618E19F5A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935" y="1688523"/>
            <a:ext cx="4027122" cy="40357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A Low-Power Oscillator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51392F-8918-817A-2804-126915864B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262"/>
          <a:stretch/>
        </p:blipFill>
        <p:spPr>
          <a:xfrm>
            <a:off x="6076284" y="1920919"/>
            <a:ext cx="2057401" cy="30257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0E90B88-76CA-54A5-3E45-27C7B314BF1B}"/>
              </a:ext>
            </a:extLst>
          </p:cNvPr>
          <p:cNvSpPr/>
          <p:nvPr/>
        </p:nvSpPr>
        <p:spPr>
          <a:xfrm>
            <a:off x="6356470" y="2001499"/>
            <a:ext cx="271463" cy="274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0F9485-4C4C-FE3D-690E-76EE86D89403}"/>
              </a:ext>
            </a:extLst>
          </p:cNvPr>
          <p:cNvSpPr/>
          <p:nvPr/>
        </p:nvSpPr>
        <p:spPr>
          <a:xfrm>
            <a:off x="6356470" y="2428849"/>
            <a:ext cx="271463" cy="274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11D00B-7DB4-C7A8-739F-1EE8F7D0C669}"/>
              </a:ext>
            </a:extLst>
          </p:cNvPr>
          <p:cNvSpPr/>
          <p:nvPr/>
        </p:nvSpPr>
        <p:spPr>
          <a:xfrm>
            <a:off x="6356470" y="2856199"/>
            <a:ext cx="271463" cy="274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B8149F-F5D2-6A77-AAD9-92D864B1C131}"/>
              </a:ext>
            </a:extLst>
          </p:cNvPr>
          <p:cNvSpPr/>
          <p:nvPr/>
        </p:nvSpPr>
        <p:spPr>
          <a:xfrm>
            <a:off x="6356470" y="3283549"/>
            <a:ext cx="271463" cy="274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4E5FF8-A6F0-2968-B2D3-9E7F7B9A939B}"/>
              </a:ext>
            </a:extLst>
          </p:cNvPr>
          <p:cNvSpPr/>
          <p:nvPr/>
        </p:nvSpPr>
        <p:spPr>
          <a:xfrm>
            <a:off x="6356470" y="4595318"/>
            <a:ext cx="271463" cy="274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D534FD-4EBA-F4D2-F6BA-BAF50680C1F4}"/>
              </a:ext>
            </a:extLst>
          </p:cNvPr>
          <p:cNvSpPr/>
          <p:nvPr/>
        </p:nvSpPr>
        <p:spPr>
          <a:xfrm>
            <a:off x="4617594" y="2441018"/>
            <a:ext cx="271463" cy="248227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908DE8-891F-39D2-39E5-1A01EAD3E6A5}"/>
              </a:ext>
            </a:extLst>
          </p:cNvPr>
          <p:cNvSpPr/>
          <p:nvPr/>
        </p:nvSpPr>
        <p:spPr>
          <a:xfrm>
            <a:off x="4599187" y="3014086"/>
            <a:ext cx="271463" cy="248227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73330B-1FC7-7021-0B2F-9F3CA714C308}"/>
              </a:ext>
            </a:extLst>
          </p:cNvPr>
          <p:cNvSpPr/>
          <p:nvPr/>
        </p:nvSpPr>
        <p:spPr>
          <a:xfrm>
            <a:off x="4599187" y="4448550"/>
            <a:ext cx="271463" cy="27432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84EB0C-FED5-39E1-2B5D-0331B0A2ADB0}"/>
              </a:ext>
            </a:extLst>
          </p:cNvPr>
          <p:cNvSpPr/>
          <p:nvPr/>
        </p:nvSpPr>
        <p:spPr>
          <a:xfrm>
            <a:off x="4617594" y="5338264"/>
            <a:ext cx="271463" cy="21957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A3B555-85D0-D531-F7AB-4F3B98CE15DD}"/>
              </a:ext>
            </a:extLst>
          </p:cNvPr>
          <p:cNvSpPr/>
          <p:nvPr/>
        </p:nvSpPr>
        <p:spPr>
          <a:xfrm>
            <a:off x="4617594" y="5047752"/>
            <a:ext cx="271463" cy="219574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044CFD-A893-3D71-1E21-01BDB6A35853}"/>
              </a:ext>
            </a:extLst>
          </p:cNvPr>
          <p:cNvSpPr txBox="1"/>
          <p:nvPr/>
        </p:nvSpPr>
        <p:spPr>
          <a:xfrm>
            <a:off x="6495540" y="1964226"/>
            <a:ext cx="452402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V</a:t>
            </a:r>
            <a:r>
              <a:rPr lang="en-US" sz="1600" b="1" baseline="-25000" dirty="0">
                <a:solidFill>
                  <a:srgbClr val="FF0000"/>
                </a:solidFill>
              </a:rPr>
              <a:t>CC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B04F07-7997-1E8F-19FF-C1874FE6D1A9}"/>
              </a:ext>
            </a:extLst>
          </p:cNvPr>
          <p:cNvSpPr txBox="1"/>
          <p:nvPr/>
        </p:nvSpPr>
        <p:spPr>
          <a:xfrm>
            <a:off x="6495538" y="2381343"/>
            <a:ext cx="579820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GND</a:t>
            </a:r>
            <a:endParaRPr lang="en-US" sz="1600" b="1" baseline="-25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9653FA-5A76-D362-13D2-5F805FA0614B}"/>
              </a:ext>
            </a:extLst>
          </p:cNvPr>
          <p:cNvSpPr txBox="1"/>
          <p:nvPr/>
        </p:nvSpPr>
        <p:spPr>
          <a:xfrm>
            <a:off x="6495538" y="2841767"/>
            <a:ext cx="730578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SDATA</a:t>
            </a:r>
            <a:endParaRPr lang="en-US" sz="1600" b="1" baseline="-25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18EC27-DD39-41B1-47AD-75A3B13ECD8E}"/>
              </a:ext>
            </a:extLst>
          </p:cNvPr>
          <p:cNvSpPr txBox="1"/>
          <p:nvPr/>
        </p:nvSpPr>
        <p:spPr>
          <a:xfrm>
            <a:off x="6495538" y="3251432"/>
            <a:ext cx="639781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SCLK</a:t>
            </a:r>
            <a:endParaRPr lang="en-US" sz="1600" b="1" baseline="-250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7D3AD6D-007A-D2A7-ED7B-16C9B1E8FF46}"/>
              </a:ext>
            </a:extLst>
          </p:cNvPr>
          <p:cNvSpPr/>
          <p:nvPr/>
        </p:nvSpPr>
        <p:spPr>
          <a:xfrm>
            <a:off x="4601452" y="4168756"/>
            <a:ext cx="271463" cy="23749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064DE26A-F66B-13A0-C687-E1692FDA6D63}"/>
              </a:ext>
            </a:extLst>
          </p:cNvPr>
          <p:cNvCxnSpPr>
            <a:stCxn id="20" idx="3"/>
            <a:endCxn id="14" idx="1"/>
          </p:cNvCxnSpPr>
          <p:nvPr/>
        </p:nvCxnSpPr>
        <p:spPr>
          <a:xfrm flipV="1">
            <a:off x="4870650" y="2138659"/>
            <a:ext cx="1485820" cy="999541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249EBC8D-3508-EF32-545F-F325C1391CAA}"/>
              </a:ext>
            </a:extLst>
          </p:cNvPr>
          <p:cNvCxnSpPr>
            <a:cxnSpLocks/>
            <a:stCxn id="19" idx="3"/>
            <a:endCxn id="15" idx="1"/>
          </p:cNvCxnSpPr>
          <p:nvPr/>
        </p:nvCxnSpPr>
        <p:spPr>
          <a:xfrm>
            <a:off x="4889057" y="2565132"/>
            <a:ext cx="1467413" cy="877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493F9A77-912A-8EC6-F49B-538FB010B71F}"/>
              </a:ext>
            </a:extLst>
          </p:cNvPr>
          <p:cNvCxnSpPr>
            <a:cxnSpLocks/>
            <a:stCxn id="21" idx="3"/>
            <a:endCxn id="17" idx="1"/>
          </p:cNvCxnSpPr>
          <p:nvPr/>
        </p:nvCxnSpPr>
        <p:spPr>
          <a:xfrm flipV="1">
            <a:off x="4870650" y="3420709"/>
            <a:ext cx="1485820" cy="1165001"/>
          </a:xfrm>
          <a:prstGeom prst="bentConnector3">
            <a:avLst>
              <a:gd name="adj1" fmla="val 46974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9D4F30A2-F794-B98E-A35E-CCABFDCB4634}"/>
              </a:ext>
            </a:extLst>
          </p:cNvPr>
          <p:cNvCxnSpPr>
            <a:cxnSpLocks/>
            <a:stCxn id="30" idx="3"/>
            <a:endCxn id="18" idx="1"/>
          </p:cNvCxnSpPr>
          <p:nvPr/>
        </p:nvCxnSpPr>
        <p:spPr>
          <a:xfrm>
            <a:off x="4872915" y="4287504"/>
            <a:ext cx="1483555" cy="444974"/>
          </a:xfrm>
          <a:prstGeom prst="bentConnector3">
            <a:avLst>
              <a:gd name="adj1" fmla="val 25749"/>
            </a:avLst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818837FE-DF29-7A2C-CDB9-1A5836A8E710}"/>
              </a:ext>
            </a:extLst>
          </p:cNvPr>
          <p:cNvSpPr/>
          <p:nvPr/>
        </p:nvSpPr>
        <p:spPr>
          <a:xfrm>
            <a:off x="6366675" y="3721376"/>
            <a:ext cx="271463" cy="274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1BFF27-DF63-F4B9-F01E-10E407AB0522}"/>
              </a:ext>
            </a:extLst>
          </p:cNvPr>
          <p:cNvSpPr txBox="1"/>
          <p:nvPr/>
        </p:nvSpPr>
        <p:spPr>
          <a:xfrm>
            <a:off x="6497349" y="3689405"/>
            <a:ext cx="817852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FSYNC*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95A125EA-9D71-3C87-4EB7-9920F2F6E254}"/>
              </a:ext>
            </a:extLst>
          </p:cNvPr>
          <p:cNvCxnSpPr>
            <a:cxnSpLocks/>
            <a:stCxn id="23" idx="3"/>
            <a:endCxn id="16" idx="1"/>
          </p:cNvCxnSpPr>
          <p:nvPr/>
        </p:nvCxnSpPr>
        <p:spPr>
          <a:xfrm flipV="1">
            <a:off x="4889057" y="2993359"/>
            <a:ext cx="1467413" cy="2164180"/>
          </a:xfrm>
          <a:prstGeom prst="bentConnector3">
            <a:avLst>
              <a:gd name="adj1" fmla="val 59194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19DECC7D-F531-73DB-DD72-5760539C7ED5}"/>
              </a:ext>
            </a:extLst>
          </p:cNvPr>
          <p:cNvCxnSpPr>
            <a:cxnSpLocks/>
            <a:stCxn id="22" idx="3"/>
            <a:endCxn id="40" idx="1"/>
          </p:cNvCxnSpPr>
          <p:nvPr/>
        </p:nvCxnSpPr>
        <p:spPr>
          <a:xfrm flipV="1">
            <a:off x="4889057" y="3858536"/>
            <a:ext cx="1477618" cy="1589515"/>
          </a:xfrm>
          <a:prstGeom prst="bentConnector3">
            <a:avLst>
              <a:gd name="adj1" fmla="val 70290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AF5E777-56EC-BE9D-072C-1112A86554B7}"/>
              </a:ext>
            </a:extLst>
          </p:cNvPr>
          <p:cNvSpPr txBox="1"/>
          <p:nvPr/>
        </p:nvSpPr>
        <p:spPr>
          <a:xfrm>
            <a:off x="1268114" y="5924682"/>
            <a:ext cx="34852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MISO → POCI (Peripheral Out / Controller In)</a:t>
            </a:r>
          </a:p>
          <a:p>
            <a:r>
              <a:rPr lang="en-US" sz="1400" dirty="0"/>
              <a:t>MOSI → PICO (Peripheral In / Controller Out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85D910B-2F55-CFD8-114B-17954BC3D17E}"/>
              </a:ext>
            </a:extLst>
          </p:cNvPr>
          <p:cNvSpPr txBox="1"/>
          <p:nvPr/>
        </p:nvSpPr>
        <p:spPr>
          <a:xfrm>
            <a:off x="6141434" y="4967511"/>
            <a:ext cx="22206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SDATA = Serial Data</a:t>
            </a:r>
          </a:p>
          <a:p>
            <a:r>
              <a:rPr lang="en-US" sz="1400" dirty="0"/>
              <a:t>SCLK = Serial Clock</a:t>
            </a:r>
          </a:p>
          <a:p>
            <a:r>
              <a:rPr lang="en-US" sz="1400" dirty="0"/>
              <a:t>FSYNC* → CS* (Chip Select)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20F27D-987C-F569-8F12-DA22F46E24E6}"/>
              </a:ext>
            </a:extLst>
          </p:cNvPr>
          <p:cNvSpPr txBox="1"/>
          <p:nvPr/>
        </p:nvSpPr>
        <p:spPr>
          <a:xfrm>
            <a:off x="6492201" y="4531084"/>
            <a:ext cx="58315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V</a:t>
            </a:r>
            <a:r>
              <a:rPr lang="en-US" sz="1600" b="1" baseline="-25000" dirty="0"/>
              <a:t>OUT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11BD8DF-1D09-4C06-F105-98D0980DDCAB}"/>
              </a:ext>
            </a:extLst>
          </p:cNvPr>
          <p:cNvSpPr txBox="1"/>
          <p:nvPr/>
        </p:nvSpPr>
        <p:spPr>
          <a:xfrm>
            <a:off x="6076284" y="1536492"/>
            <a:ext cx="2057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7030A0"/>
                </a:solidFill>
              </a:rPr>
              <a:t>AD9833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C4B243-D773-90C0-FACF-DEABF4938001}"/>
              </a:ext>
            </a:extLst>
          </p:cNvPr>
          <p:cNvSpPr txBox="1"/>
          <p:nvPr/>
        </p:nvSpPr>
        <p:spPr>
          <a:xfrm>
            <a:off x="5517974" y="5842831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GPIO Pin A0 will be set in </a:t>
            </a:r>
            <a:r>
              <a:rPr lang="en-US" b="1" dirty="0">
                <a:solidFill>
                  <a:srgbClr val="00B050"/>
                </a:solidFill>
              </a:rPr>
              <a:t>ADC</a:t>
            </a:r>
            <a:r>
              <a:rPr lang="en-US" dirty="0">
                <a:solidFill>
                  <a:srgbClr val="00B050"/>
                </a:solidFill>
              </a:rPr>
              <a:t> mode</a:t>
            </a:r>
          </a:p>
        </p:txBody>
      </p:sp>
    </p:spTree>
    <p:extLst>
      <p:ext uri="{BB962C8B-B14F-4D97-AF65-F5344CB8AC3E}">
        <p14:creationId xmlns:p14="http://schemas.microsoft.com/office/powerpoint/2010/main" val="1836371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760D340-17F3-6DAB-2D66-51D6B74B8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471" y="1690689"/>
            <a:ext cx="4314286" cy="36761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A Resistor-Network “Voltage Divider”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9AD0BE2-1DA8-7CAE-755D-C259EA0F5BE0}"/>
                  </a:ext>
                </a:extLst>
              </p:cNvPr>
              <p:cNvSpPr txBox="1"/>
              <p:nvPr/>
            </p:nvSpPr>
            <p:spPr>
              <a:xfrm>
                <a:off x="1370322" y="3729421"/>
                <a:ext cx="16839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9AD0BE2-1DA8-7CAE-755D-C259EA0F5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0322" y="3729421"/>
                <a:ext cx="1683923" cy="276999"/>
              </a:xfrm>
              <a:prstGeom prst="rect">
                <a:avLst/>
              </a:prstGeom>
              <a:blipFill>
                <a:blip r:embed="rId3"/>
                <a:stretch>
                  <a:fillRect l="-2899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54FDCF7-1304-62A7-10EB-81C3D2821CBD}"/>
                  </a:ext>
                </a:extLst>
              </p:cNvPr>
              <p:cNvSpPr txBox="1"/>
              <p:nvPr/>
            </p:nvSpPr>
            <p:spPr>
              <a:xfrm>
                <a:off x="1394560" y="4153867"/>
                <a:ext cx="786176" cy="5201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54FDCF7-1304-62A7-10EB-81C3D2821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4560" y="4153867"/>
                <a:ext cx="786176" cy="5201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DF53782-411F-0469-173F-B69CEDD03932}"/>
                  </a:ext>
                </a:extLst>
              </p:cNvPr>
              <p:cNvSpPr txBox="1"/>
              <p:nvPr/>
            </p:nvSpPr>
            <p:spPr>
              <a:xfrm>
                <a:off x="1394560" y="4821456"/>
                <a:ext cx="1792157" cy="5201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DF53782-411F-0469-173F-B69CEDD03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4560" y="4821456"/>
                <a:ext cx="1792157" cy="5201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99368A1-7A16-8B30-205C-D103A658BD9A}"/>
                  </a:ext>
                </a:extLst>
              </p:cNvPr>
              <p:cNvSpPr txBox="1"/>
              <p:nvPr/>
            </p:nvSpPr>
            <p:spPr>
              <a:xfrm>
                <a:off x="1408519" y="5489042"/>
                <a:ext cx="1771446" cy="563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99368A1-7A16-8B30-205C-D103A658B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519" y="5489042"/>
                <a:ext cx="1771446" cy="5638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3639B61C-F63F-3CA6-FD1C-C094DAE8997D}"/>
              </a:ext>
            </a:extLst>
          </p:cNvPr>
          <p:cNvGrpSpPr/>
          <p:nvPr/>
        </p:nvGrpSpPr>
        <p:grpSpPr>
          <a:xfrm>
            <a:off x="488243" y="1785417"/>
            <a:ext cx="2176152" cy="338554"/>
            <a:chOff x="315858" y="1785417"/>
            <a:chExt cx="2176152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A8D2CA5-1A28-4749-AAEB-5EC9DB44818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222175" y="1816195"/>
                  <a:ext cx="126983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A8D2CA5-1A28-4749-AAEB-5EC9DB4481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2175" y="1816195"/>
                  <a:ext cx="1269835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4327" r="-1442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32AC806-3360-4E7A-1E19-D37333D7440C}"/>
                </a:ext>
              </a:extLst>
            </p:cNvPr>
            <p:cNvSpPr txBox="1"/>
            <p:nvPr/>
          </p:nvSpPr>
          <p:spPr>
            <a:xfrm>
              <a:off x="315858" y="1785417"/>
              <a:ext cx="6895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</a:rPr>
                <a:t>KVL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AE86BE8-6BB7-1689-FC52-AFB102E43C58}"/>
              </a:ext>
            </a:extLst>
          </p:cNvPr>
          <p:cNvGrpSpPr/>
          <p:nvPr/>
        </p:nvGrpSpPr>
        <p:grpSpPr>
          <a:xfrm>
            <a:off x="488243" y="2271418"/>
            <a:ext cx="1874145" cy="338554"/>
            <a:chOff x="315858" y="2235738"/>
            <a:chExt cx="1874145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7EF2EB4-61D2-7DAB-45B9-47A8E582F79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97937" y="2271418"/>
                  <a:ext cx="99206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7EF2EB4-61D2-7DAB-45B9-47A8E582F7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7937" y="2271418"/>
                  <a:ext cx="992066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3681" r="-1840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0E45E36-7E59-00F1-F4B5-597740B7BB9E}"/>
                </a:ext>
              </a:extLst>
            </p:cNvPr>
            <p:cNvSpPr txBox="1"/>
            <p:nvPr/>
          </p:nvSpPr>
          <p:spPr>
            <a:xfrm>
              <a:off x="315858" y="2235738"/>
              <a:ext cx="6895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</a:rPr>
                <a:t>Ohms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C841AF-067A-DCBD-74D7-84B884FF2C65}"/>
              </a:ext>
            </a:extLst>
          </p:cNvPr>
          <p:cNvGrpSpPr/>
          <p:nvPr/>
        </p:nvGrpSpPr>
        <p:grpSpPr>
          <a:xfrm>
            <a:off x="488243" y="2757419"/>
            <a:ext cx="1908992" cy="338554"/>
            <a:chOff x="315858" y="2695863"/>
            <a:chExt cx="1908992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FD7BACE-EEAD-65B2-6C6C-30C7CA16F5C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208546" y="2726641"/>
                  <a:ext cx="101630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FD7BACE-EEAD-65B2-6C6C-30C7CA16F5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8546" y="2726641"/>
                  <a:ext cx="1016304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012" r="-1807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375DE68-FF9F-9506-E4E9-10EF8556D032}"/>
                </a:ext>
              </a:extLst>
            </p:cNvPr>
            <p:cNvSpPr txBox="1"/>
            <p:nvPr/>
          </p:nvSpPr>
          <p:spPr>
            <a:xfrm>
              <a:off x="315858" y="2695863"/>
              <a:ext cx="6895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</a:rPr>
                <a:t>Ohms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3D9BA6C-E3A7-A660-0635-B4353B7B377C}"/>
              </a:ext>
            </a:extLst>
          </p:cNvPr>
          <p:cNvGrpSpPr/>
          <p:nvPr/>
        </p:nvGrpSpPr>
        <p:grpSpPr>
          <a:xfrm>
            <a:off x="488243" y="3243420"/>
            <a:ext cx="1631368" cy="338554"/>
            <a:chOff x="315858" y="3151086"/>
            <a:chExt cx="1631368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FD0AA2A-95C9-A076-E36D-EA726B11EF30}"/>
                    </a:ext>
                  </a:extLst>
                </p:cNvPr>
                <p:cNvSpPr txBox="1"/>
                <p:nvPr/>
              </p:nvSpPr>
              <p:spPr>
                <a:xfrm>
                  <a:off x="1236134" y="3181864"/>
                  <a:ext cx="71109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4FD0AA2A-95C9-A076-E36D-EA726B11EF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6134" y="3181864"/>
                  <a:ext cx="711092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7692" r="-2564"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0D4BE1C-568C-B414-D982-F8A79596D676}"/>
                </a:ext>
              </a:extLst>
            </p:cNvPr>
            <p:cNvSpPr txBox="1"/>
            <p:nvPr/>
          </p:nvSpPr>
          <p:spPr>
            <a:xfrm>
              <a:off x="315858" y="3151086"/>
              <a:ext cx="6895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</a:rPr>
                <a:t>KCL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BBB9D44D-969A-A9D9-C6EF-56D109BD4ED1}"/>
              </a:ext>
            </a:extLst>
          </p:cNvPr>
          <p:cNvSpPr txBox="1"/>
          <p:nvPr/>
        </p:nvSpPr>
        <p:spPr>
          <a:xfrm>
            <a:off x="2831112" y="2557364"/>
            <a:ext cx="957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+3.3V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898FA1-D680-3ED4-60D2-36487D6B4095}"/>
              </a:ext>
            </a:extLst>
          </p:cNvPr>
          <p:cNvSpPr txBox="1"/>
          <p:nvPr/>
        </p:nvSpPr>
        <p:spPr>
          <a:xfrm>
            <a:off x="5986866" y="2418865"/>
            <a:ext cx="957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330Ω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8F6647-DB96-568C-F650-B419E1F9C9AD}"/>
              </a:ext>
            </a:extLst>
          </p:cNvPr>
          <p:cNvSpPr txBox="1"/>
          <p:nvPr/>
        </p:nvSpPr>
        <p:spPr>
          <a:xfrm>
            <a:off x="6036603" y="4153867"/>
            <a:ext cx="957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2KΩ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25B042-DEB7-0B04-FEE3-2D5C40575BBF}"/>
              </a:ext>
            </a:extLst>
          </p:cNvPr>
          <p:cNvSpPr txBox="1"/>
          <p:nvPr/>
        </p:nvSpPr>
        <p:spPr>
          <a:xfrm>
            <a:off x="6835098" y="3243420"/>
            <a:ext cx="957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+ 2.83V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5993FC0-1DFD-6304-4B24-F0278DD0C6AB}"/>
                  </a:ext>
                </a:extLst>
              </p:cNvPr>
              <p:cNvSpPr txBox="1"/>
              <p:nvPr/>
            </p:nvSpPr>
            <p:spPr>
              <a:xfrm>
                <a:off x="4422647" y="5489042"/>
                <a:ext cx="3369769" cy="559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3.3</m:t>
                          </m:r>
                        </m:e>
                      </m:d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000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330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2000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=2.83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5993FC0-1DFD-6304-4B24-F0278DD0C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647" y="5489042"/>
                <a:ext cx="3369769" cy="5596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550BF564-C8C7-8FF1-2667-9682A0A4A758}"/>
              </a:ext>
            </a:extLst>
          </p:cNvPr>
          <p:cNvSpPr/>
          <p:nvPr/>
        </p:nvSpPr>
        <p:spPr>
          <a:xfrm>
            <a:off x="7103312" y="5621311"/>
            <a:ext cx="634615" cy="3222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C6EA8DD-7B9C-C03D-8508-85E957D53C65}"/>
              </a:ext>
            </a:extLst>
          </p:cNvPr>
          <p:cNvSpPr/>
          <p:nvPr/>
        </p:nvSpPr>
        <p:spPr>
          <a:xfrm>
            <a:off x="7103312" y="3292961"/>
            <a:ext cx="634615" cy="3222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1E6BC4B-1388-E7E3-1146-FF2855F547C5}"/>
              </a:ext>
            </a:extLst>
          </p:cNvPr>
          <p:cNvCxnSpPr>
            <a:cxnSpLocks/>
            <a:stCxn id="41" idx="0"/>
            <a:endCxn id="42" idx="2"/>
          </p:cNvCxnSpPr>
          <p:nvPr/>
        </p:nvCxnSpPr>
        <p:spPr>
          <a:xfrm flipV="1">
            <a:off x="7420620" y="3615250"/>
            <a:ext cx="0" cy="2006061"/>
          </a:xfrm>
          <a:prstGeom prst="straightConnector1">
            <a:avLst/>
          </a:prstGeom>
          <a:ln w="28575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D1F6DE4-0294-404C-00E3-D9A95BB36D24}"/>
              </a:ext>
            </a:extLst>
          </p:cNvPr>
          <p:cNvCxnSpPr/>
          <p:nvPr/>
        </p:nvCxnSpPr>
        <p:spPr>
          <a:xfrm>
            <a:off x="5778706" y="2123971"/>
            <a:ext cx="0" cy="105394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5D98933-E344-4BFF-865B-D10D233F0ED4}"/>
              </a:ext>
            </a:extLst>
          </p:cNvPr>
          <p:cNvCxnSpPr/>
          <p:nvPr/>
        </p:nvCxnSpPr>
        <p:spPr>
          <a:xfrm>
            <a:off x="5778706" y="3867920"/>
            <a:ext cx="0" cy="105394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6AB8CEC-EAF8-F084-EF7A-E7E604391B9D}"/>
              </a:ext>
            </a:extLst>
          </p:cNvPr>
          <p:cNvCxnSpPr>
            <a:cxnSpLocks/>
          </p:cNvCxnSpPr>
          <p:nvPr/>
        </p:nvCxnSpPr>
        <p:spPr>
          <a:xfrm>
            <a:off x="5778706" y="3022600"/>
            <a:ext cx="0" cy="3900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CDE8B5C-C860-9BED-1B97-77C5445B8F59}"/>
              </a:ext>
            </a:extLst>
          </p:cNvPr>
          <p:cNvCxnSpPr>
            <a:cxnSpLocks/>
          </p:cNvCxnSpPr>
          <p:nvPr/>
        </p:nvCxnSpPr>
        <p:spPr>
          <a:xfrm>
            <a:off x="5778706" y="3477823"/>
            <a:ext cx="0" cy="5607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824808E-2CA9-D175-3107-42D61DE6B527}"/>
              </a:ext>
            </a:extLst>
          </p:cNvPr>
          <p:cNvSpPr txBox="1"/>
          <p:nvPr/>
        </p:nvSpPr>
        <p:spPr>
          <a:xfrm>
            <a:off x="6007422" y="3043365"/>
            <a:ext cx="957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+ ?? V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4144ECD-55F5-B8E9-17EB-03BEE96013BD}"/>
              </a:ext>
            </a:extLst>
          </p:cNvPr>
          <p:cNvCxnSpPr/>
          <p:nvPr/>
        </p:nvCxnSpPr>
        <p:spPr>
          <a:xfrm>
            <a:off x="3877454" y="2043950"/>
            <a:ext cx="0" cy="1053944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none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29B5C8-6C28-9F03-EEB2-EEA023D83B3C}"/>
                  </a:ext>
                </a:extLst>
              </p:cNvPr>
              <p:cNvSpPr txBox="1"/>
              <p:nvPr/>
            </p:nvSpPr>
            <p:spPr>
              <a:xfrm>
                <a:off x="5234015" y="2993249"/>
                <a:ext cx="4967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29B5C8-6C28-9F03-EEB2-EEA023D83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015" y="2993249"/>
                <a:ext cx="49670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79AA0C-EDFF-8EF7-B421-0254E8AB976C}"/>
                  </a:ext>
                </a:extLst>
              </p:cNvPr>
              <p:cNvSpPr txBox="1"/>
              <p:nvPr/>
            </p:nvSpPr>
            <p:spPr>
              <a:xfrm>
                <a:off x="5237475" y="3454105"/>
                <a:ext cx="4967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79AA0C-EDFF-8EF7-B421-0254E8AB9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475" y="3454105"/>
                <a:ext cx="49670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50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55158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Operational Amplifiers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13CC83-5236-1A85-D7D4-BC5318EDF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825" y="1690689"/>
            <a:ext cx="4032350" cy="46656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60C273-85DA-9D69-7D08-DEF42727F9CB}"/>
              </a:ext>
            </a:extLst>
          </p:cNvPr>
          <p:cNvSpPr txBox="1"/>
          <p:nvPr/>
        </p:nvSpPr>
        <p:spPr>
          <a:xfrm>
            <a:off x="6401268" y="3532231"/>
            <a:ext cx="23009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Here, we see a </a:t>
            </a:r>
            <a:r>
              <a:rPr lang="en-US" b="1" dirty="0">
                <a:solidFill>
                  <a:srgbClr val="7030A0"/>
                </a:solidFill>
              </a:rPr>
              <a:t>voltage divider</a:t>
            </a:r>
            <a:r>
              <a:rPr lang="en-US" dirty="0">
                <a:solidFill>
                  <a:srgbClr val="7030A0"/>
                </a:solidFill>
              </a:rPr>
              <a:t> placed on the Op-Amp </a:t>
            </a:r>
            <a:r>
              <a:rPr lang="en-US" i="1" dirty="0">
                <a:solidFill>
                  <a:srgbClr val="7030A0"/>
                </a:solidFill>
              </a:rPr>
              <a:t>output </a:t>
            </a:r>
            <a:r>
              <a:rPr lang="en-US" dirty="0">
                <a:solidFill>
                  <a:srgbClr val="7030A0"/>
                </a:solidFill>
              </a:rPr>
              <a:t>pin,  with the </a:t>
            </a:r>
            <a:r>
              <a:rPr lang="en-US" u="sng" dirty="0">
                <a:solidFill>
                  <a:srgbClr val="7030A0"/>
                </a:solidFill>
              </a:rPr>
              <a:t>middle tap</a:t>
            </a:r>
            <a:r>
              <a:rPr lang="en-US" dirty="0">
                <a:solidFill>
                  <a:srgbClr val="7030A0"/>
                </a:solidFill>
              </a:rPr>
              <a:t> routed back to the inverting </a:t>
            </a:r>
            <a:r>
              <a:rPr lang="en-US" i="1" dirty="0">
                <a:solidFill>
                  <a:srgbClr val="7030A0"/>
                </a:solidFill>
              </a:rPr>
              <a:t>input</a:t>
            </a:r>
            <a:r>
              <a:rPr lang="en-US" dirty="0">
                <a:solidFill>
                  <a:srgbClr val="7030A0"/>
                </a:solidFill>
              </a:rPr>
              <a:t> pin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1332F2-398D-02D6-0C00-89CC4C705984}"/>
              </a:ext>
            </a:extLst>
          </p:cNvPr>
          <p:cNvCxnSpPr/>
          <p:nvPr/>
        </p:nvCxnSpPr>
        <p:spPr>
          <a:xfrm flipH="1">
            <a:off x="4422098" y="4317167"/>
            <a:ext cx="83945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081929-9A70-7BD9-D558-ABFE37BC2189}"/>
              </a:ext>
            </a:extLst>
          </p:cNvPr>
          <p:cNvCxnSpPr>
            <a:cxnSpLocks/>
          </p:cNvCxnSpPr>
          <p:nvPr/>
        </p:nvCxnSpPr>
        <p:spPr>
          <a:xfrm flipV="1">
            <a:off x="3493295" y="3429000"/>
            <a:ext cx="0" cy="6334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2A686E-64D6-01C7-F72A-96BA1A1D871C}"/>
              </a:ext>
            </a:extLst>
          </p:cNvPr>
          <p:cNvCxnSpPr>
            <a:cxnSpLocks/>
          </p:cNvCxnSpPr>
          <p:nvPr/>
        </p:nvCxnSpPr>
        <p:spPr>
          <a:xfrm>
            <a:off x="3493295" y="3036093"/>
            <a:ext cx="33575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F57FADF-4921-EF29-B3C5-7C2A28204CC2}"/>
              </a:ext>
            </a:extLst>
          </p:cNvPr>
          <p:cNvSpPr txBox="1"/>
          <p:nvPr/>
        </p:nvSpPr>
        <p:spPr>
          <a:xfrm>
            <a:off x="628650" y="3532231"/>
            <a:ext cx="23009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An Op-Amp strives to </a:t>
            </a:r>
            <a:r>
              <a:rPr lang="en-US" b="1" dirty="0">
                <a:solidFill>
                  <a:srgbClr val="7030A0"/>
                </a:solidFill>
              </a:rPr>
              <a:t>zero the voltage difference</a:t>
            </a:r>
            <a:r>
              <a:rPr lang="en-US" dirty="0">
                <a:solidFill>
                  <a:srgbClr val="7030A0"/>
                </a:solidFill>
              </a:rPr>
              <a:t> between the two </a:t>
            </a:r>
            <a:r>
              <a:rPr lang="en-US" i="1" dirty="0">
                <a:solidFill>
                  <a:srgbClr val="7030A0"/>
                </a:solidFill>
              </a:rPr>
              <a:t>input</a:t>
            </a:r>
            <a:r>
              <a:rPr lang="en-US" dirty="0">
                <a:solidFill>
                  <a:srgbClr val="7030A0"/>
                </a:solidFill>
              </a:rPr>
              <a:t> pins if given a </a:t>
            </a:r>
            <a:r>
              <a:rPr lang="en-US" u="sng" dirty="0">
                <a:solidFill>
                  <a:srgbClr val="7030A0"/>
                </a:solidFill>
              </a:rPr>
              <a:t>negative feedback</a:t>
            </a:r>
            <a:r>
              <a:rPr lang="en-US" dirty="0">
                <a:solidFill>
                  <a:srgbClr val="7030A0"/>
                </a:solidFill>
              </a:rPr>
              <a:t> loop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3FE2E5C-24BF-D041-509C-94B79C1259CC}"/>
              </a:ext>
            </a:extLst>
          </p:cNvPr>
          <p:cNvCxnSpPr/>
          <p:nvPr/>
        </p:nvCxnSpPr>
        <p:spPr>
          <a:xfrm>
            <a:off x="2929640" y="2359206"/>
            <a:ext cx="0" cy="676887"/>
          </a:xfrm>
          <a:prstGeom prst="straightConnector1">
            <a:avLst/>
          </a:prstGeom>
          <a:ln w="571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0232F7C-A4EC-158B-B65E-0485C1F87344}"/>
                  </a:ext>
                </a:extLst>
              </p:cNvPr>
              <p:cNvSpPr txBox="1"/>
              <p:nvPr/>
            </p:nvSpPr>
            <p:spPr>
              <a:xfrm>
                <a:off x="2892165" y="2539955"/>
                <a:ext cx="80592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ln>
                    <a:solidFill>
                      <a:srgbClr val="0070C0"/>
                    </a:solidFill>
                  </a:ln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0232F7C-A4EC-158B-B65E-0485C1F87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165" y="2539955"/>
                <a:ext cx="80592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0781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Operational Amplifiers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5A12AF-BA9B-77D8-6AD3-588069635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460" y="1739092"/>
            <a:ext cx="4578609" cy="28980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343A0B-2894-8EB8-8689-FD6C9E247E10}"/>
                  </a:ext>
                </a:extLst>
              </p:cNvPr>
              <p:cNvSpPr txBox="1"/>
              <p:nvPr/>
            </p:nvSpPr>
            <p:spPr>
              <a:xfrm>
                <a:off x="1075465" y="3202688"/>
                <a:ext cx="2000932" cy="563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343A0B-2894-8EB8-8689-FD6C9E247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465" y="3202688"/>
                <a:ext cx="2000932" cy="563872"/>
              </a:xfrm>
              <a:prstGeom prst="rect">
                <a:avLst/>
              </a:prstGeom>
              <a:blipFill>
                <a:blip r:embed="rId3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2A5543-EFD6-743D-DAFD-15BB9EFD0D7E}"/>
                  </a:ext>
                </a:extLst>
              </p:cNvPr>
              <p:cNvSpPr txBox="1"/>
              <p:nvPr/>
            </p:nvSpPr>
            <p:spPr>
              <a:xfrm>
                <a:off x="6878933" y="3346124"/>
                <a:ext cx="18951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n>
                                    <a:solidFill>
                                      <a:srgbClr val="7030A0"/>
                                    </a:solidFill>
                                  </a:ln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dirty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72A5543-EFD6-743D-DAFD-15BB9EFD0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933" y="3346124"/>
                <a:ext cx="189519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BA0F11-78DB-BA8A-96AC-9C6372D5DAF2}"/>
                  </a:ext>
                </a:extLst>
              </p:cNvPr>
              <p:cNvSpPr txBox="1"/>
              <p:nvPr/>
            </p:nvSpPr>
            <p:spPr>
              <a:xfrm>
                <a:off x="2320228" y="2362472"/>
                <a:ext cx="8642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BA0F11-78DB-BA8A-96AC-9C6372D5D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228" y="2362472"/>
                <a:ext cx="864276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B858AC-E556-61A0-627C-D79A5BC6ABD5}"/>
                  </a:ext>
                </a:extLst>
              </p:cNvPr>
              <p:cNvSpPr txBox="1"/>
              <p:nvPr/>
            </p:nvSpPr>
            <p:spPr>
              <a:xfrm>
                <a:off x="925616" y="4790453"/>
                <a:ext cx="2079672" cy="563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B858AC-E556-61A0-627C-D79A5BC6A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616" y="4790453"/>
                <a:ext cx="2079672" cy="5638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08DA65-9F81-3C1A-4EA1-A27E24FB8AAF}"/>
                  </a:ext>
                </a:extLst>
              </p:cNvPr>
              <p:cNvSpPr txBox="1"/>
              <p:nvPr/>
            </p:nvSpPr>
            <p:spPr>
              <a:xfrm>
                <a:off x="3421685" y="5206124"/>
                <a:ext cx="2079672" cy="563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708DA65-9F81-3C1A-4EA1-A27E24FB8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1685" y="5206124"/>
                <a:ext cx="2079672" cy="5638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CD6F066-1362-45D9-BF69-81697C13FCC4}"/>
                  </a:ext>
                </a:extLst>
              </p:cNvPr>
              <p:cNvSpPr txBox="1"/>
              <p:nvPr/>
            </p:nvSpPr>
            <p:spPr>
              <a:xfrm>
                <a:off x="5996494" y="5621795"/>
                <a:ext cx="2221890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CD6F066-1362-45D9-BF69-81697C13F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494" y="5621795"/>
                <a:ext cx="2221890" cy="6223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004164-1424-EAB7-A74B-22710E7FDE2E}"/>
              </a:ext>
            </a:extLst>
          </p:cNvPr>
          <p:cNvCxnSpPr/>
          <p:nvPr/>
        </p:nvCxnSpPr>
        <p:spPr>
          <a:xfrm>
            <a:off x="6096235" y="2495862"/>
            <a:ext cx="0" cy="9968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1764771-7F7C-9EA1-CDF9-DEED5FBB4F13}"/>
              </a:ext>
            </a:extLst>
          </p:cNvPr>
          <p:cNvCxnSpPr>
            <a:cxnSpLocks/>
          </p:cNvCxnSpPr>
          <p:nvPr/>
        </p:nvCxnSpPr>
        <p:spPr>
          <a:xfrm flipH="1">
            <a:off x="3480893" y="3486358"/>
            <a:ext cx="261851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E118839-1926-F171-3878-1D864069E68C}"/>
              </a:ext>
            </a:extLst>
          </p:cNvPr>
          <p:cNvCxnSpPr>
            <a:cxnSpLocks/>
          </p:cNvCxnSpPr>
          <p:nvPr/>
        </p:nvCxnSpPr>
        <p:spPr>
          <a:xfrm>
            <a:off x="3493828" y="3467412"/>
            <a:ext cx="0" cy="11760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B98308-E521-9231-D9AE-49AA19201709}"/>
              </a:ext>
            </a:extLst>
          </p:cNvPr>
          <p:cNvCxnSpPr>
            <a:cxnSpLocks/>
          </p:cNvCxnSpPr>
          <p:nvPr/>
        </p:nvCxnSpPr>
        <p:spPr>
          <a:xfrm flipV="1">
            <a:off x="3493828" y="2803161"/>
            <a:ext cx="0" cy="6895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B70ABF02-E8A8-226C-BE2A-3EA414B7671B}"/>
              </a:ext>
            </a:extLst>
          </p:cNvPr>
          <p:cNvSpPr/>
          <p:nvPr/>
        </p:nvSpPr>
        <p:spPr>
          <a:xfrm>
            <a:off x="5956300" y="5557135"/>
            <a:ext cx="2314575" cy="76200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9629F8-10D7-6955-94AD-3C1C22A06C40}"/>
              </a:ext>
            </a:extLst>
          </p:cNvPr>
          <p:cNvSpPr txBox="1"/>
          <p:nvPr/>
        </p:nvSpPr>
        <p:spPr>
          <a:xfrm>
            <a:off x="4112776" y="3851882"/>
            <a:ext cx="1590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R</a:t>
            </a:r>
            <a:r>
              <a:rPr lang="en-US" sz="1400" baseline="-25000" dirty="0">
                <a:solidFill>
                  <a:srgbClr val="00B050"/>
                </a:solidFill>
              </a:rPr>
              <a:t>F</a:t>
            </a:r>
            <a:r>
              <a:rPr lang="en-US" sz="1400" dirty="0">
                <a:solidFill>
                  <a:srgbClr val="00B050"/>
                </a:solidFill>
              </a:rPr>
              <a:t> is the "feedback" resistor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DE51E1-C808-FDBA-E2FC-A60D6F3ABDEF}"/>
              </a:ext>
            </a:extLst>
          </p:cNvPr>
          <p:cNvSpPr txBox="1"/>
          <p:nvPr/>
        </p:nvSpPr>
        <p:spPr>
          <a:xfrm>
            <a:off x="745829" y="3860796"/>
            <a:ext cx="26599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R</a:t>
            </a:r>
            <a:r>
              <a:rPr lang="en-US" sz="1400" baseline="-25000" dirty="0">
                <a:solidFill>
                  <a:srgbClr val="00B050"/>
                </a:solidFill>
              </a:rPr>
              <a:t>F</a:t>
            </a:r>
            <a:r>
              <a:rPr lang="en-US" sz="1400" dirty="0">
                <a:solidFill>
                  <a:srgbClr val="00B050"/>
                </a:solidFill>
              </a:rPr>
              <a:t> and R</a:t>
            </a:r>
            <a:r>
              <a:rPr lang="en-US" sz="1400" baseline="-25000" dirty="0">
                <a:solidFill>
                  <a:srgbClr val="00B050"/>
                </a:solidFill>
              </a:rPr>
              <a:t>2 </a:t>
            </a:r>
            <a:r>
              <a:rPr lang="en-US" sz="1400" dirty="0">
                <a:solidFill>
                  <a:srgbClr val="00B050"/>
                </a:solidFill>
              </a:rPr>
              <a:t>form a </a:t>
            </a:r>
            <a:r>
              <a:rPr lang="en-US" sz="1400" u="sng" dirty="0">
                <a:solidFill>
                  <a:srgbClr val="00B050"/>
                </a:solidFill>
              </a:rPr>
              <a:t>voltage divider </a:t>
            </a:r>
          </a:p>
        </p:txBody>
      </p:sp>
    </p:spTree>
    <p:extLst>
      <p:ext uri="{BB962C8B-B14F-4D97-AF65-F5344CB8AC3E}">
        <p14:creationId xmlns:p14="http://schemas.microsoft.com/office/powerpoint/2010/main" val="449608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55158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Operational Amplifiers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13CC83-5236-1A85-D7D4-BC5318EDF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825" y="1690689"/>
            <a:ext cx="4032350" cy="46656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7CB426-1D51-0002-BDF4-881E41BD85FB}"/>
                  </a:ext>
                </a:extLst>
              </p:cNvPr>
              <p:cNvSpPr txBox="1"/>
              <p:nvPr/>
            </p:nvSpPr>
            <p:spPr>
              <a:xfrm>
                <a:off x="2208550" y="2222292"/>
                <a:ext cx="3472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7CB426-1D51-0002-BDF4-881E41BD8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550" y="2222292"/>
                <a:ext cx="347275" cy="276999"/>
              </a:xfrm>
              <a:prstGeom prst="rect">
                <a:avLst/>
              </a:prstGeom>
              <a:blipFill>
                <a:blip r:embed="rId3"/>
                <a:stretch>
                  <a:fillRect l="-15789" r="-877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82D5E61-2A81-AB95-82C8-E418523F1A97}"/>
              </a:ext>
            </a:extLst>
          </p:cNvPr>
          <p:cNvSpPr txBox="1"/>
          <p:nvPr/>
        </p:nvSpPr>
        <p:spPr>
          <a:xfrm>
            <a:off x="4212235" y="1542221"/>
            <a:ext cx="54662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/>
              <a:t>+3.3V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EBD6DF-E059-DC79-42A9-BB54516541ED}"/>
              </a:ext>
            </a:extLst>
          </p:cNvPr>
          <p:cNvSpPr txBox="1"/>
          <p:nvPr/>
        </p:nvSpPr>
        <p:spPr>
          <a:xfrm>
            <a:off x="6168452" y="3425712"/>
            <a:ext cx="766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30K </a:t>
            </a:r>
            <a:r>
              <a:rPr lang="el-GR" b="1" dirty="0">
                <a:solidFill>
                  <a:srgbClr val="7030A0"/>
                </a:solidFill>
              </a:rPr>
              <a:t>Ω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3441E6-8B7B-C4C6-DF47-D32D6DF79B46}"/>
              </a:ext>
            </a:extLst>
          </p:cNvPr>
          <p:cNvSpPr txBox="1"/>
          <p:nvPr/>
        </p:nvSpPr>
        <p:spPr>
          <a:xfrm>
            <a:off x="6204676" y="4891031"/>
            <a:ext cx="766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10K </a:t>
            </a:r>
            <a:r>
              <a:rPr lang="el-GR" b="1" dirty="0">
                <a:solidFill>
                  <a:srgbClr val="7030A0"/>
                </a:solidFill>
              </a:rPr>
              <a:t>Ω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4F2A6F-5EB3-9D3E-D27C-5103A43E510A}"/>
              </a:ext>
            </a:extLst>
          </p:cNvPr>
          <p:cNvSpPr txBox="1"/>
          <p:nvPr/>
        </p:nvSpPr>
        <p:spPr>
          <a:xfrm>
            <a:off x="802912" y="1945292"/>
            <a:ext cx="820225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+0.65V</a:t>
            </a:r>
          </a:p>
          <a:p>
            <a:pPr algn="ctr"/>
            <a:r>
              <a:rPr lang="en-US" dirty="0"/>
              <a:t>from the</a:t>
            </a:r>
          </a:p>
          <a:p>
            <a:pPr algn="ctr"/>
            <a:r>
              <a:rPr lang="en-US" b="1" dirty="0"/>
              <a:t>AD9833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49B3757-3CC5-25DC-8793-F2D8F5E48893}"/>
              </a:ext>
            </a:extLst>
          </p:cNvPr>
          <p:cNvCxnSpPr>
            <a:cxnSpLocks/>
          </p:cNvCxnSpPr>
          <p:nvPr/>
        </p:nvCxnSpPr>
        <p:spPr>
          <a:xfrm>
            <a:off x="2878112" y="2395884"/>
            <a:ext cx="77948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1BF864-C5FB-43DD-E511-7A6A083F40C7}"/>
                  </a:ext>
                </a:extLst>
              </p:cNvPr>
              <p:cNvSpPr txBox="1"/>
              <p:nvPr/>
            </p:nvSpPr>
            <p:spPr>
              <a:xfrm>
                <a:off x="1174744" y="4834653"/>
                <a:ext cx="2221890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1BF864-C5FB-43DD-E511-7A6A083F4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744" y="4834653"/>
                <a:ext cx="2221890" cy="6223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0E0A6A-7A23-CDAD-A7A9-9037B20B7DA9}"/>
                  </a:ext>
                </a:extLst>
              </p:cNvPr>
              <p:cNvSpPr txBox="1"/>
              <p:nvPr/>
            </p:nvSpPr>
            <p:spPr>
              <a:xfrm>
                <a:off x="1174744" y="5734001"/>
                <a:ext cx="3109697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0.65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=2.6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0E0A6A-7A23-CDAD-A7A9-9037B20B7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744" y="5734001"/>
                <a:ext cx="3109697" cy="6223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FE0B3CF-A606-5F36-63E7-6543A85AEEDE}"/>
              </a:ext>
            </a:extLst>
          </p:cNvPr>
          <p:cNvCxnSpPr/>
          <p:nvPr/>
        </p:nvCxnSpPr>
        <p:spPr>
          <a:xfrm>
            <a:off x="6168452" y="2715557"/>
            <a:ext cx="47968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90F1349-6DFE-EF8F-E445-0E52B384EF1F}"/>
              </a:ext>
            </a:extLst>
          </p:cNvPr>
          <p:cNvSpPr txBox="1"/>
          <p:nvPr/>
        </p:nvSpPr>
        <p:spPr>
          <a:xfrm>
            <a:off x="6761814" y="2530891"/>
            <a:ext cx="995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+2.6V </a:t>
            </a:r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6ECC7A1-085B-7250-924E-C8252259E641}"/>
              </a:ext>
            </a:extLst>
          </p:cNvPr>
          <p:cNvGrpSpPr/>
          <p:nvPr/>
        </p:nvGrpSpPr>
        <p:grpSpPr>
          <a:xfrm>
            <a:off x="7318949" y="4023520"/>
            <a:ext cx="1302308" cy="1910338"/>
            <a:chOff x="7050063" y="1136875"/>
            <a:chExt cx="1302308" cy="191033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8431848-907F-E80C-CC67-153716D11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50063" y="1136875"/>
              <a:ext cx="1302308" cy="1325563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FA793A0-1CFC-985C-6DD7-8FA57A9524DF}"/>
                </a:ext>
              </a:extLst>
            </p:cNvPr>
            <p:cNvSpPr txBox="1"/>
            <p:nvPr/>
          </p:nvSpPr>
          <p:spPr>
            <a:xfrm>
              <a:off x="7127844" y="2462438"/>
              <a:ext cx="114674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TLV2462 </a:t>
              </a:r>
              <a:r>
                <a:rPr lang="en-US" sz="1600" b="1" dirty="0"/>
                <a:t>Op Amp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9E4E912-63AF-9784-34BF-0BE314125DE3}"/>
              </a:ext>
            </a:extLst>
          </p:cNvPr>
          <p:cNvSpPr txBox="1"/>
          <p:nvPr/>
        </p:nvSpPr>
        <p:spPr>
          <a:xfrm>
            <a:off x="6123482" y="1578735"/>
            <a:ext cx="2442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Our circuit generates a </a:t>
            </a:r>
            <a:r>
              <a:rPr lang="en-US" b="1" dirty="0">
                <a:solidFill>
                  <a:srgbClr val="7030A0"/>
                </a:solidFill>
              </a:rPr>
              <a:t>4x gain </a:t>
            </a:r>
            <a:r>
              <a:rPr lang="en-US" dirty="0">
                <a:solidFill>
                  <a:srgbClr val="7030A0"/>
                </a:solidFill>
              </a:rPr>
              <a:t>on the input!</a:t>
            </a:r>
          </a:p>
        </p:txBody>
      </p:sp>
    </p:spTree>
    <p:extLst>
      <p:ext uri="{BB962C8B-B14F-4D97-AF65-F5344CB8AC3E}">
        <p14:creationId xmlns:p14="http://schemas.microsoft.com/office/powerpoint/2010/main" val="1234036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60E60F6-1477-DF45-3148-CE7876699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Consulting the </a:t>
            </a:r>
            <a:r>
              <a:rPr lang="en-US" sz="3200" b="1" dirty="0">
                <a:latin typeface="+mn-lt"/>
              </a:rPr>
              <a:t>Product Datasheet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D13F2A-F5FC-44EE-52B9-565F7E733BDA}"/>
              </a:ext>
            </a:extLst>
          </p:cNvPr>
          <p:cNvSpPr txBox="1"/>
          <p:nvPr/>
        </p:nvSpPr>
        <p:spPr>
          <a:xfrm>
            <a:off x="143021" y="1424184"/>
            <a:ext cx="885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https://www.ti.com/lit/gpn/tlv2462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38E285-CFA8-535C-0F6D-64FE2300B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41" y="2060144"/>
            <a:ext cx="8385518" cy="402957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100644C-59BE-0D17-EECD-C652DB92BB53}"/>
              </a:ext>
            </a:extLst>
          </p:cNvPr>
          <p:cNvGrpSpPr/>
          <p:nvPr/>
        </p:nvGrpSpPr>
        <p:grpSpPr>
          <a:xfrm>
            <a:off x="5719806" y="5042218"/>
            <a:ext cx="1476287" cy="783195"/>
            <a:chOff x="5680478" y="5028223"/>
            <a:chExt cx="1476287" cy="78319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56EC050-0858-9101-ED93-9149AF5675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80478" y="5028223"/>
              <a:ext cx="667856" cy="78319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B0B7D4-5C1F-B8D7-C6F8-CF92FFBC4FBC}"/>
                </a:ext>
              </a:extLst>
            </p:cNvPr>
            <p:cNvSpPr txBox="1"/>
            <p:nvPr/>
          </p:nvSpPr>
          <p:spPr>
            <a:xfrm>
              <a:off x="6348334" y="5096655"/>
              <a:ext cx="8084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+2.0V</a:t>
              </a:r>
            </a:p>
            <a:p>
              <a:r>
                <a:rPr lang="en-US" dirty="0">
                  <a:solidFill>
                    <a:srgbClr val="FF0000"/>
                  </a:solidFill>
                </a:rPr>
                <a:t>20mA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86852FC-2C38-8BA1-68CD-6D3911CFBEDA}"/>
              </a:ext>
            </a:extLst>
          </p:cNvPr>
          <p:cNvSpPr txBox="1"/>
          <p:nvPr/>
        </p:nvSpPr>
        <p:spPr>
          <a:xfrm>
            <a:off x="3177915" y="2926829"/>
            <a:ext cx="247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56E00B-B2FD-61EB-2010-B2E64DEA8067}"/>
              </a:ext>
            </a:extLst>
          </p:cNvPr>
          <p:cNvSpPr txBox="1"/>
          <p:nvPr/>
        </p:nvSpPr>
        <p:spPr>
          <a:xfrm>
            <a:off x="3652603" y="3417757"/>
            <a:ext cx="247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847B81-CB1E-2E1C-E364-EDC1EA2B71B2}"/>
              </a:ext>
            </a:extLst>
          </p:cNvPr>
          <p:cNvSpPr txBox="1"/>
          <p:nvPr/>
        </p:nvSpPr>
        <p:spPr>
          <a:xfrm>
            <a:off x="3035509" y="4353589"/>
            <a:ext cx="247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3B7DFCA-2A6A-B7E7-24C2-A4C610DDCA10}"/>
              </a:ext>
            </a:extLst>
          </p:cNvPr>
          <p:cNvSpPr/>
          <p:nvPr/>
        </p:nvSpPr>
        <p:spPr>
          <a:xfrm rot="10800000">
            <a:off x="7001344" y="3369877"/>
            <a:ext cx="794478" cy="1182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D1F07D-BA3F-9157-7BAD-479D67923FE6}"/>
              </a:ext>
            </a:extLst>
          </p:cNvPr>
          <p:cNvSpPr txBox="1"/>
          <p:nvPr/>
        </p:nvSpPr>
        <p:spPr>
          <a:xfrm>
            <a:off x="5006714" y="3890267"/>
            <a:ext cx="5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rail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AACA3F-FB66-21C2-F62B-84C855C3D4CB}"/>
              </a:ext>
            </a:extLst>
          </p:cNvPr>
          <p:cNvSpPr txBox="1"/>
          <p:nvPr/>
        </p:nvSpPr>
        <p:spPr>
          <a:xfrm>
            <a:off x="7398583" y="3564712"/>
            <a:ext cx="5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rail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A06E43-A08A-D856-8138-75B817EA79CB}"/>
              </a:ext>
            </a:extLst>
          </p:cNvPr>
          <p:cNvSpPr txBox="1"/>
          <p:nvPr/>
        </p:nvSpPr>
        <p:spPr>
          <a:xfrm>
            <a:off x="7788327" y="3248324"/>
            <a:ext cx="877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Pin 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1D747E-6F8A-A6C1-0947-0AD58D82F8D4}"/>
              </a:ext>
            </a:extLst>
          </p:cNvPr>
          <p:cNvSpPr txBox="1"/>
          <p:nvPr/>
        </p:nvSpPr>
        <p:spPr>
          <a:xfrm>
            <a:off x="7072424" y="5387649"/>
            <a:ext cx="247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862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Mapping Logical </a:t>
            </a:r>
            <a:r>
              <a:rPr lang="en-US" sz="3200" dirty="0">
                <a:latin typeface="+mn-lt"/>
                <a:sym typeface="Wingdings" panose="05000000000000000000" pitchFamily="2" charset="2"/>
              </a:rPr>
              <a:t></a:t>
            </a:r>
            <a:r>
              <a:rPr lang="en-US" sz="3200" dirty="0">
                <a:latin typeface="+mn-lt"/>
              </a:rPr>
              <a:t> Physical Layouts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4C5D8F-40C2-EA13-CFC7-B53CDEF07B5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055" y="1713876"/>
            <a:ext cx="3197231" cy="3731652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5C06B5-232D-136E-D0AB-51F5687615E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6715" y="1713876"/>
            <a:ext cx="3132518" cy="47905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9131214-6953-3F4F-EDFE-06E060031657}"/>
              </a:ext>
            </a:extLst>
          </p:cNvPr>
          <p:cNvSpPr txBox="1"/>
          <p:nvPr/>
        </p:nvSpPr>
        <p:spPr>
          <a:xfrm>
            <a:off x="343581" y="4673296"/>
            <a:ext cx="29617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The ability to map back-and-forth between a </a:t>
            </a:r>
            <a:r>
              <a:rPr lang="en-US" b="1" dirty="0">
                <a:solidFill>
                  <a:srgbClr val="7030A0"/>
                </a:solidFill>
              </a:rPr>
              <a:t>schematic</a:t>
            </a:r>
            <a:r>
              <a:rPr lang="en-US" dirty="0">
                <a:solidFill>
                  <a:srgbClr val="7030A0"/>
                </a:solidFill>
              </a:rPr>
              <a:t> and a </a:t>
            </a:r>
            <a:r>
              <a:rPr lang="en-US" b="1" dirty="0">
                <a:solidFill>
                  <a:srgbClr val="7030A0"/>
                </a:solidFill>
              </a:rPr>
              <a:t>circuit board</a:t>
            </a:r>
            <a:r>
              <a:rPr lang="en-US" dirty="0">
                <a:solidFill>
                  <a:srgbClr val="7030A0"/>
                </a:solidFill>
              </a:rPr>
              <a:t> is a skill that is in </a:t>
            </a:r>
            <a:r>
              <a:rPr lang="en-US" u="sng" dirty="0">
                <a:solidFill>
                  <a:srgbClr val="7030A0"/>
                </a:solidFill>
              </a:rPr>
              <a:t>high demand</a:t>
            </a:r>
            <a:r>
              <a:rPr lang="en-US" dirty="0">
                <a:solidFill>
                  <a:srgbClr val="7030A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290483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Approach</a:t>
            </a:r>
            <a:endParaRPr lang="en-US" sz="3200" b="1" dirty="0">
              <a:solidFill>
                <a:srgbClr val="7030A0"/>
              </a:solidFill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457E4-BB96-7419-9144-A02730903D2A}"/>
              </a:ext>
            </a:extLst>
          </p:cNvPr>
          <p:cNvSpPr txBox="1"/>
          <p:nvPr/>
        </p:nvSpPr>
        <p:spPr>
          <a:xfrm>
            <a:off x="984852" y="1935059"/>
            <a:ext cx="30274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Waits for a serial (USB) port connection from the laptop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E9ED18-3562-D3FE-8D1F-208426885AE8}"/>
              </a:ext>
            </a:extLst>
          </p:cNvPr>
          <p:cNvSpPr txBox="1"/>
          <p:nvPr/>
        </p:nvSpPr>
        <p:spPr>
          <a:xfrm>
            <a:off x="4808976" y="1935058"/>
            <a:ext cx="33501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Connects to the KB2040 over the serial (USB) 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1DBFC5-E3F1-8407-5571-31A957CA028C}"/>
              </a:ext>
            </a:extLst>
          </p:cNvPr>
          <p:cNvSpPr txBox="1"/>
          <p:nvPr/>
        </p:nvSpPr>
        <p:spPr>
          <a:xfrm>
            <a:off x="984852" y="2975486"/>
            <a:ext cx="30274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Waits for the command "</a:t>
            </a:r>
            <a:r>
              <a:rPr lang="en-US" b="1" dirty="0"/>
              <a:t>r</a:t>
            </a:r>
            <a:r>
              <a:rPr lang="en-US" dirty="0"/>
              <a:t>" to  be sent by the laptop over the USB (CDC Data) 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2C2D0F-E51D-56AE-6B1F-E1CD813C8946}"/>
              </a:ext>
            </a:extLst>
          </p:cNvPr>
          <p:cNvSpPr txBox="1"/>
          <p:nvPr/>
        </p:nvSpPr>
        <p:spPr>
          <a:xfrm>
            <a:off x="4808976" y="2887670"/>
            <a:ext cx="33501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Sends the string "r" to the KB2040 over the </a:t>
            </a:r>
            <a:r>
              <a:rPr lang="en-US" b="1" dirty="0"/>
              <a:t>CDC Data</a:t>
            </a:r>
            <a:r>
              <a:rPr lang="en-US" dirty="0"/>
              <a:t> 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7AA221-43CF-645B-DC9A-3D38D9C3F201}"/>
              </a:ext>
            </a:extLst>
          </p:cNvPr>
          <p:cNvSpPr txBox="1"/>
          <p:nvPr/>
        </p:nvSpPr>
        <p:spPr>
          <a:xfrm>
            <a:off x="984852" y="4185321"/>
            <a:ext cx="302747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Sets AD9833 to output a 10 Hz sine wave, sets NeoPixel to 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, records 2,000 volt and time samples </a:t>
            </a:r>
            <a:r>
              <a:rPr lang="en-US" b="1" dirty="0">
                <a:solidFill>
                  <a:srgbClr val="7030A0"/>
                </a:solidFill>
              </a:rPr>
              <a:t>FROM OP AMP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D2ACD0-6EC3-05D6-EF1B-ACE3B545C19F}"/>
              </a:ext>
            </a:extLst>
          </p:cNvPr>
          <p:cNvSpPr txBox="1"/>
          <p:nvPr/>
        </p:nvSpPr>
        <p:spPr>
          <a:xfrm>
            <a:off x="4808976" y="3840282"/>
            <a:ext cx="33501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Waits to receive the volts and time samples from the KB2040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1F88A4-99BF-0C24-FAD7-7D4FD577F5EE}"/>
              </a:ext>
            </a:extLst>
          </p:cNvPr>
          <p:cNvSpPr txBox="1"/>
          <p:nvPr/>
        </p:nvSpPr>
        <p:spPr>
          <a:xfrm>
            <a:off x="984852" y="5610337"/>
            <a:ext cx="302747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Sets NeoPixel to </a:t>
            </a:r>
            <a:r>
              <a:rPr lang="en-US" dirty="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YELLOW</a:t>
            </a:r>
            <a:r>
              <a:rPr lang="en-US" dirty="0"/>
              <a:t> as it sends the volts and times to the laptop over the USB port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A8777A-7FFF-8E05-AB57-2AFB98DB48D6}"/>
              </a:ext>
            </a:extLst>
          </p:cNvPr>
          <p:cNvSpPr txBox="1"/>
          <p:nvPr/>
        </p:nvSpPr>
        <p:spPr>
          <a:xfrm>
            <a:off x="4808976" y="4792894"/>
            <a:ext cx="335017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Plots the voltage vs. time graph from the </a:t>
            </a:r>
            <a:r>
              <a:rPr lang="en-US" b="1" dirty="0">
                <a:solidFill>
                  <a:srgbClr val="7030A0"/>
                </a:solidFill>
              </a:rPr>
              <a:t>OP AMP</a:t>
            </a:r>
            <a:r>
              <a:rPr lang="en-US" dirty="0"/>
              <a:t>, along with the original </a:t>
            </a:r>
            <a:r>
              <a:rPr lang="en-US" b="1" dirty="0"/>
              <a:t>sig_gen</a:t>
            </a:r>
            <a:r>
              <a:rPr lang="en-US" dirty="0"/>
              <a:t> lab data, and creates a PNG file of the combined plot window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2562AB-3B54-2066-A1E6-C960328A56F3}"/>
              </a:ext>
            </a:extLst>
          </p:cNvPr>
          <p:cNvSpPr txBox="1"/>
          <p:nvPr/>
        </p:nvSpPr>
        <p:spPr>
          <a:xfrm>
            <a:off x="984851" y="1430328"/>
            <a:ext cx="2971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code.py </a:t>
            </a:r>
            <a:r>
              <a:rPr lang="en-US" dirty="0"/>
              <a:t>running on </a:t>
            </a:r>
            <a:r>
              <a:rPr lang="en-US" b="1" dirty="0"/>
              <a:t>KB2040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96E4C-2721-3BF0-93F8-C0389265491A}"/>
              </a:ext>
            </a:extLst>
          </p:cNvPr>
          <p:cNvSpPr txBox="1"/>
          <p:nvPr/>
        </p:nvSpPr>
        <p:spPr>
          <a:xfrm>
            <a:off x="4808977" y="1430328"/>
            <a:ext cx="335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op_amp.py </a:t>
            </a:r>
            <a:r>
              <a:rPr lang="en-US" dirty="0"/>
              <a:t>running on </a:t>
            </a:r>
            <a:r>
              <a:rPr lang="en-US" b="1" dirty="0"/>
              <a:t>Laptop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C7E7ED10-96F2-C9F7-E97D-0F9DEEF1C457}"/>
              </a:ext>
            </a:extLst>
          </p:cNvPr>
          <p:cNvCxnSpPr>
            <a:cxnSpLocks/>
            <a:stCxn id="11" idx="1"/>
            <a:endCxn id="15" idx="1"/>
          </p:cNvCxnSpPr>
          <p:nvPr/>
        </p:nvCxnSpPr>
        <p:spPr>
          <a:xfrm rot="10800000">
            <a:off x="792466" y="2782904"/>
            <a:ext cx="192386" cy="3289098"/>
          </a:xfrm>
          <a:prstGeom prst="bentConnector3">
            <a:avLst>
              <a:gd name="adj1" fmla="val 281158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977FE4-2DFC-62D1-4424-B6C547A19FAF}"/>
              </a:ext>
            </a:extLst>
          </p:cNvPr>
          <p:cNvSpPr txBox="1"/>
          <p:nvPr/>
        </p:nvSpPr>
        <p:spPr>
          <a:xfrm>
            <a:off x="792466" y="2629015"/>
            <a:ext cx="1603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NeoPixel is </a:t>
            </a:r>
            <a:r>
              <a:rPr lang="en-US" sz="1400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GREEN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033A1FF-9653-DA01-F95A-363701F4DCF3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4012324" y="2258224"/>
            <a:ext cx="796652" cy="1"/>
          </a:xfrm>
          <a:prstGeom prst="bentConnector3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8919D7-6910-E01A-A469-1C7D975CDBBD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2498588" y="2581390"/>
            <a:ext cx="0" cy="39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5E4510C-80F9-130B-B7BE-3FC721AC45EB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6484062" y="2581389"/>
            <a:ext cx="0" cy="3062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1E4B1873-837B-6DCD-99B4-C2ACD67159E5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rot="10800000" flipV="1">
            <a:off x="4012324" y="3210835"/>
            <a:ext cx="796652" cy="226315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AD9B0B8-8AA6-7C2B-0595-07AF08D48684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2498588" y="3898816"/>
            <a:ext cx="0" cy="2865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EB69B1B-344C-036B-B21A-34F37B41E71B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6484062" y="3534001"/>
            <a:ext cx="0" cy="3062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E9CB952-B72D-B0F5-C592-0637651FD8E0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2498588" y="5385650"/>
            <a:ext cx="0" cy="2246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93483784-49AF-35FD-0990-CAB0CC4E3D6C}"/>
              </a:ext>
            </a:extLst>
          </p:cNvPr>
          <p:cNvCxnSpPr>
            <a:stCxn id="11" idx="3"/>
            <a:endCxn id="10" idx="1"/>
          </p:cNvCxnSpPr>
          <p:nvPr/>
        </p:nvCxnSpPr>
        <p:spPr>
          <a:xfrm flipV="1">
            <a:off x="4012324" y="4163448"/>
            <a:ext cx="796652" cy="1908554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53B67BA-6757-38B8-7694-C0966928D79D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6484062" y="4486613"/>
            <a:ext cx="0" cy="3062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48D154F-EC5D-D193-9DFB-16EF986A0812}"/>
              </a:ext>
            </a:extLst>
          </p:cNvPr>
          <p:cNvSpPr/>
          <p:nvPr/>
        </p:nvSpPr>
        <p:spPr>
          <a:xfrm>
            <a:off x="2256020" y="4976734"/>
            <a:ext cx="1678147" cy="450938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5EAF6BD-0AF0-AC0D-29C5-55237B2E3F1A}"/>
              </a:ext>
            </a:extLst>
          </p:cNvPr>
          <p:cNvCxnSpPr/>
          <p:nvPr/>
        </p:nvCxnSpPr>
        <p:spPr>
          <a:xfrm>
            <a:off x="6678118" y="5363165"/>
            <a:ext cx="130414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E7B1F55-42B2-7480-6FF6-BD9134D6C103}"/>
              </a:ext>
            </a:extLst>
          </p:cNvPr>
          <p:cNvCxnSpPr>
            <a:cxnSpLocks/>
          </p:cNvCxnSpPr>
          <p:nvPr/>
        </p:nvCxnSpPr>
        <p:spPr>
          <a:xfrm>
            <a:off x="4866806" y="5670297"/>
            <a:ext cx="228350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7865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AC9EC5A-AA30-0150-2625-81420FE9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Our Result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8A0D65-8439-E4A8-4A08-04AF575730A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3131" y="1240430"/>
            <a:ext cx="6697738" cy="5441102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244E20-F853-A31B-59E2-6608122C511A}"/>
              </a:ext>
            </a:extLst>
          </p:cNvPr>
          <p:cNvCxnSpPr/>
          <p:nvPr/>
        </p:nvCxnSpPr>
        <p:spPr>
          <a:xfrm>
            <a:off x="1768839" y="5576341"/>
            <a:ext cx="6048531" cy="0"/>
          </a:xfrm>
          <a:prstGeom prst="straightConnector1">
            <a:avLst/>
          </a:prstGeom>
          <a:ln w="9525">
            <a:solidFill>
              <a:srgbClr val="FFFF00"/>
            </a:solidFill>
            <a:prstDash val="lg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6C0A4427-3901-6B86-E73F-B6B1F5F590A1}"/>
              </a:ext>
            </a:extLst>
          </p:cNvPr>
          <p:cNvSpPr/>
          <p:nvPr/>
        </p:nvSpPr>
        <p:spPr>
          <a:xfrm rot="10800000">
            <a:off x="562131" y="4141038"/>
            <a:ext cx="569632" cy="147653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00F2801-EC7C-B102-E46F-8C0D8AEDB33F}"/>
              </a:ext>
            </a:extLst>
          </p:cNvPr>
          <p:cNvCxnSpPr>
            <a:cxnSpLocks/>
          </p:cNvCxnSpPr>
          <p:nvPr/>
        </p:nvCxnSpPr>
        <p:spPr>
          <a:xfrm>
            <a:off x="2036164" y="5201587"/>
            <a:ext cx="5418007" cy="0"/>
          </a:xfrm>
          <a:prstGeom prst="straightConnector1">
            <a:avLst/>
          </a:prstGeom>
          <a:ln w="38100">
            <a:solidFill>
              <a:schemeClr val="bg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3F9114-CB13-26F3-74AF-A729E14CD631}"/>
              </a:ext>
            </a:extLst>
          </p:cNvPr>
          <p:cNvCxnSpPr>
            <a:cxnSpLocks/>
          </p:cNvCxnSpPr>
          <p:nvPr/>
        </p:nvCxnSpPr>
        <p:spPr>
          <a:xfrm>
            <a:off x="2036164" y="2655757"/>
            <a:ext cx="5418007" cy="0"/>
          </a:xfrm>
          <a:prstGeom prst="straightConnector1">
            <a:avLst/>
          </a:prstGeom>
          <a:ln w="38100">
            <a:solidFill>
              <a:schemeClr val="bg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row: Curved Left 16">
            <a:extLst>
              <a:ext uri="{FF2B5EF4-FFF2-40B4-BE49-F238E27FC236}">
                <a16:creationId xmlns:a16="http://schemas.microsoft.com/office/drawing/2014/main" id="{D751F911-8CB3-FB39-6441-BE404DFF28DB}"/>
              </a:ext>
            </a:extLst>
          </p:cNvPr>
          <p:cNvSpPr/>
          <p:nvPr/>
        </p:nvSpPr>
        <p:spPr>
          <a:xfrm rot="10800000" flipH="1">
            <a:off x="7587118" y="2525843"/>
            <a:ext cx="845781" cy="272098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534F992-F348-58E9-6AA6-774E53606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265" y="3212978"/>
            <a:ext cx="3304997" cy="17241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515D39-E7F3-E7E0-A352-69C1DA0E2453}"/>
                  </a:ext>
                </a:extLst>
              </p:cNvPr>
              <p:cNvSpPr txBox="1"/>
              <p:nvPr/>
            </p:nvSpPr>
            <p:spPr>
              <a:xfrm>
                <a:off x="2299006" y="1841801"/>
                <a:ext cx="3109697" cy="62235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0.65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=2.6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515D39-E7F3-E7E0-A352-69C1DA0E2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006" y="1841801"/>
                <a:ext cx="3109697" cy="6223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EE9A672-858A-2501-ECF8-B7BA22B4B62A}"/>
              </a:ext>
            </a:extLst>
          </p:cNvPr>
          <p:cNvSpPr txBox="1"/>
          <p:nvPr/>
        </p:nvSpPr>
        <p:spPr>
          <a:xfrm>
            <a:off x="134911" y="5727425"/>
            <a:ext cx="13416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We increased the </a:t>
            </a:r>
            <a:r>
              <a:rPr lang="en-US" sz="1400" b="1" dirty="0">
                <a:solidFill>
                  <a:srgbClr val="0070C0"/>
                </a:solidFill>
              </a:rPr>
              <a:t>offset </a:t>
            </a:r>
            <a:r>
              <a:rPr lang="en-US" sz="1400" dirty="0">
                <a:solidFill>
                  <a:srgbClr val="0070C0"/>
                </a:solidFill>
              </a:rPr>
              <a:t>by</a:t>
            </a:r>
            <a:r>
              <a:rPr lang="en-US" sz="1400" b="1" dirty="0">
                <a:solidFill>
                  <a:srgbClr val="0070C0"/>
                </a:solidFill>
              </a:rPr>
              <a:t> 4x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(avg. value) </a:t>
            </a:r>
          </a:p>
        </p:txBody>
      </p:sp>
    </p:spTree>
    <p:extLst>
      <p:ext uri="{BB962C8B-B14F-4D97-AF65-F5344CB8AC3E}">
        <p14:creationId xmlns:p14="http://schemas.microsoft.com/office/powerpoint/2010/main" val="445338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Operational Amplifiers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7BAF59-2DA9-A4A9-F7D4-D7B4EF57A270}"/>
              </a:ext>
            </a:extLst>
          </p:cNvPr>
          <p:cNvGrpSpPr/>
          <p:nvPr/>
        </p:nvGrpSpPr>
        <p:grpSpPr>
          <a:xfrm>
            <a:off x="953749" y="1381097"/>
            <a:ext cx="3142314" cy="2130613"/>
            <a:chOff x="953749" y="1650917"/>
            <a:chExt cx="3142314" cy="213061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B1A1068-3EE0-D420-3C01-1D19CB533BC4}"/>
                </a:ext>
              </a:extLst>
            </p:cNvPr>
            <p:cNvSpPr txBox="1"/>
            <p:nvPr/>
          </p:nvSpPr>
          <p:spPr>
            <a:xfrm>
              <a:off x="953749" y="1650917"/>
              <a:ext cx="31423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"Adder"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EE7C524-1602-9825-D6C6-640BD6026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3750" y="2011360"/>
              <a:ext cx="3142313" cy="177017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CAD1A75-FDE3-A8E7-21AE-E7C1C19894AA}"/>
              </a:ext>
            </a:extLst>
          </p:cNvPr>
          <p:cNvGrpSpPr/>
          <p:nvPr/>
        </p:nvGrpSpPr>
        <p:grpSpPr>
          <a:xfrm>
            <a:off x="5047938" y="1367164"/>
            <a:ext cx="3142314" cy="2804431"/>
            <a:chOff x="5047938" y="1636984"/>
            <a:chExt cx="3142314" cy="280443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9D03E3C-1EFE-90C5-996F-FFAB8A099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7938" y="2011360"/>
              <a:ext cx="3142313" cy="243005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1B9533-C768-8142-B436-15072723760D}"/>
                </a:ext>
              </a:extLst>
            </p:cNvPr>
            <p:cNvSpPr txBox="1"/>
            <p:nvPr/>
          </p:nvSpPr>
          <p:spPr>
            <a:xfrm>
              <a:off x="5047938" y="1636984"/>
              <a:ext cx="31423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"Subtractor"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5DF95D0-4A84-A843-E2C1-F21AD40DC2FD}"/>
              </a:ext>
            </a:extLst>
          </p:cNvPr>
          <p:cNvGrpSpPr/>
          <p:nvPr/>
        </p:nvGrpSpPr>
        <p:grpSpPr>
          <a:xfrm>
            <a:off x="953748" y="4274448"/>
            <a:ext cx="3142314" cy="2139502"/>
            <a:chOff x="953748" y="4072083"/>
            <a:chExt cx="3142314" cy="2139502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F64D936-4021-1327-8A08-0F4C374FB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749" y="4441415"/>
              <a:ext cx="3142313" cy="177017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5F0581-5788-92F9-3878-7214FE55049A}"/>
                </a:ext>
              </a:extLst>
            </p:cNvPr>
            <p:cNvSpPr txBox="1"/>
            <p:nvPr/>
          </p:nvSpPr>
          <p:spPr>
            <a:xfrm>
              <a:off x="953748" y="4072083"/>
              <a:ext cx="31423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"Differentiator"</a:t>
              </a: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F18592D5-C33F-9ABB-AF55-927BC0C87F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5430" y="4639483"/>
            <a:ext cx="3142313" cy="177017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E9F2BBC-2175-0665-4126-A7C9F1863710}"/>
              </a:ext>
            </a:extLst>
          </p:cNvPr>
          <p:cNvSpPr txBox="1"/>
          <p:nvPr/>
        </p:nvSpPr>
        <p:spPr>
          <a:xfrm>
            <a:off x="5055430" y="4274448"/>
            <a:ext cx="3142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"Integrator"</a:t>
            </a:r>
          </a:p>
        </p:txBody>
      </p:sp>
    </p:spTree>
    <p:extLst>
      <p:ext uri="{BB962C8B-B14F-4D97-AF65-F5344CB8AC3E}">
        <p14:creationId xmlns:p14="http://schemas.microsoft.com/office/powerpoint/2010/main" val="1243781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Operational Amplifiers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2BEA4D6-032A-23AF-3A52-ABAA1A2B1783}"/>
              </a:ext>
            </a:extLst>
          </p:cNvPr>
          <p:cNvGrpSpPr/>
          <p:nvPr/>
        </p:nvGrpSpPr>
        <p:grpSpPr>
          <a:xfrm>
            <a:off x="667058" y="828186"/>
            <a:ext cx="1259174" cy="1849673"/>
            <a:chOff x="269823" y="1350886"/>
            <a:chExt cx="1259174" cy="184967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9FF4FB5-2AFC-4A39-633D-BD4283F2E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7273" y="1350886"/>
              <a:ext cx="984275" cy="126489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18C151-370A-7093-A0A3-C8AFBA0FF01F}"/>
                </a:ext>
              </a:extLst>
            </p:cNvPr>
            <p:cNvSpPr txBox="1"/>
            <p:nvPr/>
          </p:nvSpPr>
          <p:spPr>
            <a:xfrm>
              <a:off x="269823" y="2615784"/>
              <a:ext cx="12591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Max Wien</a:t>
              </a:r>
            </a:p>
            <a:p>
              <a:pPr algn="ctr"/>
              <a:r>
                <a:rPr lang="en-US" sz="1600" dirty="0"/>
                <a:t>1866-1938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73994A6-0F53-C6C2-7578-66F46EF9625A}"/>
              </a:ext>
            </a:extLst>
          </p:cNvPr>
          <p:cNvGrpSpPr/>
          <p:nvPr/>
        </p:nvGrpSpPr>
        <p:grpSpPr>
          <a:xfrm>
            <a:off x="2186976" y="1474629"/>
            <a:ext cx="4770048" cy="3736536"/>
            <a:chOff x="2197406" y="1474629"/>
            <a:chExt cx="4770048" cy="373653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BF6FE3F-8D01-FA25-5E9E-46535E114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97406" y="1940769"/>
              <a:ext cx="4770048" cy="3270396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2E5D88B-429A-1154-613D-356B713CD20C}"/>
                </a:ext>
              </a:extLst>
            </p:cNvPr>
            <p:cNvSpPr txBox="1"/>
            <p:nvPr/>
          </p:nvSpPr>
          <p:spPr>
            <a:xfrm>
              <a:off x="3072171" y="1474629"/>
              <a:ext cx="30205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Wien Bridge Oscillator (1891)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75D7C1E-4157-F233-A440-AD3E5E3357BE}"/>
              </a:ext>
            </a:extLst>
          </p:cNvPr>
          <p:cNvGrpSpPr/>
          <p:nvPr/>
        </p:nvGrpSpPr>
        <p:grpSpPr>
          <a:xfrm>
            <a:off x="498691" y="4326253"/>
            <a:ext cx="2971528" cy="1995948"/>
            <a:chOff x="161416" y="4326253"/>
            <a:chExt cx="2971528" cy="1995948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A419D8A-C109-C44F-90C9-4EE7381CA4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6346" y="4326253"/>
              <a:ext cx="2601669" cy="143962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667B84-391F-8D59-1E4E-FE7C741EE721}"/>
                </a:ext>
              </a:extLst>
            </p:cNvPr>
            <p:cNvSpPr txBox="1"/>
            <p:nvPr/>
          </p:nvSpPr>
          <p:spPr>
            <a:xfrm>
              <a:off x="161416" y="5737426"/>
              <a:ext cx="29715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Bill Hewlett &amp; David Packard</a:t>
              </a:r>
            </a:p>
            <a:p>
              <a:pPr algn="ctr"/>
              <a:r>
                <a:rPr lang="en-US" sz="1600" b="1" dirty="0"/>
                <a:t>HP 200A</a:t>
              </a:r>
              <a:r>
                <a:rPr lang="en-US" sz="1600" dirty="0"/>
                <a:t> (1939)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A30C93E-4BAB-89DE-51C8-65E980C48C5E}"/>
              </a:ext>
            </a:extLst>
          </p:cNvPr>
          <p:cNvGrpSpPr/>
          <p:nvPr/>
        </p:nvGrpSpPr>
        <p:grpSpPr>
          <a:xfrm>
            <a:off x="5021704" y="3845181"/>
            <a:ext cx="3695076" cy="2569751"/>
            <a:chOff x="5021704" y="3845181"/>
            <a:chExt cx="3695076" cy="256975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DABA42B-EC0C-0DC9-0EFE-249923693CB7}"/>
                </a:ext>
              </a:extLst>
            </p:cNvPr>
            <p:cNvSpPr txBox="1"/>
            <p:nvPr/>
          </p:nvSpPr>
          <p:spPr>
            <a:xfrm>
              <a:off x="5021704" y="5830157"/>
              <a:ext cx="369507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hlinkClick r:id="rId5"/>
                </a:rPr>
                <a:t>https://en.wikipedia.org/wiki/Fantasound</a:t>
              </a:r>
              <a:endParaRPr lang="en-US" sz="1600" dirty="0"/>
            </a:p>
            <a:p>
              <a:pPr algn="ctr"/>
              <a:r>
                <a:rPr lang="en-US" sz="1600" dirty="0"/>
                <a:t>(1940)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C7C0EAA-B6D3-185A-1133-8A3AE2A17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63866" y="3845181"/>
              <a:ext cx="1210753" cy="19206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2301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Team </a:t>
            </a:r>
            <a:r>
              <a:rPr lang="en-US" sz="3200" b="1" dirty="0">
                <a:latin typeface="+mn-lt"/>
              </a:rPr>
              <a:t>06</a:t>
            </a:r>
            <a:r>
              <a:rPr lang="en-US" sz="3200" dirty="0">
                <a:latin typeface="+mn-lt"/>
              </a:rPr>
              <a:t> – What We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How to generate </a:t>
            </a:r>
            <a:r>
              <a:rPr lang="en-US" sz="2400" b="1" dirty="0"/>
              <a:t>sine waves </a:t>
            </a:r>
            <a:r>
              <a:rPr lang="en-US" sz="2400" dirty="0"/>
              <a:t>using a signal generator chip communicating with the MCU using the </a:t>
            </a:r>
            <a:r>
              <a:rPr lang="en-US" sz="2400" b="1" dirty="0"/>
              <a:t>SPI</a:t>
            </a:r>
            <a:r>
              <a:rPr lang="en-US" sz="2400" dirty="0"/>
              <a:t> bus</a:t>
            </a:r>
          </a:p>
          <a:p>
            <a:r>
              <a:rPr lang="en-US" sz="2400" dirty="0"/>
              <a:t>How to increase the voltage of a circuit using an operational amplifier (op-amp)</a:t>
            </a:r>
          </a:p>
          <a:p>
            <a:r>
              <a:rPr lang="en-US" sz="2400" dirty="0"/>
              <a:t>How to light an LED in a circuit by exceeding its </a:t>
            </a:r>
            <a:r>
              <a:rPr lang="en-US" sz="2400" b="1" dirty="0"/>
              <a:t>bias</a:t>
            </a:r>
            <a:r>
              <a:rPr lang="en-US" sz="2400" dirty="0"/>
              <a:t> </a:t>
            </a:r>
            <a:r>
              <a:rPr lang="en-US" sz="2400" b="1" dirty="0"/>
              <a:t>voltage</a:t>
            </a:r>
            <a:r>
              <a:rPr lang="en-US" sz="2400" dirty="0"/>
              <a:t> and prevent burn-out by using a current-limiting resistor</a:t>
            </a:r>
          </a:p>
          <a:p>
            <a:r>
              <a:rPr lang="en-US" sz="2400" dirty="0"/>
              <a:t>How to consult </a:t>
            </a:r>
            <a:r>
              <a:rPr lang="en-US" sz="2400" b="1" dirty="0"/>
              <a:t>product datasheets </a:t>
            </a:r>
            <a:r>
              <a:rPr lang="en-US" sz="2400" dirty="0"/>
              <a:t>to design a circuit to meet functional requirements</a:t>
            </a:r>
          </a:p>
          <a:p>
            <a:r>
              <a:rPr lang="en-US" sz="2400" dirty="0"/>
              <a:t>How an op-amp circuit can be wired to perform </a:t>
            </a:r>
            <a:r>
              <a:rPr lang="en-US" sz="2400" b="1" dirty="0"/>
              <a:t>mathematical operations</a:t>
            </a:r>
            <a:r>
              <a:rPr lang="en-US" sz="2400" dirty="0"/>
              <a:t> such as differentiation and integration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87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10448</TotalTime>
  <Words>693</Words>
  <Application>Microsoft Office PowerPoint</Application>
  <PresentationFormat>On-screen Show (4:3)</PresentationFormat>
  <Paragraphs>134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PowerPoint Presentation</vt:lpstr>
      <vt:lpstr>Our Challenge: Build a Signal Generator</vt:lpstr>
      <vt:lpstr>A Low-Power Oscillator</vt:lpstr>
      <vt:lpstr>A Resistor-Network “Voltage Divider”</vt:lpstr>
      <vt:lpstr>Operational Amplifiers</vt:lpstr>
      <vt:lpstr>Operational Amplifiers</vt:lpstr>
      <vt:lpstr>Operational Amplifiers</vt:lpstr>
      <vt:lpstr>Consulting the Product Datasheet</vt:lpstr>
      <vt:lpstr>Mapping Logical  Physical Layouts</vt:lpstr>
      <vt:lpstr>Our Approach</vt:lpstr>
      <vt:lpstr>Our Result</vt:lpstr>
      <vt:lpstr>Operational Amplifiers</vt:lpstr>
      <vt:lpstr>Operational Amplifiers</vt:lpstr>
      <vt:lpstr>Team 06 – What We Learned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Biersach, David</cp:lastModifiedBy>
  <cp:revision>1088</cp:revision>
  <cp:lastPrinted>2015-06-01T00:45:11Z</cp:lastPrinted>
  <dcterms:created xsi:type="dcterms:W3CDTF">2014-09-21T17:58:26Z</dcterms:created>
  <dcterms:modified xsi:type="dcterms:W3CDTF">2023-12-19T00:13:27Z</dcterms:modified>
</cp:coreProperties>
</file>